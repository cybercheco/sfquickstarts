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8A3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1828800"/>
          </a:xfrm>
          <a:prstGeom prst="rect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0"/>
            <a:ext cx="4419295" cy="457200"/>
          </a:xfrm>
          <a:prstGeom prst="rect">
            <a:avLst/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1097280"/>
            <a:ext cx="365760" cy="365760"/>
          </a:xfrm>
          <a:prstGeom prst="ellipse">
            <a:avLst/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20272" y="2633472"/>
            <a:ext cx="219456" cy="219456"/>
          </a:xfrm>
          <a:prstGeom prst="ellipse">
            <a:avLst/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45168" y="3675888"/>
            <a:ext cx="329184" cy="329184"/>
          </a:xfrm>
          <a:prstGeom prst="ellipse">
            <a:avLst/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44784" y="4992624"/>
            <a:ext cx="256032" cy="256032"/>
          </a:xfrm>
          <a:prstGeom prst="ellipse">
            <a:avLst/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0" y="6035040"/>
            <a:ext cx="182880" cy="182880"/>
          </a:xfrm>
          <a:prstGeom prst="ellipse">
            <a:avLst/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914400"/>
            <a:ext cx="73152" cy="2194560"/>
          </a:xfrm>
          <a:prstGeom prst="rect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914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3E22"/>
                </a:solidFill>
                <a:latin typeface="Calibri"/>
              </a:rPr>
              <a:t>MOBILE APP ·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32588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0">
                <a:solidFill>
                  <a:srgbClr val="2A2A26"/>
                </a:solidFill>
                <a:latin typeface="Georgia"/>
              </a:rPr>
              <a:t>Ūnika Swim.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68880"/>
            <a:ext cx="6858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8A3E22"/>
                </a:solidFill>
                <a:latin typeface="Georgia"/>
              </a:rPr>
              <a:t>Made for the body</a:t>
            </a:r>
          </a:p>
          <a:p>
            <a:pPr algn="l"/>
            <a:r>
              <a:rPr sz="2800" b="0">
                <a:solidFill>
                  <a:srgbClr val="8A3E22"/>
                </a:solidFill>
                <a:latin typeface="Georgia"/>
              </a:rPr>
              <a:t>you're 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206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57A"/>
                </a:solidFill>
                <a:latin typeface="Calibri"/>
              </a:rPr>
              <a:t>Custom swimwear in Toronto. Cup AAA–H. ECONYL® regenerated nylon.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Prepared for the Ūnika Swim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The most personal garment, in the brand that does the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>
                <a:solidFill>
                  <a:srgbClr val="8A3E22"/>
                </a:solidFill>
                <a:latin typeface="Georgia"/>
              </a:rPr>
              <a:t>AAA-H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cup sizes supported.</a:t>
            </a:r>
          </a:p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Mastectomy / ostomy fit accommodated.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857A"/>
                </a:solidFill>
                <a:latin typeface="Calibri"/>
              </a:rPr>
              <a:t>Almost no swimwear brand does this. Ūnika has, since 2018.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>
                <a:solidFill>
                  <a:srgbClr val="8A3E22"/>
                </a:solidFill>
                <a:latin typeface="Georgia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ECONYL® regenerated nylon</a:t>
            </a:r>
          </a:p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from fishing nets and waste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857A"/>
                </a:solidFill>
                <a:latin typeface="Calibri"/>
              </a:rPr>
              <a:t>Sustainability that's measurable, not marketing copy.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>
                <a:solidFill>
                  <a:srgbClr val="8A3E22"/>
                </a:solidFill>
                <a:latin typeface="Georgia"/>
              </a:rPr>
              <a:t>4–6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weeks for custom-made.</a:t>
            </a:r>
          </a:p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Most customers will wait.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857A"/>
                </a:solidFill>
                <a:latin typeface="Calibri"/>
              </a:rPr>
              <a:t>An app makes the wait visible — and the design choice better.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Not another store — an Atelier you can visit from your phone.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A26"/>
                </a:solidFill>
                <a:latin typeface="Georgia"/>
              </a:rPr>
              <a:t>Ūnika Swim is the rare swimwear brand that does three things almost no one else does: makes-to-order in Toronto, fits cup sizes AAA–H, and accommodates mastectomy, ostomy, and surgical-recovery customers without making a feature of their bodies.</a:t>
            </a:r>
          </a:p>
          <a:p>
            <a:pPr algn="l"/>
            <a:r>
              <a:rPr sz="2000" b="0">
                <a:solidFill>
                  <a:srgbClr val="2A2A26"/>
                </a:solidFill>
                <a:latin typeface="Georgia"/>
              </a:rPr>
              <a:t/>
            </a:r>
          </a:p>
          <a:p>
            <a:pPr algn="l"/>
            <a:r>
              <a:rPr sz="2000" b="0">
                <a:solidFill>
                  <a:srgbClr val="2A2A26"/>
                </a:solidFill>
                <a:latin typeface="Georgia"/>
              </a:rPr>
              <a:t>The app should make the brand's most personal service — an in-store custom-design appointment — possible from the customer's couch. A booking flow that understands sensitive fit needs without flagging them. A live order tracker for custom pieces. A Closet that respects that for some customers, finding the right swimsuit is a year of work after surgery.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A2A26"/>
                </a:solidFill>
                <a:latin typeface="Calibri"/>
              </a:rPr>
              <a:t>• Brings the in-store custom-design experience to anyone outside Toronto — multiplies the boutique's reach</a:t>
            </a:r>
          </a:p>
          <a:p>
            <a:pPr algn="l"/>
            <a:r>
              <a:rPr sz="1300" b="0">
                <a:solidFill>
                  <a:srgbClr val="2A2A26"/>
                </a:solidFill>
                <a:latin typeface="Calibri"/>
              </a:rPr>
              <a:t>• Surfaces the brand's sensitive-fit work as service, not marketing — protects what makes it special</a:t>
            </a:r>
          </a:p>
          <a:p>
            <a:pPr algn="l"/>
            <a:r>
              <a:rPr sz="1300" b="0">
                <a:solidFill>
                  <a:srgbClr val="2A2A26"/>
                </a:solidFill>
                <a:latin typeface="Calibri"/>
              </a:rPr>
              <a:t>• Closes the trust loop: appointment booking → live order tracking → restoration over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Six pillars — five customer-facing, one internal.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D8704A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A26"/>
                </a:solidFill>
                <a:latin typeface="Georgia"/>
              </a:rPr>
              <a:t>The Atelier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Browse fabrics, draft your design, book the appointment. Custom from couch.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94560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2194560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4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4A7E8C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A26"/>
                </a:solidFill>
                <a:latin typeface="Georgia"/>
              </a:rPr>
              <a:t>The 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3375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Cup AAA–H. Sensitive-fit profile (mastectomy, ostomy, scars). Specialist-only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194560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2194560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D4A85A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34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A26"/>
                </a:solidFill>
                <a:latin typeface="Georgia"/>
              </a:rPr>
              <a:t>The Order Tracker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3375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Stage-by-stage on a 4–6-week custom build. Photo updates, ECONYL® batch.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16552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416552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D8C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99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D8C4A0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56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A26"/>
                </a:solidFill>
                <a:latin typeface="Georgia"/>
              </a:rPr>
              <a:t>The Closet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59552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Register every piece — custom or pre-made. Repair / restoration workflow.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416552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43400" y="4416552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8A3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599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8A3E22"/>
                </a:solidFill>
                <a:latin typeface="Georg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056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A26"/>
                </a:solidFill>
                <a:latin typeface="Georgia"/>
              </a:rPr>
              <a:t>The Shop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559552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Pre-made + multilingual EN/PT/ES. Brazilian beachwear soul.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416552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38160" y="4416552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599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A2A26"/>
                </a:solidFill>
                <a:latin typeface="Georg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056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A26"/>
                </a:solidFill>
                <a:latin typeface="Georgia"/>
              </a:rPr>
              <a:t>The Studio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559552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Internal-facing web admin portal — custom orders, fabric library, appointments, concierge.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PHASE 1 · LAUNCH (MONTHS 0–4)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Foundations: Atelier, Body, Order Tracker, Closet, Shop, Sun.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57A"/>
                </a:solidFill>
                <a:latin typeface="Calibri"/>
              </a:rPr>
              <a:t>Everything a customer needs in their first 90 days.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Multilingual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EN / PT / ES at launch — Brazilian heritage + Latina audience.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Multi-currency storefront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CAD · USD · BRL.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Atelier · fabric library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Searchable ECONYL® fabrics + 6 brand prints.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Custom design draft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Cut · fabric · color · embellishment, saved across sessions.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In-store appointment booking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101 Yorkville · matched to specialist.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Remote video consult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For out-of-Toronto and out-of-country customers.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Body · cup AAA–H sizing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Cup-specific fit guidance per cut.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Body · sensitive-fit (opt-in)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Mastectomy · ostomy · scars · specialist-only access.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67512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2960" y="704088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67848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Order tracker · 6 stages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7086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Design · fabric reserved · cut · sewing · finishing · ship.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667512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46520" y="704088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67848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Photo updates per stage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7086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Real photos from the Yorkville boutique.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76809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22960" y="80467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77906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Closet · register every piece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80924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Custom + pre-made archive.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2200" y="76809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46520" y="80467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0840" y="77906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Repair / restoration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80924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Bring an aging piece back to the boutique for restoration.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86868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22960" y="90525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7280" y="87965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Atelier chat (AI)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9098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Trilingual EN/PT/ES design + fit coach.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72200" y="86868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446520" y="90525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20840" y="87965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Visual search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0840" y="9098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Photograph a swim look, find similar Ūnika fabric.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96926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22960" y="100584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97280" y="98023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Sun loyalty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" y="10104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Recognition for appointments, restorations, anniversaries — never discounts.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72200" y="96926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446520" y="100584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20840" y="98023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The Studio (web admin)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20840" y="10104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Custom orders, fabric library, appointments, concierge.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PHASE 2 · DEPTH (MONTHS 5–9)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AR design preview, in-store iPad, B2B.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57A"/>
                </a:solidFill>
                <a:latin typeface="Calibri"/>
              </a:rPr>
              <a:t>Features that turn launch into a full Atelier-anywhere experience.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AR custom-design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Render fabric + print on body silhouette before booking — opt-in.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In-store iPad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Studio mode for the boutique team to co-design with the customer.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Remote video consult upgrades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Built-in fabric-cam for out-of-Toronto customers.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Wholesale + boutique B2B portal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Yorkville and partner boutiques.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Heritage / archive sale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Past-season custom designs re-released as limited pre-made.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Bilingual influencer content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Culturally-aware brand collaborations.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Returns triage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Routes pre-made refund vs custom alteration.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Demand-sensing on fabrics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Wishlist + saved-design signals feed ECONYL® batch ordering.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PHASE 3 · CULTURAL AUTHORITY (MONTHS 10+)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From an app to a brand world.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57A"/>
                </a:solidFill>
                <a:latin typeface="Calibri"/>
              </a:rPr>
              <a:t>Long-form storytelling, community, operational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Editorial / journal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Long-form on swimwear fit, post-surgery confidence, ECONYL® supply chain.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Annual VOICES film series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Long-time customers' stories (with consent), founder 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Multilingual content scaling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EN-first, AI drafts PT/ES/IT/FR for editor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Counterfeit listing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Amazon, Etsy, AliExpress.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VIP signal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Concierge welcomes 5+ year customers.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Mastectomy / ostomy advocacy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Featured charity collaborations.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ECONYL® batch transparency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Per-piece batch lookup with provenance story.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Brazilian collab calendar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Carnaval, Réveillon, summer — culturally-aware drops.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Onboarding — under 90 seconds, in EN, PT, or 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57A"/>
                </a:solidFill>
                <a:latin typeface="Calibri"/>
              </a:rPr>
              <a:t>The first screen earns trust by asking what fits. Sensitive-fit fields are opt-in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8A3E22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Bem-vinda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Welcome in three languages.</a:t>
            </a:r>
          </a:p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Tap your language; everything follows.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60904" y="4114800"/>
            <a:ext cx="164592" cy="365760"/>
          </a:xfrm>
          <a:prstGeom prst="rightArrow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8A3E22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Sign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Apple, Google, or email.</a:t>
            </a:r>
          </a:p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No forms.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46904" y="4114800"/>
            <a:ext cx="164592" cy="365760"/>
          </a:xfrm>
          <a:prstGeom prst="rightArrow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0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8A3E22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Body basics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Cup AAA–H · band size.</a:t>
            </a:r>
          </a:p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Body comfort opt-in.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32904" y="4114800"/>
            <a:ext cx="164592" cy="365760"/>
          </a:xfrm>
          <a:prstGeom prst="rightArrow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06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8A3E22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Sensitive-fit (opt-in)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Post-mastectomy · ostomy · scars.</a:t>
            </a:r>
          </a:p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Never required. Specialist-only access.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518904" y="4114800"/>
            <a:ext cx="164592" cy="365760"/>
          </a:xfrm>
          <a:prstGeom prst="rightArrow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92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8A3E22"/>
                </a:solidFill>
                <a:latin typeface="Georgi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First moment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Browse fabrics — or book</a:t>
            </a:r>
          </a:p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your Yorkville appointment.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3E22"/>
                </a:solidFill>
                <a:latin typeface="Calibri"/>
              </a:rPr>
              <a:t>DESIGN PRINCIPLE   —   Sensitive-fit data lives in a segregated, audit-logged store and never trains AI.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USER FLOW ·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Custom design from couch to Yorkville.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57A"/>
                </a:solidFill>
                <a:latin typeface="Calibri"/>
              </a:rPr>
              <a:t>From browsing fabrics on the train to the design appointment two weeks later.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Saves a fabric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Sofia is on the streetcar. Saves the coral matte ECONYL® in the fabric library.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Builds a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Atelier draft: one-piece · halter · low back · coral matte. Saves it.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Appointment in-store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Books Saturday 2pm with Maria. Maria sees the draft a day before and prepares.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APPOINTMENT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Co-designs in-store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Sofia walks in. Maria already knows what she wants. They refine together. Order placed.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Watches it made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App shows fabric cut · sewing · finishing · ships. Photo updates from the boutique. Trust builds week over week.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USER FLOW ·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Post-mastectomy customer — service, not marketing.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57A"/>
                </a:solidFill>
                <a:latin typeface="Calibri"/>
              </a:rPr>
              <a:t>How sensitive-fit works without making the customer's body the product.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DISCLOSE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Opts in privately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Maria, post-mastectomy, completes the sensitive-fit profile. Lock icon. Specialist-only access. Audit-logged.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APPOINTMENT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Booked with Betsy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App routes the appointment to Betsy specifically — she's done this work for years.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Pocket lining requested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Custom design includes a discreet pocket for prosthesis. The customer doesn't have to explain it again.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PRODUCED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Quietly made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Custom-order tracker shows the work happening. Marketing AI never sees that the lining is medical — only that it's a lining.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TRUST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Customer for life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Maria refers two friends post-mastectomy. The brand becomes the one place she's seen, not flagged.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USER FLOW ·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Brazilian customer in São Paulo — remote consult, real connection.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57A"/>
                </a:solidFill>
                <a:latin typeface="Calibri"/>
              </a:rPr>
              <a:t>Brazilian heritage is the brand's DNA. The app respects that — in Portuguese, with a video consult, with cultural fluency.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Sees Ūnika on Instagram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Beatriz follows the brand from Brazil. Sees ECONYL® and the Brazilian-Toronto story.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App opens in 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Detects locale. UI in Portuguese. Atelier chat in Portuguese. No friction.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Books video consult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Books a video consult with Betsy directly. Discusses ostomy fit privately.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Custom shipped to São Paulo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Order tracker in PT. Photo updates. Ships internationally. Trust crosses borders.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Annual ritual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Beatriz becomes a yearly customer. Custom for each summer. Brings the brand to her circle.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VISUAL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What it looks like in hand.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57A"/>
                </a:solidFill>
                <a:latin typeface="Calibri"/>
              </a:rPr>
              <a:t>Wireframe-fidelity mockups in the brand palette — sun, coral, ocean, sand.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EN/PT/ES · sign-in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36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036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Appointment · order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Atelier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Custom design draft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6092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6092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Fabrics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ECONYL® library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0120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Body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Sensitive-fit segregated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Order tracker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6-stage with photos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8892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8036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8036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80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180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Pre-made or custom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12064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12064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Atelier chat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Trilingual AI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6948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36092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36092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Profile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36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57A"/>
                </a:solidFill>
                <a:latin typeface="Calibri"/>
              </a:rPr>
              <a:t>Data · privacy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3E22"/>
                </a:solidFill>
                <a:latin typeface="Calibri"/>
              </a:rPr>
              <a:t>Full interactive HTML mockup available — opens in any browser.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INTELLIGENCE · TIER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AI in service of design and fit, not of body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57A"/>
                </a:solidFill>
                <a:latin typeface="Calibri"/>
              </a:rPr>
              <a:t>Every Tier 1 feature operates inside the sensitive-fit segregation boundary.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3E22"/>
                </a:solidFill>
                <a:latin typeface="Georgia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Atelier chat (Sonnet)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Trilingual EN/PT/ES design + fit coach. Routes to specialist when sensitive.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3E22"/>
                </a:solidFill>
                <a:latin typeface="Georgia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Fabric explorer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Describe what you want, AI surfaces matching ECONYL® fabrics + prints.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3E22"/>
                </a:solidFill>
                <a:latin typeface="Georgia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Cup AAA–H fit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Per-cut fit notes. Body shape opt-in only.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3E22"/>
                </a:solidFill>
                <a:latin typeface="Georgia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Visual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Photograph a swim look, find similar Ūnika fabric or pre-made piece.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3E22"/>
                </a:solidFill>
                <a:latin typeface="Georgia"/>
              </a:rPr>
              <a:t>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Multilingual brand-voice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EN-first; AI drafts PT/ES; brand glossary preserves Ūnika, Atelier, Sun.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3E22"/>
                </a:solidFill>
                <a:latin typeface="Georgia"/>
              </a:rPr>
              <a:t>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Wardrobe-gap analyser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"You have 3 one-pieces but no cover-up" — recommends from your real wardrobe.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INTELLIGENCE · TIER 2 &amp;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AI that powers AR, in-store iPad, and the back office.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57A"/>
                </a:solidFill>
                <a:latin typeface="Calibri"/>
              </a:rPr>
              <a:t>Phase 2 customer-facing AI plus operational AI the customer never sees.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3E22"/>
                </a:solidFill>
                <a:latin typeface="Georgia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AR custom-design preview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Phone camera renders fabric + print on body silhouette.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3E22"/>
                </a:solidFill>
                <a:latin typeface="Georgia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In-store iPad co-design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Studio mode for the boutique team to co-design with the customer.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3E22"/>
                </a:solidFill>
                <a:latin typeface="Georgia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Demand-sensing on fabrics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Wishlist + saved-design signals feed ECONYL® batch ordering.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3E22"/>
                </a:solidFill>
                <a:latin typeface="Georgia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Returns triage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Routes pre-made refund vs custom alteration.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3E22"/>
                </a:solidFill>
                <a:latin typeface="Georgia"/>
              </a:rPr>
              <a:t>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Multilingual content scaling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EN-first, AI drafts PT/ES/IT/FR, editors approve.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3E22"/>
                </a:solidFill>
                <a:latin typeface="Georgia"/>
              </a:rPr>
              <a:t>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Counterfeit listing detection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Amazon · Etsy · AliExpress.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0644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" y="6035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6035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3E22"/>
                </a:solidFill>
                <a:latin typeface="Georgia"/>
              </a:rPr>
              <a:t>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5943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Brazilian cultural calendar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62636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Carnaval, Réveillon, summer drops — culturally-aware push.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580644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0800" y="6035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6035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3E22"/>
                </a:solidFill>
                <a:latin typeface="Georgia"/>
              </a:rPr>
              <a:t>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5943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A26"/>
                </a:solidFill>
                <a:latin typeface="Calibri"/>
              </a:rPr>
              <a:t>Sensitive-fit segregation enforcement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62636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Audit-log monitor flags any AI prompt touching segregated data.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DATA WITH CONSENT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What we collect — and what we won't.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57A"/>
                </a:solidFill>
                <a:latin typeface="Calibri"/>
              </a:rPr>
              <a:t>Default to opt-in per category. Sensitive-fit data is segregated, audit-logged, never used for marketing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944368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Identity &amp;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358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email, name, address — orders and shipping.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651760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19088" y="2944368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2743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Fit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30358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cup AAA–H, body comfort preferences.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38728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831336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630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Sensitive-fit (opt-in)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227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post-mastectomy, ostomy, scars — specialist-only.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3538728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19088" y="3831336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3630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Language &amp; region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39227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UI language, country, currency.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25696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718304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51713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Custom orders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80974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designs, fabrics, prints, milestones.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4425696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19088" y="4718304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8" y="451713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Closet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480974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registered pieces, wear log.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12664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560527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4041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Engagement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6967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views, wishlists, saved fabrics.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5312664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19088" y="560527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3408" y="54041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A26"/>
                </a:solidFill>
                <a:latin typeface="Calibri"/>
              </a:rPr>
              <a:t>Channel of origin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56967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online / Yorkville studio / boutique.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08076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126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 DO NOT COLLECT  ·  weight or BMI  ·  before/after body photos  ·  precise GPS  ·  contacts  ·  social-graph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HOW IT'S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A modern stack — boring where it should be, sharp where it counts.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6"/>
                </a:solidFill>
                <a:latin typeface="Calibri"/>
              </a:rPr>
              <a:t>•  React Native + Expo (iOS &amp; Android)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6"/>
                </a:solidFill>
                <a:latin typeface="Calibri"/>
              </a:rPr>
              <a:t>•  OTA updates for drop cadence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6"/>
                </a:solidFill>
                <a:latin typeface="Calibri"/>
              </a:rPr>
              <a:t>•  Apple / Google sign-in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Commerce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6"/>
                </a:solidFill>
                <a:latin typeface="Calibri"/>
              </a:rPr>
              <a:t>•  Shopify storefront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6"/>
                </a:solidFill>
                <a:latin typeface="Calibri"/>
              </a:rPr>
              <a:t>•  Multi-currency CAD/USD/BRL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6"/>
                </a:solidFill>
                <a:latin typeface="Calibri"/>
              </a:rPr>
              <a:t>•  RevenueCat for any subscriptions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Atelier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6"/>
                </a:solidFill>
                <a:latin typeface="Calibri"/>
              </a:rPr>
              <a:t>•  Node + TypeScript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6"/>
                </a:solidFill>
                <a:latin typeface="Calibri"/>
              </a:rPr>
              <a:t>•  Postgres + pgvector for visual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6"/>
                </a:solidFill>
                <a:latin typeface="Calibri"/>
              </a:rPr>
              <a:t>•  Sensitive-fit data in segregated audit-logged store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72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6"/>
                </a:solidFill>
                <a:latin typeface="Calibri"/>
              </a:rPr>
              <a:t>•  Claude (Sonnet 4.6 chat, Haiku 4.5 batch)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6"/>
                </a:solidFill>
                <a:latin typeface="Calibri"/>
              </a:rPr>
              <a:t>•  Trilingual brand-voice prompts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6"/>
                </a:solidFill>
                <a:latin typeface="Calibri"/>
              </a:rPr>
              <a:t>•  PostHog analytics, Sentry errors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THE STUDIO · WEB ADMIN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The internal twin of the mobile app.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57A"/>
                </a:solidFill>
                <a:latin typeface="Calibri"/>
              </a:rPr>
              <a:t>Customers use the mobile app. Your team uses The Studio. Same backend, same brand language — different surface for different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743200"/>
            <a:ext cx="39319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7889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SHOPIFY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1089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Catalog · orders · payments — unchanged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11064240" cy="640080"/>
          </a:xfrm>
          <a:prstGeom prst="roundRect">
            <a:avLst>
              <a:gd name="adj" fmla="val 12000"/>
            </a:avLst>
          </a:prstGeom>
          <a:solidFill>
            <a:srgbClr val="F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04487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8A3E22"/>
                </a:solidFill>
                <a:latin typeface="Calibri"/>
              </a:rPr>
              <a:t>SHARED API · Postgres · Auth · AI gateway · Custom-order tracker · SEGREGATED sensitive-fit 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5440680" cy="36576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7316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MOBILE APP — IOS &amp; ANDROID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208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6"/>
                </a:solidFill>
                <a:latin typeface="Calibri"/>
              </a:rPr>
              <a:t>Customer-facing · Atelier · Body · Order Tracker · Closet · Shop · Sun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4754880"/>
            <a:ext cx="5440680" cy="365760"/>
          </a:xfrm>
          <a:prstGeom prst="roundRect">
            <a:avLst>
              <a:gd name="adj" fmla="val 12000"/>
            </a:avLst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77316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THE STUDIO — WEB ADMIN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21208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6"/>
                </a:solidFill>
                <a:latin typeface="Calibri"/>
              </a:rPr>
              <a:t>Internal · custom orders · fabric library · appointments · concierge · sensitive-fit-aware specialist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BUILT FOR YOUR TEAM   —   Betsy + Yorkville specialists + custom-order ops + concierge. Trilingual EN/PT/ES.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HOW WE'LL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Roadmap — first nine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11064240" cy="25400"/>
          </a:xfrm>
          <a:prstGeom prst="rect">
            <a:avLst/>
          </a:prstGeom>
          <a:solidFill>
            <a:srgbClr val="E6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Weeks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A2A26"/>
                </a:solidFill>
                <a:latin typeface="Georgia"/>
              </a:rP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Customer interviews — cult-fan with 5+ pieces, post-mastectomy, remote-Brazil, new buyer, Yorkville-local. Audit existing custom-order data + sensitive-fit consent flow. Lock Phase 1 scope.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Weeks 3–18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A2A26"/>
                </a:solidFill>
                <a:latin typeface="Georgia"/>
              </a:rPr>
              <a:t>Phase 1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Atelier · Body · Order Tracker · Closet · Shop · Sun · Tier 1 AI · The Studio. EN/PT/ES at launch. Sensitive-fit segregation in production from day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Weeks 19–32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A2A26"/>
                </a:solidFill>
                <a:latin typeface="Georgia"/>
              </a:rPr>
              <a:t>Phase 2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AR custom preview, in-store iPad mode, wholesale B2B, video-consult upgrades.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9556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1540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Weeks 33–40+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A2A26"/>
                </a:solidFill>
                <a:latin typeface="Georgia"/>
              </a:rPr>
              <a:t>Phase 3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Editorial, VOICES films, content scaling, demand sensing, counterfeit detection, advocacy partnerships.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HOW WE'LL KNOW IT'S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The metrics that matter.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A3E22"/>
                </a:solidFill>
                <a:latin typeface="Calibri"/>
              </a:rPr>
              <a:t>Appointment-to-order conv.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% of appointments that become custom orders, month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2A26"/>
                </a:solidFill>
                <a:latin typeface="Georgia"/>
              </a:rPr>
              <a:t>Target ≥ 80%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A3E22"/>
                </a:solidFill>
                <a:latin typeface="Calibri"/>
              </a:rPr>
              <a:t>Custom-design draft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% of users who save a draft before booking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2A26"/>
                </a:solidFill>
                <a:latin typeface="Georgia"/>
              </a:rPr>
              <a:t>Target ≥ 60%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A3E22"/>
                </a:solidFill>
                <a:latin typeface="Calibri"/>
              </a:rPr>
              <a:t>Order-tracker engagement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% of customers checking the app during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2A26"/>
                </a:solidFill>
                <a:latin typeface="Georgia"/>
              </a:rPr>
              <a:t>Target ≥ 75%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A3E22"/>
                </a:solidFill>
                <a:latin typeface="Calibri"/>
              </a:rPr>
              <a:t>Sensitive-fit return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Returns from customers using sensitive-fit 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2A26"/>
                </a:solidFill>
                <a:latin typeface="Georgia"/>
              </a:rPr>
              <a:t>Target ≤ 5% (vs 15% category)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A3E22"/>
                </a:solidFill>
                <a:latin typeface="Calibri"/>
              </a:rPr>
              <a:t>ECONYL® batch utilisation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% of fabric used vs reserved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2A26"/>
                </a:solidFill>
                <a:latin typeface="Georgia"/>
              </a:rPr>
              <a:t>Target ≥ 92%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A3E22"/>
                </a:solidFill>
                <a:latin typeface="Calibri"/>
              </a:rPr>
              <a:t>Trilingual reach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% of sessions in PT or 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2A26"/>
                </a:solidFill>
                <a:latin typeface="Georgia"/>
              </a:rPr>
              <a:t>Target ≥ 30% by month 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HOW IT WILL FEEL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Design principles.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A3E22"/>
                </a:solidFill>
                <a:latin typeface="Calibri"/>
              </a:rPr>
              <a:t>Sensitive-fit is private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Mastectomy, ostomy, scar data lives in a segregated, audit-logged store. Specialist-only access. Never trains 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46888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51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A3E22"/>
                </a:solidFill>
                <a:latin typeface="Calibri"/>
              </a:rPr>
              <a:t>Custom is slow by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0632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Made-to-order means weeks. The app makes the wait visible — never apologetic.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A3E22"/>
                </a:solidFill>
                <a:latin typeface="Calibri"/>
              </a:rPr>
              <a:t>Comfort over body shape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Body comfort preferences, not body shape. No "slimming." No "summer body." Ever.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8620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A3E22"/>
                </a:solidFill>
                <a:latin typeface="Calibri"/>
              </a:rPr>
              <a:t>Brazilian heritage, Toronto craft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4805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Both, named, neither hidden. Trilingual EN/PT/ES from launch.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0352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A3E22"/>
                </a:solidFill>
                <a:latin typeface="Calibri"/>
              </a:rPr>
              <a:t>ECONYL® is a story, not a sticker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Every fabric tied to its post-industrial waste source. Per-batch transparency.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530352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486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A3E22"/>
                </a:solidFill>
                <a:latin typeface="Calibri"/>
              </a:rPr>
              <a:t>Recognition over discounts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8978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57A"/>
                </a:solidFill>
                <a:latin typeface="Calibri"/>
              </a:rPr>
              <a:t>Sun rewards appointments, restorations, anniversaries. Custom is an investment, not a transaction.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How we'd partner.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A3E22"/>
                </a:solidFill>
                <a:latin typeface="Georgia"/>
              </a:rPr>
              <a:t>Discovery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857A"/>
                </a:solidFill>
                <a:latin typeface="Calibri"/>
              </a:rPr>
              <a:t>Two weeks. Customer interviews — cult-fan, post-mastectomy, remote-Brazil, new buyer, Yorkville-local. Walk away with a signed Phase 1 spec.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28600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5603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A3E22"/>
                </a:solidFill>
                <a:latin typeface="Georgia"/>
              </a:rPr>
              <a:t>Embedded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1546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857A"/>
                </a:solidFill>
                <a:latin typeface="Calibri"/>
              </a:rPr>
              <a:t>A small team — lead engineer, mobile engineer, designer, trilingual QA — works as an extension of yours. Weekly demos.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5196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A3E22"/>
                </a:solidFill>
                <a:latin typeface="Georgia"/>
              </a:rPr>
              <a:t>Sensitive-fit segregation as contract clause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857A"/>
                </a:solidFill>
                <a:latin typeface="Calibri"/>
              </a:rPr>
              <a:t>Audit-logged, specialist-only, never trains AI. Non-negotiable on day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25196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526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A3E22"/>
                </a:solidFill>
                <a:latin typeface="Georgia"/>
              </a:rPr>
              <a:t>Always your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12064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857A"/>
                </a:solidFill>
                <a:latin typeface="Calibri"/>
              </a:rPr>
              <a:t>Source code, customer data, AI logs, sensitive-fit store all live in your accounts.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3E22"/>
                </a:solidFill>
                <a:latin typeface="Calibri"/>
              </a:rPr>
              <a:t>WHY THIS WORKS FOR ŪNIKA SWIM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A26"/>
                </a:solidFill>
                <a:latin typeface="Georgia"/>
              </a:rPr>
              <a:t>The bet behind the 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D8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73152" cy="868680"/>
          </a:xfrm>
          <a:prstGeom prst="rect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A26"/>
                </a:solidFill>
                <a:latin typeface="Georgia"/>
              </a:rPr>
              <a:t>Custom-from-couch is your moat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857A"/>
                </a:solidFill>
                <a:latin typeface="Calibri"/>
              </a:rPr>
              <a:t>Almost no swimwear brand has both a real custom service AND the ability to run it remotely. The app extends Yorkville to São Paulo, Miami, Lisbon.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73152" cy="868680"/>
          </a:xfrm>
          <a:prstGeom prst="rect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A26"/>
                </a:solidFill>
                <a:latin typeface="Georgia"/>
              </a:rPr>
              <a:t>Sensitive-fit work is your reputation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49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857A"/>
                </a:solidFill>
                <a:latin typeface="Calibri"/>
              </a:rPr>
              <a:t>Mastectomy and ostomy customers tell their friends. The brand becomes the one place they're seen, not flagged. Highest-LTV segment in the category.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73152" cy="868680"/>
          </a:xfrm>
          <a:prstGeom prst="rect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51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A26"/>
                </a:solidFill>
                <a:latin typeface="Georgia"/>
              </a:rPr>
              <a:t>ECONYL® is your differentiator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857A"/>
                </a:solidFill>
                <a:latin typeface="Calibri"/>
              </a:rPr>
              <a:t>Competitors say "sustainable." You say "per-batch fishing-net source." The app makes that auditable.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6360"/>
            <a:ext cx="73152" cy="868680"/>
          </a:xfrm>
          <a:prstGeom prst="rect">
            <a:avLst/>
          </a:prstGeom>
          <a:solidFill>
            <a:srgbClr val="D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A26"/>
                </a:solidFill>
                <a:latin typeface="Georgia"/>
              </a:rPr>
              <a:t>AI in service of the Atelier, not the body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69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857A"/>
                </a:solidFill>
                <a:latin typeface="Calibri"/>
              </a:rPr>
              <a:t>We use AI to help customers design, find fabrics, navigate languages. Never to assume their bodies. The brand's reputation is safer for the building.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57A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57A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3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1097280"/>
            <a:ext cx="365760" cy="365760"/>
          </a:xfrm>
          <a:prstGeom prst="ellipse">
            <a:avLst/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10544" y="2615184"/>
            <a:ext cx="256032" cy="256032"/>
          </a:xfrm>
          <a:prstGeom prst="ellipse">
            <a:avLst/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08592" y="3639312"/>
            <a:ext cx="402336" cy="402336"/>
          </a:xfrm>
          <a:prstGeom prst="ellipse">
            <a:avLst/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26496" y="4974336"/>
            <a:ext cx="292608" cy="292608"/>
          </a:xfrm>
          <a:prstGeom prst="ellipse">
            <a:avLst/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31552" y="5742432"/>
            <a:ext cx="219456" cy="219456"/>
          </a:xfrm>
          <a:prstGeom prst="ellipse">
            <a:avLst/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85A"/>
                </a:solidFill>
                <a:latin typeface="Calibri"/>
              </a:rPr>
              <a:t>NEXT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0584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>
                <a:solidFill>
                  <a:srgbClr val="FFFFFF"/>
                </a:solidFill>
                <a:latin typeface="Georgia"/>
              </a:rPr>
              <a:t>A two-week paid discovery.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9601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3E6C7"/>
                </a:solidFill>
                <a:latin typeface="Calibri"/>
              </a:rPr>
              <a:t>We sit with your team in Yorkville. We talk to ten of your customers — cult-fan, post-mastectomy, remote-Brazil, new buyer, Yorkville-local. We align on the sensitive-fit segregation boundary with you. We come back with a lockable Phase 1 scope and a working prototype of the Atelier draft → appointment booking flow in EN, PT, 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85A"/>
                </a:solidFill>
                <a:latin typeface="Calibri"/>
              </a:rPr>
              <a:t>WHAT YOU 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 lockable feature scope, costed and timeboxed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An interactive prototype of two core flows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 summary of customer interviews and what we heard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 go / no-go recommendation. Yours either way.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3E6C7"/>
                </a:solidFill>
                <a:latin typeface="Calibri"/>
              </a:rPr>
              <a:t>Ūnika Swim · Mobile App Pitch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3E6C7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