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0" y="0"/>
            <a:ext cx="4419295" cy="6858000"/>
          </a:xfrm>
          <a:prstGeom prst="rect">
            <a:avLst/>
          </a:prstGeom>
          <a:solidFill>
            <a:srgbClr val="364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9295" cy="1828800"/>
          </a:xfrm>
          <a:prstGeom prst="rect">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0"/>
            <a:ext cx="4419295" cy="457200"/>
          </a:xfrm>
          <a:prstGeom prst="rect">
            <a:avLst/>
          </a:prstGeom>
          <a:solidFill>
            <a:srgbClr val="B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0" y="1097280"/>
            <a:ext cx="365760" cy="365760"/>
          </a:xfrm>
          <a:prstGeom prst="ellipse">
            <a:avLst/>
          </a:prstGeom>
          <a:solidFill>
            <a:srgbClr val="B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20272" y="2633472"/>
            <a:ext cx="219456" cy="219456"/>
          </a:xfrm>
          <a:prstGeom prst="ellipse">
            <a:avLst/>
          </a:prstGeom>
          <a:solidFill>
            <a:srgbClr val="B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45168" y="3675888"/>
            <a:ext cx="329184" cy="329184"/>
          </a:xfrm>
          <a:prstGeom prst="ellipse">
            <a:avLst/>
          </a:prstGeom>
          <a:solidFill>
            <a:srgbClr val="B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44784" y="4992624"/>
            <a:ext cx="256032" cy="256032"/>
          </a:xfrm>
          <a:prstGeom prst="ellipse">
            <a:avLst/>
          </a:prstGeom>
          <a:solidFill>
            <a:srgbClr val="B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515600" y="6035040"/>
            <a:ext cx="182880" cy="182880"/>
          </a:xfrm>
          <a:prstGeom prst="ellipse">
            <a:avLst/>
          </a:prstGeom>
          <a:solidFill>
            <a:srgbClr val="B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914400"/>
            <a:ext cx="73152" cy="2194560"/>
          </a:xfrm>
          <a:prstGeom prst="rect">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914400"/>
            <a:ext cx="6400800" cy="365760"/>
          </a:xfrm>
          <a:prstGeom prst="rect">
            <a:avLst/>
          </a:prstGeom>
          <a:noFill/>
        </p:spPr>
        <p:txBody>
          <a:bodyPr wrap="square" lIns="0" rIns="0" tIns="0" bIns="0" anchor="t">
            <a:spAutoFit/>
          </a:bodyPr>
          <a:lstStyle/>
          <a:p>
            <a:pPr algn="l"/>
            <a:r>
              <a:rPr sz="1100" b="1">
                <a:solidFill>
                  <a:srgbClr val="5D6E54"/>
                </a:solidFill>
                <a:latin typeface="Calibri"/>
              </a:rPr>
              <a:t>MOBILE APP · PITCH</a:t>
            </a:r>
          </a:p>
        </p:txBody>
      </p:sp>
      <p:sp>
        <p:nvSpPr>
          <p:cNvPr id="13" name="TextBox 12"/>
          <p:cNvSpPr txBox="1"/>
          <p:nvPr/>
        </p:nvSpPr>
        <p:spPr>
          <a:xfrm>
            <a:off x="777240" y="1325880"/>
            <a:ext cx="7315200" cy="1828800"/>
          </a:xfrm>
          <a:prstGeom prst="rect">
            <a:avLst/>
          </a:prstGeom>
          <a:noFill/>
        </p:spPr>
        <p:txBody>
          <a:bodyPr wrap="square" lIns="0" rIns="0" tIns="0" bIns="0" anchor="t">
            <a:spAutoFit/>
          </a:bodyPr>
          <a:lstStyle/>
          <a:p>
            <a:pPr algn="l"/>
            <a:r>
              <a:rPr sz="6600" b="0">
                <a:solidFill>
                  <a:srgbClr val="2B2A26"/>
                </a:solidFill>
                <a:latin typeface="Georgia"/>
              </a:rPr>
              <a:t>Encircled.</a:t>
            </a:r>
          </a:p>
        </p:txBody>
      </p:sp>
      <p:sp>
        <p:nvSpPr>
          <p:cNvPr id="14" name="TextBox 13"/>
          <p:cNvSpPr txBox="1"/>
          <p:nvPr/>
        </p:nvSpPr>
        <p:spPr>
          <a:xfrm>
            <a:off x="777240" y="2468880"/>
            <a:ext cx="6858000" cy="1463040"/>
          </a:xfrm>
          <a:prstGeom prst="rect">
            <a:avLst/>
          </a:prstGeom>
          <a:noFill/>
        </p:spPr>
        <p:txBody>
          <a:bodyPr wrap="square" lIns="0" rIns="0" tIns="0" bIns="0" anchor="t">
            <a:spAutoFit/>
          </a:bodyPr>
          <a:lstStyle/>
          <a:p>
            <a:pPr algn="l"/>
            <a:r>
              <a:rPr sz="2800" b="0">
                <a:solidFill>
                  <a:srgbClr val="5D6E54"/>
                </a:solidFill>
                <a:latin typeface="Georgia"/>
              </a:rPr>
              <a:t>Fewer pieces.</a:t>
            </a:r>
          </a:p>
          <a:p>
            <a:pPr algn="l"/>
            <a:r>
              <a:rPr sz="2800" b="0">
                <a:solidFill>
                  <a:srgbClr val="5D6E54"/>
                </a:solidFill>
                <a:latin typeface="Georgia"/>
              </a:rPr>
              <a:t>More ways to wear them.</a:t>
            </a:r>
          </a:p>
        </p:txBody>
      </p:sp>
      <p:sp>
        <p:nvSpPr>
          <p:cNvPr id="15" name="TextBox 14"/>
          <p:cNvSpPr txBox="1"/>
          <p:nvPr/>
        </p:nvSpPr>
        <p:spPr>
          <a:xfrm>
            <a:off x="777240" y="5120640"/>
            <a:ext cx="6858000" cy="365760"/>
          </a:xfrm>
          <a:prstGeom prst="rect">
            <a:avLst/>
          </a:prstGeom>
          <a:noFill/>
        </p:spPr>
        <p:txBody>
          <a:bodyPr wrap="square" lIns="0" rIns="0" tIns="0" bIns="0" anchor="t">
            <a:spAutoFit/>
          </a:bodyPr>
          <a:lstStyle/>
          <a:p>
            <a:pPr algn="l"/>
            <a:r>
              <a:rPr sz="1400" b="0">
                <a:solidFill>
                  <a:srgbClr val="888379"/>
                </a:solidFill>
                <a:latin typeface="Calibri"/>
              </a:rPr>
              <a:t>A transformation engine — multi-way styles, capsules, lifetime repair.</a:t>
            </a:r>
          </a:p>
        </p:txBody>
      </p:sp>
      <p:sp>
        <p:nvSpPr>
          <p:cNvPr id="16" name="TextBox 15"/>
          <p:cNvSpPr txBox="1"/>
          <p:nvPr/>
        </p:nvSpPr>
        <p:spPr>
          <a:xfrm>
            <a:off x="777240" y="5486400"/>
            <a:ext cx="6858000" cy="274320"/>
          </a:xfrm>
          <a:prstGeom prst="rect">
            <a:avLst/>
          </a:prstGeom>
          <a:noFill/>
        </p:spPr>
        <p:txBody>
          <a:bodyPr wrap="square" lIns="0" rIns="0" tIns="0" bIns="0" anchor="t">
            <a:spAutoFit/>
          </a:bodyPr>
          <a:lstStyle/>
          <a:p>
            <a:pPr algn="l"/>
            <a:r>
              <a:rPr sz="1100" b="0">
                <a:solidFill>
                  <a:srgbClr val="888379"/>
                </a:solidFill>
                <a:latin typeface="Calibri"/>
              </a:rPr>
              <a:t>Prepared for the Encircled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WHY NOW</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Slow fashion has matured — and the apps haven't.</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194560"/>
            <a:ext cx="3657600" cy="36576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2926080" cy="1280160"/>
          </a:xfrm>
          <a:prstGeom prst="rect">
            <a:avLst/>
          </a:prstGeom>
          <a:noFill/>
        </p:spPr>
        <p:txBody>
          <a:bodyPr wrap="square" lIns="0" rIns="0" tIns="0" bIns="0" anchor="t">
            <a:spAutoFit/>
          </a:bodyPr>
          <a:lstStyle/>
          <a:p>
            <a:pPr algn="l"/>
            <a:r>
              <a:rPr sz="6400" b="0">
                <a:solidFill>
                  <a:srgbClr val="5D6E54"/>
                </a:solidFill>
                <a:latin typeface="Georgia"/>
              </a:rPr>
              <a:t>8</a:t>
            </a:r>
          </a:p>
        </p:txBody>
      </p:sp>
      <p:sp>
        <p:nvSpPr>
          <p:cNvPr id="8" name="TextBox 7"/>
          <p:cNvSpPr txBox="1"/>
          <p:nvPr/>
        </p:nvSpPr>
        <p:spPr>
          <a:xfrm>
            <a:off x="914400" y="3749040"/>
            <a:ext cx="2926080" cy="914400"/>
          </a:xfrm>
          <a:prstGeom prst="rect">
            <a:avLst/>
          </a:prstGeom>
          <a:noFill/>
        </p:spPr>
        <p:txBody>
          <a:bodyPr wrap="square" lIns="0" rIns="0" tIns="0" bIns="0" anchor="t">
            <a:spAutoFit/>
          </a:bodyPr>
          <a:lstStyle/>
          <a:p>
            <a:pPr algn="l"/>
            <a:r>
              <a:rPr sz="1400" b="1">
                <a:solidFill>
                  <a:srgbClr val="2B2A26"/>
                </a:solidFill>
                <a:latin typeface="Calibri"/>
              </a:rPr>
              <a:t>documented styles in the Chrysalis Cardi —</a:t>
            </a:r>
          </a:p>
          <a:p>
            <a:pPr algn="l"/>
            <a:r>
              <a:rPr sz="1400" b="1">
                <a:solidFill>
                  <a:srgbClr val="2B2A26"/>
                </a:solidFill>
                <a:latin typeface="Calibri"/>
              </a:rPr>
              <a:t>most owners use 2 or 3</a:t>
            </a:r>
          </a:p>
        </p:txBody>
      </p:sp>
      <p:sp>
        <p:nvSpPr>
          <p:cNvPr id="9" name="TextBox 8"/>
          <p:cNvSpPr txBox="1"/>
          <p:nvPr/>
        </p:nvSpPr>
        <p:spPr>
          <a:xfrm>
            <a:off x="914400" y="4846320"/>
            <a:ext cx="2926080" cy="914400"/>
          </a:xfrm>
          <a:prstGeom prst="rect">
            <a:avLst/>
          </a:prstGeom>
          <a:noFill/>
        </p:spPr>
        <p:txBody>
          <a:bodyPr wrap="square" lIns="0" rIns="0" tIns="0" bIns="0" anchor="t">
            <a:spAutoFit/>
          </a:bodyPr>
          <a:lstStyle/>
          <a:p>
            <a:pPr algn="l"/>
            <a:r>
              <a:rPr sz="1200" b="0">
                <a:solidFill>
                  <a:srgbClr val="888379"/>
                </a:solidFill>
                <a:latin typeface="Calibri"/>
              </a:rPr>
              <a:t>The hidden value is already in the closet.</a:t>
            </a:r>
          </a:p>
        </p:txBody>
      </p:sp>
      <p:sp>
        <p:nvSpPr>
          <p:cNvPr id="10" name="Rounded Rectangle 9"/>
          <p:cNvSpPr/>
          <p:nvPr/>
        </p:nvSpPr>
        <p:spPr>
          <a:xfrm>
            <a:off x="4389120" y="2194560"/>
            <a:ext cx="3657600" cy="36576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2560320"/>
            <a:ext cx="2926080" cy="1280160"/>
          </a:xfrm>
          <a:prstGeom prst="rect">
            <a:avLst/>
          </a:prstGeom>
          <a:noFill/>
        </p:spPr>
        <p:txBody>
          <a:bodyPr wrap="square" lIns="0" rIns="0" tIns="0" bIns="0" anchor="t">
            <a:spAutoFit/>
          </a:bodyPr>
          <a:lstStyle/>
          <a:p>
            <a:pPr algn="l"/>
            <a:r>
              <a:rPr sz="6400" b="0">
                <a:solidFill>
                  <a:srgbClr val="5D6E54"/>
                </a:solidFill>
                <a:latin typeface="Georgia"/>
              </a:rPr>
              <a:t>∞</a:t>
            </a:r>
          </a:p>
        </p:txBody>
      </p:sp>
      <p:sp>
        <p:nvSpPr>
          <p:cNvPr id="12" name="TextBox 11"/>
          <p:cNvSpPr txBox="1"/>
          <p:nvPr/>
        </p:nvSpPr>
        <p:spPr>
          <a:xfrm>
            <a:off x="4754880" y="3749040"/>
            <a:ext cx="2926080" cy="914400"/>
          </a:xfrm>
          <a:prstGeom prst="rect">
            <a:avLst/>
          </a:prstGeom>
          <a:noFill/>
        </p:spPr>
        <p:txBody>
          <a:bodyPr wrap="square" lIns="0" rIns="0" tIns="0" bIns="0" anchor="t">
            <a:spAutoFit/>
          </a:bodyPr>
          <a:lstStyle/>
          <a:p>
            <a:pPr algn="l"/>
            <a:r>
              <a:rPr sz="1400" b="1">
                <a:solidFill>
                  <a:srgbClr val="2B2A26"/>
                </a:solidFill>
                <a:latin typeface="Calibri"/>
              </a:rPr>
              <a:t>your lifetime repair guarantee</a:t>
            </a:r>
          </a:p>
          <a:p>
            <a:pPr algn="l"/>
            <a:r>
              <a:rPr sz="1400" b="1">
                <a:solidFill>
                  <a:srgbClr val="2B2A26"/>
                </a:solidFill>
                <a:latin typeface="Calibri"/>
              </a:rPr>
              <a:t>is the strongest in the category</a:t>
            </a:r>
          </a:p>
        </p:txBody>
      </p:sp>
      <p:sp>
        <p:nvSpPr>
          <p:cNvPr id="13" name="TextBox 12"/>
          <p:cNvSpPr txBox="1"/>
          <p:nvPr/>
        </p:nvSpPr>
        <p:spPr>
          <a:xfrm>
            <a:off x="4754880" y="4846320"/>
            <a:ext cx="2926080" cy="914400"/>
          </a:xfrm>
          <a:prstGeom prst="rect">
            <a:avLst/>
          </a:prstGeom>
          <a:noFill/>
        </p:spPr>
        <p:txBody>
          <a:bodyPr wrap="square" lIns="0" rIns="0" tIns="0" bIns="0" anchor="t">
            <a:spAutoFit/>
          </a:bodyPr>
          <a:lstStyle/>
          <a:p>
            <a:pPr algn="l"/>
            <a:r>
              <a:rPr sz="1200" b="0">
                <a:solidFill>
                  <a:srgbClr val="888379"/>
                </a:solidFill>
                <a:latin typeface="Calibri"/>
              </a:rPr>
              <a:t>Most customers don't know how to use it.</a:t>
            </a:r>
          </a:p>
        </p:txBody>
      </p:sp>
      <p:sp>
        <p:nvSpPr>
          <p:cNvPr id="14" name="Rounded Rectangle 13"/>
          <p:cNvSpPr/>
          <p:nvPr/>
        </p:nvSpPr>
        <p:spPr>
          <a:xfrm>
            <a:off x="8229600" y="2194560"/>
            <a:ext cx="3657600" cy="36576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0" y="2560320"/>
            <a:ext cx="2926080" cy="1280160"/>
          </a:xfrm>
          <a:prstGeom prst="rect">
            <a:avLst/>
          </a:prstGeom>
          <a:noFill/>
        </p:spPr>
        <p:txBody>
          <a:bodyPr wrap="square" lIns="0" rIns="0" tIns="0" bIns="0" anchor="t">
            <a:spAutoFit/>
          </a:bodyPr>
          <a:lstStyle/>
          <a:p>
            <a:pPr algn="l"/>
            <a:r>
              <a:rPr sz="6400" b="0">
                <a:solidFill>
                  <a:srgbClr val="5D6E54"/>
                </a:solidFill>
                <a:latin typeface="Georgia"/>
              </a:rPr>
              <a:t>30km</a:t>
            </a:r>
          </a:p>
        </p:txBody>
      </p:sp>
      <p:sp>
        <p:nvSpPr>
          <p:cNvPr id="16" name="TextBox 15"/>
          <p:cNvSpPr txBox="1"/>
          <p:nvPr/>
        </p:nvSpPr>
        <p:spPr>
          <a:xfrm>
            <a:off x="8595360" y="3749040"/>
            <a:ext cx="2926080" cy="914400"/>
          </a:xfrm>
          <a:prstGeom prst="rect">
            <a:avLst/>
          </a:prstGeom>
          <a:noFill/>
        </p:spPr>
        <p:txBody>
          <a:bodyPr wrap="square" lIns="0" rIns="0" tIns="0" bIns="0" anchor="t">
            <a:spAutoFit/>
          </a:bodyPr>
          <a:lstStyle/>
          <a:p>
            <a:pPr algn="l"/>
            <a:r>
              <a:rPr sz="1400" b="1">
                <a:solidFill>
                  <a:srgbClr val="2B2A26"/>
                </a:solidFill>
                <a:latin typeface="Calibri"/>
              </a:rPr>
              <a:t>from the Toronto studio to every</a:t>
            </a:r>
          </a:p>
          <a:p>
            <a:pPr algn="l"/>
            <a:r>
              <a:rPr sz="1400" b="1">
                <a:solidFill>
                  <a:srgbClr val="2B2A26"/>
                </a:solidFill>
                <a:latin typeface="Calibri"/>
              </a:rPr>
              <a:t>factory you work with</a:t>
            </a:r>
          </a:p>
        </p:txBody>
      </p:sp>
      <p:sp>
        <p:nvSpPr>
          <p:cNvPr id="17" name="TextBox 16"/>
          <p:cNvSpPr txBox="1"/>
          <p:nvPr/>
        </p:nvSpPr>
        <p:spPr>
          <a:xfrm>
            <a:off x="8595360" y="4846320"/>
            <a:ext cx="2926080" cy="914400"/>
          </a:xfrm>
          <a:prstGeom prst="rect">
            <a:avLst/>
          </a:prstGeom>
          <a:noFill/>
        </p:spPr>
        <p:txBody>
          <a:bodyPr wrap="square" lIns="0" rIns="0" tIns="0" bIns="0" anchor="t">
            <a:spAutoFit/>
          </a:bodyPr>
          <a:lstStyle/>
          <a:p>
            <a:pPr algn="l"/>
            <a:r>
              <a:rPr sz="1200" b="0">
                <a:solidFill>
                  <a:srgbClr val="888379"/>
                </a:solidFill>
                <a:latin typeface="Calibri"/>
              </a:rPr>
              <a:t>A real, audit-ready supply chain. The app makes that visible.</a:t>
            </a:r>
          </a:p>
        </p:txBody>
      </p:sp>
      <p:sp>
        <p:nvSpPr>
          <p:cNvPr id="18" name="TextBox 17"/>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19" name="TextBox 18"/>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THE VISION</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Not another store — a transformation engine.</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10972800" cy="2286000"/>
          </a:xfrm>
          <a:prstGeom prst="rect">
            <a:avLst/>
          </a:prstGeom>
          <a:noFill/>
        </p:spPr>
        <p:txBody>
          <a:bodyPr wrap="square" lIns="0" rIns="0" tIns="0" bIns="0" anchor="t">
            <a:spAutoFit/>
          </a:bodyPr>
          <a:lstStyle/>
          <a:p>
            <a:pPr algn="l"/>
            <a:r>
              <a:rPr sz="2000" b="0">
                <a:solidFill>
                  <a:srgbClr val="2B2A26"/>
                </a:solidFill>
                <a:latin typeface="Georgia"/>
              </a:rPr>
              <a:t>Encircled's promise is that every piece works harder than it looks: multi-way silhouettes, a lifetime repair guarantee, factories thirty kilometres from the studio.</a:t>
            </a:r>
          </a:p>
          <a:p>
            <a:pPr algn="l"/>
            <a:r>
              <a:rPr sz="2000" b="0">
                <a:solidFill>
                  <a:srgbClr val="2B2A26"/>
                </a:solidFill>
                <a:latin typeface="Georgia"/>
              </a:rPr>
              <a:t/>
            </a:r>
          </a:p>
          <a:p>
            <a:pPr algn="l"/>
            <a:r>
              <a:rPr sz="2000" b="0">
                <a:solidFill>
                  <a:srgbClr val="2B2A26"/>
                </a:solidFill>
                <a:latin typeface="Georgia"/>
              </a:rPr>
              <a:t>The app makes that promise visible. It teaches customers the styles they own without knowing it, builds capsules for their next trip, and turns the brand's "guaranteed for life" pledge into a one-tap workflow. The customer ends up owning fewer pieces, but wearing them more — exactly what the brand has been arguing since 2012.</a:t>
            </a:r>
          </a:p>
        </p:txBody>
      </p:sp>
      <p:sp>
        <p:nvSpPr>
          <p:cNvPr id="7" name="TextBox 6"/>
          <p:cNvSpPr txBox="1"/>
          <p:nvPr/>
        </p:nvSpPr>
        <p:spPr>
          <a:xfrm>
            <a:off x="548640" y="5303520"/>
            <a:ext cx="10972800" cy="365760"/>
          </a:xfrm>
          <a:prstGeom prst="rect">
            <a:avLst/>
          </a:prstGeom>
          <a:noFill/>
        </p:spPr>
        <p:txBody>
          <a:bodyPr wrap="square" lIns="0" rIns="0" tIns="0" bIns="0" anchor="t">
            <a:spAutoFit/>
          </a:bodyPr>
          <a:lstStyle/>
          <a:p>
            <a:pPr algn="l"/>
            <a:r>
              <a:rPr sz="1000" b="1">
                <a:solidFill>
                  <a:srgbClr val="5D6E54"/>
                </a:solidFill>
                <a:latin typeface="Calibri"/>
              </a:rPr>
              <a:t>WHY IT MATTERS</a:t>
            </a:r>
          </a:p>
        </p:txBody>
      </p:sp>
      <p:sp>
        <p:nvSpPr>
          <p:cNvPr id="8" name="TextBox 7"/>
          <p:cNvSpPr txBox="1"/>
          <p:nvPr/>
        </p:nvSpPr>
        <p:spPr>
          <a:xfrm>
            <a:off x="548640" y="5577840"/>
            <a:ext cx="10972800" cy="1371600"/>
          </a:xfrm>
          <a:prstGeom prst="rect">
            <a:avLst/>
          </a:prstGeom>
          <a:noFill/>
        </p:spPr>
        <p:txBody>
          <a:bodyPr wrap="square" lIns="0" rIns="0" tIns="0" bIns="0" anchor="t">
            <a:spAutoFit/>
          </a:bodyPr>
          <a:lstStyle/>
          <a:p>
            <a:pPr algn="l"/>
            <a:r>
              <a:rPr sz="1300" b="0">
                <a:solidFill>
                  <a:srgbClr val="2B2A26"/>
                </a:solidFill>
                <a:latin typeface="Calibri"/>
              </a:rPr>
              <a:t>• Unlocks the brand's documented multi-way style library — most owners use 30% of it</a:t>
            </a:r>
          </a:p>
          <a:p>
            <a:pPr algn="l"/>
            <a:r>
              <a:rPr sz="1300" b="0">
                <a:solidFill>
                  <a:srgbClr val="2B2A26"/>
                </a:solidFill>
                <a:latin typeface="Calibri"/>
              </a:rPr>
              <a:t>• Turns the lifetime repair guarantee from PDF policy into one-tap workflow</a:t>
            </a:r>
          </a:p>
          <a:p>
            <a:pPr algn="l"/>
            <a:r>
              <a:rPr sz="1300" b="0">
                <a:solidFill>
                  <a:srgbClr val="2B2A26"/>
                </a:solidFill>
                <a:latin typeface="Calibri"/>
              </a:rPr>
              <a:t>• Captures the traveller customer with capsule planning that builds from owned pieces</a:t>
            </a:r>
          </a:p>
        </p:txBody>
      </p:sp>
      <p:sp>
        <p:nvSpPr>
          <p:cNvPr id="9" name="TextBox 8"/>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10" name="TextBox 9"/>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PRODUCT OVERVIEW</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Six pillars — five customer-facing, one internal.</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194560"/>
            <a:ext cx="3657600" cy="2057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194560"/>
            <a:ext cx="91440" cy="205740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77440"/>
            <a:ext cx="3108960" cy="365760"/>
          </a:xfrm>
          <a:prstGeom prst="rect">
            <a:avLst/>
          </a:prstGeom>
          <a:noFill/>
        </p:spPr>
        <p:txBody>
          <a:bodyPr wrap="square" lIns="0" rIns="0" tIns="0" bIns="0" anchor="t">
            <a:spAutoFit/>
          </a:bodyPr>
          <a:lstStyle/>
          <a:p>
            <a:pPr algn="l"/>
            <a:r>
              <a:rPr sz="2000" b="1">
                <a:solidFill>
                  <a:srgbClr val="5D6E54"/>
                </a:solidFill>
                <a:latin typeface="Georgia"/>
              </a:rPr>
              <a:t>1</a:t>
            </a:r>
          </a:p>
        </p:txBody>
      </p:sp>
      <p:sp>
        <p:nvSpPr>
          <p:cNvPr id="9" name="TextBox 8"/>
          <p:cNvSpPr txBox="1"/>
          <p:nvPr/>
        </p:nvSpPr>
        <p:spPr>
          <a:xfrm>
            <a:off x="822960" y="2834640"/>
            <a:ext cx="3108960" cy="457200"/>
          </a:xfrm>
          <a:prstGeom prst="rect">
            <a:avLst/>
          </a:prstGeom>
          <a:noFill/>
        </p:spPr>
        <p:txBody>
          <a:bodyPr wrap="square" lIns="0" rIns="0" tIns="0" bIns="0" anchor="t">
            <a:spAutoFit/>
          </a:bodyPr>
          <a:lstStyle/>
          <a:p>
            <a:pPr algn="l"/>
            <a:r>
              <a:rPr sz="2000" b="0">
                <a:solidFill>
                  <a:srgbClr val="2B2A26"/>
                </a:solidFill>
                <a:latin typeface="Georgia"/>
              </a:rPr>
              <a:t>The Many</a:t>
            </a:r>
          </a:p>
        </p:txBody>
      </p:sp>
      <p:sp>
        <p:nvSpPr>
          <p:cNvPr id="10" name="TextBox 9"/>
          <p:cNvSpPr txBox="1"/>
          <p:nvPr/>
        </p:nvSpPr>
        <p:spPr>
          <a:xfrm>
            <a:off x="822960" y="3337560"/>
            <a:ext cx="3108960" cy="914400"/>
          </a:xfrm>
          <a:prstGeom prst="rect">
            <a:avLst/>
          </a:prstGeom>
          <a:noFill/>
        </p:spPr>
        <p:txBody>
          <a:bodyPr wrap="square" lIns="0" rIns="0" tIns="0" bIns="0" anchor="t">
            <a:spAutoFit/>
          </a:bodyPr>
          <a:lstStyle/>
          <a:p>
            <a:pPr algn="l"/>
            <a:r>
              <a:rPr sz="1100" b="0">
                <a:solidFill>
                  <a:srgbClr val="888379"/>
                </a:solidFill>
                <a:latin typeface="Calibri"/>
              </a:rPr>
              <a:t>Every piece, every way to wear it. The Chrysalis Cardi has 8 styles. The app teaches the rest.</a:t>
            </a:r>
          </a:p>
        </p:txBody>
      </p:sp>
      <p:sp>
        <p:nvSpPr>
          <p:cNvPr id="11" name="Rounded Rectangle 10"/>
          <p:cNvSpPr/>
          <p:nvPr/>
        </p:nvSpPr>
        <p:spPr>
          <a:xfrm>
            <a:off x="4343400" y="2194560"/>
            <a:ext cx="3657600" cy="2057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3400" y="2194560"/>
            <a:ext cx="91440" cy="2057400"/>
          </a:xfrm>
          <a:prstGeom prst="roundRect">
            <a:avLst>
              <a:gd name="adj" fmla="val 12000"/>
            </a:avLst>
          </a:prstGeom>
          <a:solidFill>
            <a:srgbClr val="B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108960" cy="365760"/>
          </a:xfrm>
          <a:prstGeom prst="rect">
            <a:avLst/>
          </a:prstGeom>
          <a:noFill/>
        </p:spPr>
        <p:txBody>
          <a:bodyPr wrap="square" lIns="0" rIns="0" tIns="0" bIns="0" anchor="t">
            <a:spAutoFit/>
          </a:bodyPr>
          <a:lstStyle/>
          <a:p>
            <a:pPr algn="l"/>
            <a:r>
              <a:rPr sz="2000" b="1">
                <a:solidFill>
                  <a:srgbClr val="B89968"/>
                </a:solidFill>
                <a:latin typeface="Georgia"/>
              </a:rPr>
              <a:t>2</a:t>
            </a:r>
          </a:p>
        </p:txBody>
      </p:sp>
      <p:sp>
        <p:nvSpPr>
          <p:cNvPr id="14" name="TextBox 13"/>
          <p:cNvSpPr txBox="1"/>
          <p:nvPr/>
        </p:nvSpPr>
        <p:spPr>
          <a:xfrm>
            <a:off x="4617720" y="2834640"/>
            <a:ext cx="3108960" cy="457200"/>
          </a:xfrm>
          <a:prstGeom prst="rect">
            <a:avLst/>
          </a:prstGeom>
          <a:noFill/>
        </p:spPr>
        <p:txBody>
          <a:bodyPr wrap="square" lIns="0" rIns="0" tIns="0" bIns="0" anchor="t">
            <a:spAutoFit/>
          </a:bodyPr>
          <a:lstStyle/>
          <a:p>
            <a:pPr algn="l"/>
            <a:r>
              <a:rPr sz="2000" b="0">
                <a:solidFill>
                  <a:srgbClr val="2B2A26"/>
                </a:solidFill>
                <a:latin typeface="Georgia"/>
              </a:rPr>
              <a:t>The Capsule</a:t>
            </a:r>
          </a:p>
        </p:txBody>
      </p:sp>
      <p:sp>
        <p:nvSpPr>
          <p:cNvPr id="15" name="TextBox 14"/>
          <p:cNvSpPr txBox="1"/>
          <p:nvPr/>
        </p:nvSpPr>
        <p:spPr>
          <a:xfrm>
            <a:off x="4617720" y="3337560"/>
            <a:ext cx="3108960" cy="914400"/>
          </a:xfrm>
          <a:prstGeom prst="rect">
            <a:avLst/>
          </a:prstGeom>
          <a:noFill/>
        </p:spPr>
        <p:txBody>
          <a:bodyPr wrap="square" lIns="0" rIns="0" tIns="0" bIns="0" anchor="t">
            <a:spAutoFit/>
          </a:bodyPr>
          <a:lstStyle/>
          <a:p>
            <a:pPr algn="l"/>
            <a:r>
              <a:rPr sz="1100" b="0">
                <a:solidFill>
                  <a:srgbClr val="888379"/>
                </a:solidFill>
                <a:latin typeface="Calibri"/>
              </a:rPr>
              <a:t>Trip planner that builds a packing capsule from your own closet.</a:t>
            </a:r>
          </a:p>
        </p:txBody>
      </p:sp>
      <p:sp>
        <p:nvSpPr>
          <p:cNvPr id="16" name="Rounded Rectangle 15"/>
          <p:cNvSpPr/>
          <p:nvPr/>
        </p:nvSpPr>
        <p:spPr>
          <a:xfrm>
            <a:off x="8138160" y="2194560"/>
            <a:ext cx="3657600" cy="2057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38160" y="2194560"/>
            <a:ext cx="91440" cy="2057400"/>
          </a:xfrm>
          <a:prstGeom prst="roundRect">
            <a:avLst>
              <a:gd name="adj" fmla="val 12000"/>
            </a:avLst>
          </a:prstGeom>
          <a:solidFill>
            <a:srgbClr val="B9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2377440"/>
            <a:ext cx="3108960" cy="365760"/>
          </a:xfrm>
          <a:prstGeom prst="rect">
            <a:avLst/>
          </a:prstGeom>
          <a:noFill/>
        </p:spPr>
        <p:txBody>
          <a:bodyPr wrap="square" lIns="0" rIns="0" tIns="0" bIns="0" anchor="t">
            <a:spAutoFit/>
          </a:bodyPr>
          <a:lstStyle/>
          <a:p>
            <a:pPr algn="l"/>
            <a:r>
              <a:rPr sz="2000" b="1">
                <a:solidFill>
                  <a:srgbClr val="B96A4F"/>
                </a:solidFill>
                <a:latin typeface="Georgia"/>
              </a:rPr>
              <a:t>3</a:t>
            </a:r>
          </a:p>
        </p:txBody>
      </p:sp>
      <p:sp>
        <p:nvSpPr>
          <p:cNvPr id="19" name="TextBox 18"/>
          <p:cNvSpPr txBox="1"/>
          <p:nvPr/>
        </p:nvSpPr>
        <p:spPr>
          <a:xfrm>
            <a:off x="8412480" y="2834640"/>
            <a:ext cx="3108960" cy="457200"/>
          </a:xfrm>
          <a:prstGeom prst="rect">
            <a:avLst/>
          </a:prstGeom>
          <a:noFill/>
        </p:spPr>
        <p:txBody>
          <a:bodyPr wrap="square" lIns="0" rIns="0" tIns="0" bIns="0" anchor="t">
            <a:spAutoFit/>
          </a:bodyPr>
          <a:lstStyle/>
          <a:p>
            <a:pPr algn="l"/>
            <a:r>
              <a:rPr sz="2000" b="0">
                <a:solidFill>
                  <a:srgbClr val="2B2A26"/>
                </a:solidFill>
                <a:latin typeface="Georgia"/>
              </a:rPr>
              <a:t>The Atelier</a:t>
            </a:r>
          </a:p>
        </p:txBody>
      </p:sp>
      <p:sp>
        <p:nvSpPr>
          <p:cNvPr id="20" name="TextBox 19"/>
          <p:cNvSpPr txBox="1"/>
          <p:nvPr/>
        </p:nvSpPr>
        <p:spPr>
          <a:xfrm>
            <a:off x="8412480" y="3337560"/>
            <a:ext cx="3108960" cy="914400"/>
          </a:xfrm>
          <a:prstGeom prst="rect">
            <a:avLst/>
          </a:prstGeom>
          <a:noFill/>
        </p:spPr>
        <p:txBody>
          <a:bodyPr wrap="square" lIns="0" rIns="0" tIns="0" bIns="0" anchor="t">
            <a:spAutoFit/>
          </a:bodyPr>
          <a:lstStyle/>
          <a:p>
            <a:pPr algn="l"/>
            <a:r>
              <a:rPr sz="1100" b="0">
                <a:solidFill>
                  <a:srgbClr val="888379"/>
                </a:solidFill>
                <a:latin typeface="Calibri"/>
              </a:rPr>
              <a:t>Lifetime repair — scan a piece, photo the damage, get a free fix.</a:t>
            </a:r>
          </a:p>
        </p:txBody>
      </p:sp>
      <p:sp>
        <p:nvSpPr>
          <p:cNvPr id="21" name="Rounded Rectangle 20"/>
          <p:cNvSpPr/>
          <p:nvPr/>
        </p:nvSpPr>
        <p:spPr>
          <a:xfrm>
            <a:off x="548640" y="4416552"/>
            <a:ext cx="3657600" cy="2057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48640" y="4416552"/>
            <a:ext cx="91440" cy="2057400"/>
          </a:xfrm>
          <a:prstGeom prst="roundRect">
            <a:avLst>
              <a:gd name="adj" fmla="val 12000"/>
            </a:avLst>
          </a:prstGeom>
          <a:solidFill>
            <a:srgbClr val="6F4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599432"/>
            <a:ext cx="3108960" cy="365760"/>
          </a:xfrm>
          <a:prstGeom prst="rect">
            <a:avLst/>
          </a:prstGeom>
          <a:noFill/>
        </p:spPr>
        <p:txBody>
          <a:bodyPr wrap="square" lIns="0" rIns="0" tIns="0" bIns="0" anchor="t">
            <a:spAutoFit/>
          </a:bodyPr>
          <a:lstStyle/>
          <a:p>
            <a:pPr algn="l"/>
            <a:r>
              <a:rPr sz="2000" b="1">
                <a:solidFill>
                  <a:srgbClr val="6F4D62"/>
                </a:solidFill>
                <a:latin typeface="Georgia"/>
              </a:rPr>
              <a:t>4</a:t>
            </a:r>
          </a:p>
        </p:txBody>
      </p:sp>
      <p:sp>
        <p:nvSpPr>
          <p:cNvPr id="24" name="TextBox 23"/>
          <p:cNvSpPr txBox="1"/>
          <p:nvPr/>
        </p:nvSpPr>
        <p:spPr>
          <a:xfrm>
            <a:off x="822960" y="5056632"/>
            <a:ext cx="3108960" cy="457200"/>
          </a:xfrm>
          <a:prstGeom prst="rect">
            <a:avLst/>
          </a:prstGeom>
          <a:noFill/>
        </p:spPr>
        <p:txBody>
          <a:bodyPr wrap="square" lIns="0" rIns="0" tIns="0" bIns="0" anchor="t">
            <a:spAutoFit/>
          </a:bodyPr>
          <a:lstStyle/>
          <a:p>
            <a:pPr algn="l"/>
            <a:r>
              <a:rPr sz="2000" b="0">
                <a:solidFill>
                  <a:srgbClr val="2B2A26"/>
                </a:solidFill>
                <a:latin typeface="Georgia"/>
              </a:rPr>
              <a:t>The Wardrobe</a:t>
            </a:r>
          </a:p>
        </p:txBody>
      </p:sp>
      <p:sp>
        <p:nvSpPr>
          <p:cNvPr id="25" name="TextBox 24"/>
          <p:cNvSpPr txBox="1"/>
          <p:nvPr/>
        </p:nvSpPr>
        <p:spPr>
          <a:xfrm>
            <a:off x="822960" y="5559552"/>
            <a:ext cx="3108960" cy="914400"/>
          </a:xfrm>
          <a:prstGeom prst="rect">
            <a:avLst/>
          </a:prstGeom>
          <a:noFill/>
        </p:spPr>
        <p:txBody>
          <a:bodyPr wrap="square" lIns="0" rIns="0" tIns="0" bIns="0" anchor="t">
            <a:spAutoFit/>
          </a:bodyPr>
          <a:lstStyle/>
          <a:p>
            <a:pPr algn="l"/>
            <a:r>
              <a:rPr sz="1100" b="0">
                <a:solidFill>
                  <a:srgbClr val="888379"/>
                </a:solidFill>
                <a:latin typeface="Calibri"/>
              </a:rPr>
              <a:t>Register every piece. Cost-per-wear, multi-way unlocks, repair history.</a:t>
            </a:r>
          </a:p>
        </p:txBody>
      </p:sp>
      <p:sp>
        <p:nvSpPr>
          <p:cNvPr id="26" name="Rounded Rectangle 25"/>
          <p:cNvSpPr/>
          <p:nvPr/>
        </p:nvSpPr>
        <p:spPr>
          <a:xfrm>
            <a:off x="4343400" y="4416552"/>
            <a:ext cx="3657600" cy="2057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343400" y="4416552"/>
            <a:ext cx="91440" cy="2057400"/>
          </a:xfrm>
          <a:prstGeom prst="roundRect">
            <a:avLst>
              <a:gd name="adj" fmla="val 12000"/>
            </a:avLst>
          </a:prstGeom>
          <a:solidFill>
            <a:srgbClr val="364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4599432"/>
            <a:ext cx="3108960" cy="365760"/>
          </a:xfrm>
          <a:prstGeom prst="rect">
            <a:avLst/>
          </a:prstGeom>
          <a:noFill/>
        </p:spPr>
        <p:txBody>
          <a:bodyPr wrap="square" lIns="0" rIns="0" tIns="0" bIns="0" anchor="t">
            <a:spAutoFit/>
          </a:bodyPr>
          <a:lstStyle/>
          <a:p>
            <a:pPr algn="l"/>
            <a:r>
              <a:rPr sz="2000" b="1">
                <a:solidFill>
                  <a:srgbClr val="36422F"/>
                </a:solidFill>
                <a:latin typeface="Georgia"/>
              </a:rPr>
              <a:t>5</a:t>
            </a:r>
          </a:p>
        </p:txBody>
      </p:sp>
      <p:sp>
        <p:nvSpPr>
          <p:cNvPr id="29" name="TextBox 28"/>
          <p:cNvSpPr txBox="1"/>
          <p:nvPr/>
        </p:nvSpPr>
        <p:spPr>
          <a:xfrm>
            <a:off x="4617720" y="5056632"/>
            <a:ext cx="3108960" cy="457200"/>
          </a:xfrm>
          <a:prstGeom prst="rect">
            <a:avLst/>
          </a:prstGeom>
          <a:noFill/>
        </p:spPr>
        <p:txBody>
          <a:bodyPr wrap="square" lIns="0" rIns="0" tIns="0" bIns="0" anchor="t">
            <a:spAutoFit/>
          </a:bodyPr>
          <a:lstStyle/>
          <a:p>
            <a:pPr algn="l"/>
            <a:r>
              <a:rPr sz="2000" b="0">
                <a:solidFill>
                  <a:srgbClr val="2B2A26"/>
                </a:solidFill>
                <a:latin typeface="Georgia"/>
              </a:rPr>
              <a:t>The Shop</a:t>
            </a:r>
          </a:p>
        </p:txBody>
      </p:sp>
      <p:sp>
        <p:nvSpPr>
          <p:cNvPr id="30" name="TextBox 29"/>
          <p:cNvSpPr txBox="1"/>
          <p:nvPr/>
        </p:nvSpPr>
        <p:spPr>
          <a:xfrm>
            <a:off x="4617720" y="5559552"/>
            <a:ext cx="3108960" cy="914400"/>
          </a:xfrm>
          <a:prstGeom prst="rect">
            <a:avLst/>
          </a:prstGeom>
          <a:noFill/>
        </p:spPr>
        <p:txBody>
          <a:bodyPr wrap="square" lIns="0" rIns="0" tIns="0" bIns="0" anchor="t">
            <a:spAutoFit/>
          </a:bodyPr>
          <a:lstStyle/>
          <a:p>
            <a:pPr algn="l"/>
            <a:r>
              <a:rPr sz="1100" b="0">
                <a:solidFill>
                  <a:srgbClr val="888379"/>
                </a:solidFill>
                <a:latin typeface="Calibri"/>
              </a:rPr>
              <a:t>Slow drops, founder-narrated, multi-currency, bilingual EN/FR.</a:t>
            </a:r>
          </a:p>
        </p:txBody>
      </p:sp>
      <p:sp>
        <p:nvSpPr>
          <p:cNvPr id="31" name="Rounded Rectangle 30"/>
          <p:cNvSpPr/>
          <p:nvPr/>
        </p:nvSpPr>
        <p:spPr>
          <a:xfrm>
            <a:off x="8138160" y="4416552"/>
            <a:ext cx="3657600" cy="2057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38160" y="4416552"/>
            <a:ext cx="91440" cy="2057400"/>
          </a:xfrm>
          <a:prstGeom prst="roundRect">
            <a:avLst>
              <a:gd name="adj" fmla="val 12000"/>
            </a:avLst>
          </a:prstGeom>
          <a:solidFill>
            <a:srgbClr val="2B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4599432"/>
            <a:ext cx="3108960" cy="365760"/>
          </a:xfrm>
          <a:prstGeom prst="rect">
            <a:avLst/>
          </a:prstGeom>
          <a:noFill/>
        </p:spPr>
        <p:txBody>
          <a:bodyPr wrap="square" lIns="0" rIns="0" tIns="0" bIns="0" anchor="t">
            <a:spAutoFit/>
          </a:bodyPr>
          <a:lstStyle/>
          <a:p>
            <a:pPr algn="l"/>
            <a:r>
              <a:rPr sz="2000" b="1">
                <a:solidFill>
                  <a:srgbClr val="2B2A26"/>
                </a:solidFill>
                <a:latin typeface="Georgia"/>
              </a:rPr>
              <a:t>6</a:t>
            </a:r>
          </a:p>
        </p:txBody>
      </p:sp>
      <p:sp>
        <p:nvSpPr>
          <p:cNvPr id="34" name="TextBox 33"/>
          <p:cNvSpPr txBox="1"/>
          <p:nvPr/>
        </p:nvSpPr>
        <p:spPr>
          <a:xfrm>
            <a:off x="8412480" y="5056632"/>
            <a:ext cx="3108960" cy="457200"/>
          </a:xfrm>
          <a:prstGeom prst="rect">
            <a:avLst/>
          </a:prstGeom>
          <a:noFill/>
        </p:spPr>
        <p:txBody>
          <a:bodyPr wrap="square" lIns="0" rIns="0" tIns="0" bIns="0" anchor="t">
            <a:spAutoFit/>
          </a:bodyPr>
          <a:lstStyle/>
          <a:p>
            <a:pPr algn="l"/>
            <a:r>
              <a:rPr sz="2000" b="0">
                <a:solidFill>
                  <a:srgbClr val="2B2A26"/>
                </a:solidFill>
                <a:latin typeface="Georgia"/>
              </a:rPr>
              <a:t>The Studio</a:t>
            </a:r>
          </a:p>
        </p:txBody>
      </p:sp>
      <p:sp>
        <p:nvSpPr>
          <p:cNvPr id="35" name="TextBox 34"/>
          <p:cNvSpPr txBox="1"/>
          <p:nvPr/>
        </p:nvSpPr>
        <p:spPr>
          <a:xfrm>
            <a:off x="8412480" y="5559552"/>
            <a:ext cx="3108960" cy="914400"/>
          </a:xfrm>
          <a:prstGeom prst="rect">
            <a:avLst/>
          </a:prstGeom>
          <a:noFill/>
        </p:spPr>
        <p:txBody>
          <a:bodyPr wrap="square" lIns="0" rIns="0" tIns="0" bIns="0" anchor="t">
            <a:spAutoFit/>
          </a:bodyPr>
          <a:lstStyle/>
          <a:p>
            <a:pPr algn="l"/>
            <a:r>
              <a:rPr sz="1100" b="0">
                <a:solidFill>
                  <a:srgbClr val="888379"/>
                </a:solidFill>
                <a:latin typeface="Calibri"/>
              </a:rPr>
              <a:t>Internal-facing web admin portal — multi-way library, repair queue, capsule templates, concierge.</a:t>
            </a:r>
          </a:p>
        </p:txBody>
      </p:sp>
      <p:sp>
        <p:nvSpPr>
          <p:cNvPr id="36" name="TextBox 35"/>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37" name="TextBox 36"/>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PHASE 1 · LAUNCH (MONTHS 0–4)</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Foundations: The Many, Capsule, Atelier, Wardrobe, Shop, Loops.</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548640"/>
          </a:xfrm>
          <a:prstGeom prst="rect">
            <a:avLst/>
          </a:prstGeom>
          <a:noFill/>
        </p:spPr>
        <p:txBody>
          <a:bodyPr wrap="square" lIns="0" rIns="0" tIns="0" bIns="0" anchor="t">
            <a:spAutoFit/>
          </a:bodyPr>
          <a:lstStyle/>
          <a:p>
            <a:pPr algn="l"/>
            <a:r>
              <a:rPr sz="1400" b="0">
                <a:solidFill>
                  <a:srgbClr val="888379"/>
                </a:solidFill>
                <a:latin typeface="Calibri"/>
              </a:rPr>
              <a:t>Everything a customer needs in their first 90 days.</a:t>
            </a:r>
          </a:p>
        </p:txBody>
      </p:sp>
      <p:sp>
        <p:nvSpPr>
          <p:cNvPr id="7" name="Rounded Rectangle 6"/>
          <p:cNvSpPr/>
          <p:nvPr/>
        </p:nvSpPr>
        <p:spPr>
          <a:xfrm>
            <a:off x="548640" y="265176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301752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761488"/>
            <a:ext cx="4754880" cy="365760"/>
          </a:xfrm>
          <a:prstGeom prst="rect">
            <a:avLst/>
          </a:prstGeom>
          <a:noFill/>
        </p:spPr>
        <p:txBody>
          <a:bodyPr wrap="square" lIns="0" rIns="0" tIns="0" bIns="0" anchor="t">
            <a:spAutoFit/>
          </a:bodyPr>
          <a:lstStyle/>
          <a:p>
            <a:pPr algn="l"/>
            <a:r>
              <a:rPr sz="1400" b="1">
                <a:solidFill>
                  <a:srgbClr val="2B2A26"/>
                </a:solidFill>
                <a:latin typeface="Calibri"/>
              </a:rPr>
              <a:t>Multilingual onboarding</a:t>
            </a:r>
          </a:p>
        </p:txBody>
      </p:sp>
      <p:sp>
        <p:nvSpPr>
          <p:cNvPr id="10" name="TextBox 9"/>
          <p:cNvSpPr txBox="1"/>
          <p:nvPr/>
        </p:nvSpPr>
        <p:spPr>
          <a:xfrm>
            <a:off x="1097280" y="3063240"/>
            <a:ext cx="4754880" cy="457200"/>
          </a:xfrm>
          <a:prstGeom prst="rect">
            <a:avLst/>
          </a:prstGeom>
          <a:noFill/>
        </p:spPr>
        <p:txBody>
          <a:bodyPr wrap="square" lIns="0" rIns="0" tIns="0" bIns="0" anchor="t">
            <a:spAutoFit/>
          </a:bodyPr>
          <a:lstStyle/>
          <a:p>
            <a:pPr algn="l"/>
            <a:r>
              <a:rPr sz="1100" b="0">
                <a:solidFill>
                  <a:srgbClr val="888379"/>
                </a:solidFill>
                <a:latin typeface="Calibri"/>
              </a:rPr>
              <a:t>EN + FR at launch.</a:t>
            </a:r>
          </a:p>
        </p:txBody>
      </p:sp>
      <p:sp>
        <p:nvSpPr>
          <p:cNvPr id="11" name="Rounded Rectangle 10"/>
          <p:cNvSpPr/>
          <p:nvPr/>
        </p:nvSpPr>
        <p:spPr>
          <a:xfrm>
            <a:off x="6172200" y="265176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46520" y="301752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61488"/>
            <a:ext cx="4754880" cy="365760"/>
          </a:xfrm>
          <a:prstGeom prst="rect">
            <a:avLst/>
          </a:prstGeom>
          <a:noFill/>
        </p:spPr>
        <p:txBody>
          <a:bodyPr wrap="square" lIns="0" rIns="0" tIns="0" bIns="0" anchor="t">
            <a:spAutoFit/>
          </a:bodyPr>
          <a:lstStyle/>
          <a:p>
            <a:pPr algn="l"/>
            <a:r>
              <a:rPr sz="1400" b="1">
                <a:solidFill>
                  <a:srgbClr val="2B2A26"/>
                </a:solidFill>
                <a:latin typeface="Calibri"/>
              </a:rPr>
              <a:t>Multi-currency storefront</a:t>
            </a:r>
          </a:p>
        </p:txBody>
      </p:sp>
      <p:sp>
        <p:nvSpPr>
          <p:cNvPr id="14" name="TextBox 13"/>
          <p:cNvSpPr txBox="1"/>
          <p:nvPr/>
        </p:nvSpPr>
        <p:spPr>
          <a:xfrm>
            <a:off x="6720840" y="3063240"/>
            <a:ext cx="4754880" cy="457200"/>
          </a:xfrm>
          <a:prstGeom prst="rect">
            <a:avLst/>
          </a:prstGeom>
          <a:noFill/>
        </p:spPr>
        <p:txBody>
          <a:bodyPr wrap="square" lIns="0" rIns="0" tIns="0" bIns="0" anchor="t">
            <a:spAutoFit/>
          </a:bodyPr>
          <a:lstStyle/>
          <a:p>
            <a:pPr algn="l"/>
            <a:r>
              <a:rPr sz="1100" b="0">
                <a:solidFill>
                  <a:srgbClr val="888379"/>
                </a:solidFill>
                <a:latin typeface="Calibri"/>
              </a:rPr>
              <a:t>CAD + USD; international shipping.</a:t>
            </a:r>
          </a:p>
        </p:txBody>
      </p:sp>
      <p:sp>
        <p:nvSpPr>
          <p:cNvPr id="15" name="Rounded Rectangle 14"/>
          <p:cNvSpPr/>
          <p:nvPr/>
        </p:nvSpPr>
        <p:spPr>
          <a:xfrm>
            <a:off x="548640" y="365760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402336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67328"/>
            <a:ext cx="4754880" cy="365760"/>
          </a:xfrm>
          <a:prstGeom prst="rect">
            <a:avLst/>
          </a:prstGeom>
          <a:noFill/>
        </p:spPr>
        <p:txBody>
          <a:bodyPr wrap="square" lIns="0" rIns="0" tIns="0" bIns="0" anchor="t">
            <a:spAutoFit/>
          </a:bodyPr>
          <a:lstStyle/>
          <a:p>
            <a:pPr algn="l"/>
            <a:r>
              <a:rPr sz="1400" b="1">
                <a:solidFill>
                  <a:srgbClr val="2B2A26"/>
                </a:solidFill>
                <a:latin typeface="Calibri"/>
              </a:rPr>
              <a:t>The Many · 8 ways per piece</a:t>
            </a:r>
          </a:p>
        </p:txBody>
      </p:sp>
      <p:sp>
        <p:nvSpPr>
          <p:cNvPr id="18" name="TextBox 17"/>
          <p:cNvSpPr txBox="1"/>
          <p:nvPr/>
        </p:nvSpPr>
        <p:spPr>
          <a:xfrm>
            <a:off x="1097280" y="4069080"/>
            <a:ext cx="4754880" cy="457200"/>
          </a:xfrm>
          <a:prstGeom prst="rect">
            <a:avLst/>
          </a:prstGeom>
          <a:noFill/>
        </p:spPr>
        <p:txBody>
          <a:bodyPr wrap="square" lIns="0" rIns="0" tIns="0" bIns="0" anchor="t">
            <a:spAutoFit/>
          </a:bodyPr>
          <a:lstStyle/>
          <a:p>
            <a:pPr algn="l"/>
            <a:r>
              <a:rPr sz="1100" b="0">
                <a:solidFill>
                  <a:srgbClr val="888379"/>
                </a:solidFill>
                <a:latin typeface="Calibri"/>
              </a:rPr>
              <a:t>Per-piece style library, photo + 30-sec videos.</a:t>
            </a:r>
          </a:p>
        </p:txBody>
      </p:sp>
      <p:sp>
        <p:nvSpPr>
          <p:cNvPr id="19" name="Rounded Rectangle 18"/>
          <p:cNvSpPr/>
          <p:nvPr/>
        </p:nvSpPr>
        <p:spPr>
          <a:xfrm>
            <a:off x="6172200" y="365760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46520" y="402336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3767328"/>
            <a:ext cx="4754880" cy="365760"/>
          </a:xfrm>
          <a:prstGeom prst="rect">
            <a:avLst/>
          </a:prstGeom>
          <a:noFill/>
        </p:spPr>
        <p:txBody>
          <a:bodyPr wrap="square" lIns="0" rIns="0" tIns="0" bIns="0" anchor="t">
            <a:spAutoFit/>
          </a:bodyPr>
          <a:lstStyle/>
          <a:p>
            <a:pPr algn="l"/>
            <a:r>
              <a:rPr sz="1400" b="1">
                <a:solidFill>
                  <a:srgbClr val="2B2A26"/>
                </a:solidFill>
                <a:latin typeface="Calibri"/>
              </a:rPr>
              <a:t>Style of the week push</a:t>
            </a:r>
          </a:p>
        </p:txBody>
      </p:sp>
      <p:sp>
        <p:nvSpPr>
          <p:cNvPr id="22" name="TextBox 21"/>
          <p:cNvSpPr txBox="1"/>
          <p:nvPr/>
        </p:nvSpPr>
        <p:spPr>
          <a:xfrm>
            <a:off x="6720840" y="4069080"/>
            <a:ext cx="4754880" cy="457200"/>
          </a:xfrm>
          <a:prstGeom prst="rect">
            <a:avLst/>
          </a:prstGeom>
          <a:noFill/>
        </p:spPr>
        <p:txBody>
          <a:bodyPr wrap="square" lIns="0" rIns="0" tIns="0" bIns="0" anchor="t">
            <a:spAutoFit/>
          </a:bodyPr>
          <a:lstStyle/>
          <a:p>
            <a:pPr algn="l"/>
            <a:r>
              <a:rPr sz="1100" b="0">
                <a:solidFill>
                  <a:srgbClr val="888379"/>
                </a:solidFill>
                <a:latin typeface="Calibri"/>
              </a:rPr>
              <a:t>Surfaces a new way to wear pieces you already own.</a:t>
            </a:r>
          </a:p>
        </p:txBody>
      </p:sp>
      <p:sp>
        <p:nvSpPr>
          <p:cNvPr id="23" name="Rounded Rectangle 22"/>
          <p:cNvSpPr/>
          <p:nvPr/>
        </p:nvSpPr>
        <p:spPr>
          <a:xfrm>
            <a:off x="548640" y="466344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2960" y="502920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773168"/>
            <a:ext cx="4754880" cy="365760"/>
          </a:xfrm>
          <a:prstGeom prst="rect">
            <a:avLst/>
          </a:prstGeom>
          <a:noFill/>
        </p:spPr>
        <p:txBody>
          <a:bodyPr wrap="square" lIns="0" rIns="0" tIns="0" bIns="0" anchor="t">
            <a:spAutoFit/>
          </a:bodyPr>
          <a:lstStyle/>
          <a:p>
            <a:pPr algn="l"/>
            <a:r>
              <a:rPr sz="1400" b="1">
                <a:solidFill>
                  <a:srgbClr val="2B2A26"/>
                </a:solidFill>
                <a:latin typeface="Calibri"/>
              </a:rPr>
              <a:t>The Capsule trip planner</a:t>
            </a:r>
          </a:p>
        </p:txBody>
      </p:sp>
      <p:sp>
        <p:nvSpPr>
          <p:cNvPr id="26" name="TextBox 25"/>
          <p:cNvSpPr txBox="1"/>
          <p:nvPr/>
        </p:nvSpPr>
        <p:spPr>
          <a:xfrm>
            <a:off x="1097280" y="5074920"/>
            <a:ext cx="4754880" cy="457200"/>
          </a:xfrm>
          <a:prstGeom prst="rect">
            <a:avLst/>
          </a:prstGeom>
          <a:noFill/>
        </p:spPr>
        <p:txBody>
          <a:bodyPr wrap="square" lIns="0" rIns="0" tIns="0" bIns="0" anchor="t">
            <a:spAutoFit/>
          </a:bodyPr>
          <a:lstStyle/>
          <a:p>
            <a:pPr algn="l"/>
            <a:r>
              <a:rPr sz="1100" b="0">
                <a:solidFill>
                  <a:srgbClr val="888379"/>
                </a:solidFill>
                <a:latin typeface="Calibri"/>
              </a:rPr>
              <a:t>Destination + length + weather + dress code → capsule from your closet.</a:t>
            </a:r>
          </a:p>
        </p:txBody>
      </p:sp>
      <p:sp>
        <p:nvSpPr>
          <p:cNvPr id="27" name="Rounded Rectangle 26"/>
          <p:cNvSpPr/>
          <p:nvPr/>
        </p:nvSpPr>
        <p:spPr>
          <a:xfrm>
            <a:off x="6172200" y="466344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46520" y="502920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4773168"/>
            <a:ext cx="4754880" cy="365760"/>
          </a:xfrm>
          <a:prstGeom prst="rect">
            <a:avLst/>
          </a:prstGeom>
          <a:noFill/>
        </p:spPr>
        <p:txBody>
          <a:bodyPr wrap="square" lIns="0" rIns="0" tIns="0" bIns="0" anchor="t">
            <a:spAutoFit/>
          </a:bodyPr>
          <a:lstStyle/>
          <a:p>
            <a:pPr algn="l"/>
            <a:r>
              <a:rPr sz="1400" b="1">
                <a:solidFill>
                  <a:srgbClr val="2B2A26"/>
                </a:solidFill>
                <a:latin typeface="Calibri"/>
              </a:rPr>
              <a:t>Pack-light score</a:t>
            </a:r>
          </a:p>
        </p:txBody>
      </p:sp>
      <p:sp>
        <p:nvSpPr>
          <p:cNvPr id="30" name="TextBox 29"/>
          <p:cNvSpPr txBox="1"/>
          <p:nvPr/>
        </p:nvSpPr>
        <p:spPr>
          <a:xfrm>
            <a:off x="6720840" y="5074920"/>
            <a:ext cx="4754880" cy="457200"/>
          </a:xfrm>
          <a:prstGeom prst="rect">
            <a:avLst/>
          </a:prstGeom>
          <a:noFill/>
        </p:spPr>
        <p:txBody>
          <a:bodyPr wrap="square" lIns="0" rIns="0" tIns="0" bIns="0" anchor="t">
            <a:spAutoFit/>
          </a:bodyPr>
          <a:lstStyle/>
          <a:p>
            <a:pPr algn="l"/>
            <a:r>
              <a:rPr sz="1100" b="0">
                <a:solidFill>
                  <a:srgbClr val="888379"/>
                </a:solidFill>
                <a:latin typeface="Calibri"/>
              </a:rPr>
              <a:t>Weight, volume, outfit count per capsule.</a:t>
            </a:r>
          </a:p>
        </p:txBody>
      </p:sp>
      <p:sp>
        <p:nvSpPr>
          <p:cNvPr id="31" name="Rounded Rectangle 30"/>
          <p:cNvSpPr/>
          <p:nvPr/>
        </p:nvSpPr>
        <p:spPr>
          <a:xfrm>
            <a:off x="548640" y="566928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2960" y="603504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779008"/>
            <a:ext cx="4754880" cy="365760"/>
          </a:xfrm>
          <a:prstGeom prst="rect">
            <a:avLst/>
          </a:prstGeom>
          <a:noFill/>
        </p:spPr>
        <p:txBody>
          <a:bodyPr wrap="square" lIns="0" rIns="0" tIns="0" bIns="0" anchor="t">
            <a:spAutoFit/>
          </a:bodyPr>
          <a:lstStyle/>
          <a:p>
            <a:pPr algn="l"/>
            <a:r>
              <a:rPr sz="1400" b="1">
                <a:solidFill>
                  <a:srgbClr val="2B2A26"/>
                </a:solidFill>
                <a:latin typeface="Calibri"/>
              </a:rPr>
              <a:t>The Atelier repair flow</a:t>
            </a:r>
          </a:p>
        </p:txBody>
      </p:sp>
      <p:sp>
        <p:nvSpPr>
          <p:cNvPr id="34" name="TextBox 33"/>
          <p:cNvSpPr txBox="1"/>
          <p:nvPr/>
        </p:nvSpPr>
        <p:spPr>
          <a:xfrm>
            <a:off x="1097280" y="6080760"/>
            <a:ext cx="4754880" cy="457200"/>
          </a:xfrm>
          <a:prstGeom prst="rect">
            <a:avLst/>
          </a:prstGeom>
          <a:noFill/>
        </p:spPr>
        <p:txBody>
          <a:bodyPr wrap="square" lIns="0" rIns="0" tIns="0" bIns="0" anchor="t">
            <a:spAutoFit/>
          </a:bodyPr>
          <a:lstStyle/>
          <a:p>
            <a:pPr algn="l"/>
            <a:r>
              <a:rPr sz="1100" b="0">
                <a:solidFill>
                  <a:srgbClr val="888379"/>
                </a:solidFill>
                <a:latin typeface="Calibri"/>
              </a:rPr>
              <a:t>Scan → photo → quote → free pickup or mail-in.</a:t>
            </a:r>
          </a:p>
        </p:txBody>
      </p:sp>
      <p:sp>
        <p:nvSpPr>
          <p:cNvPr id="35" name="Rounded Rectangle 34"/>
          <p:cNvSpPr/>
          <p:nvPr/>
        </p:nvSpPr>
        <p:spPr>
          <a:xfrm>
            <a:off x="6172200" y="566928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446520" y="603504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5779008"/>
            <a:ext cx="4754880" cy="365760"/>
          </a:xfrm>
          <a:prstGeom prst="rect">
            <a:avLst/>
          </a:prstGeom>
          <a:noFill/>
        </p:spPr>
        <p:txBody>
          <a:bodyPr wrap="square" lIns="0" rIns="0" tIns="0" bIns="0" anchor="t">
            <a:spAutoFit/>
          </a:bodyPr>
          <a:lstStyle/>
          <a:p>
            <a:pPr algn="l"/>
            <a:r>
              <a:rPr sz="1400" b="1">
                <a:solidFill>
                  <a:srgbClr val="2B2A26"/>
                </a:solidFill>
                <a:latin typeface="Calibri"/>
              </a:rPr>
              <a:t>AI repair triage (basic)</a:t>
            </a:r>
          </a:p>
        </p:txBody>
      </p:sp>
      <p:sp>
        <p:nvSpPr>
          <p:cNvPr id="38" name="TextBox 37"/>
          <p:cNvSpPr txBox="1"/>
          <p:nvPr/>
        </p:nvSpPr>
        <p:spPr>
          <a:xfrm>
            <a:off x="6720840" y="6080760"/>
            <a:ext cx="4754880" cy="457200"/>
          </a:xfrm>
          <a:prstGeom prst="rect">
            <a:avLst/>
          </a:prstGeom>
          <a:noFill/>
        </p:spPr>
        <p:txBody>
          <a:bodyPr wrap="square" lIns="0" rIns="0" tIns="0" bIns="0" anchor="t">
            <a:spAutoFit/>
          </a:bodyPr>
          <a:lstStyle/>
          <a:p>
            <a:pPr algn="l"/>
            <a:r>
              <a:rPr sz="1100" b="0">
                <a:solidFill>
                  <a:srgbClr val="888379"/>
                </a:solidFill>
                <a:latin typeface="Calibri"/>
              </a:rPr>
              <a:t>Vision classification routes between DIY guide and atelier work.</a:t>
            </a:r>
          </a:p>
        </p:txBody>
      </p:sp>
      <p:sp>
        <p:nvSpPr>
          <p:cNvPr id="39" name="Rounded Rectangle 38"/>
          <p:cNvSpPr/>
          <p:nvPr/>
        </p:nvSpPr>
        <p:spPr>
          <a:xfrm>
            <a:off x="548640" y="667512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22960" y="704088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6784848"/>
            <a:ext cx="4754880" cy="365760"/>
          </a:xfrm>
          <a:prstGeom prst="rect">
            <a:avLst/>
          </a:prstGeom>
          <a:noFill/>
        </p:spPr>
        <p:txBody>
          <a:bodyPr wrap="square" lIns="0" rIns="0" tIns="0" bIns="0" anchor="t">
            <a:spAutoFit/>
          </a:bodyPr>
          <a:lstStyle/>
          <a:p>
            <a:pPr algn="l"/>
            <a:r>
              <a:rPr sz="1400" b="1">
                <a:solidFill>
                  <a:srgbClr val="2B2A26"/>
                </a:solidFill>
                <a:latin typeface="Calibri"/>
              </a:rPr>
              <a:t>The Wardrobe</a:t>
            </a:r>
          </a:p>
        </p:txBody>
      </p:sp>
      <p:sp>
        <p:nvSpPr>
          <p:cNvPr id="42" name="TextBox 41"/>
          <p:cNvSpPr txBox="1"/>
          <p:nvPr/>
        </p:nvSpPr>
        <p:spPr>
          <a:xfrm>
            <a:off x="1097280" y="7086600"/>
            <a:ext cx="4754880" cy="457200"/>
          </a:xfrm>
          <a:prstGeom prst="rect">
            <a:avLst/>
          </a:prstGeom>
          <a:noFill/>
        </p:spPr>
        <p:txBody>
          <a:bodyPr wrap="square" lIns="0" rIns="0" tIns="0" bIns="0" anchor="t">
            <a:spAutoFit/>
          </a:bodyPr>
          <a:lstStyle/>
          <a:p>
            <a:pPr algn="l"/>
            <a:r>
              <a:rPr sz="1100" b="0">
                <a:solidFill>
                  <a:srgbClr val="888379"/>
                </a:solidFill>
                <a:latin typeface="Calibri"/>
              </a:rPr>
              <a:t>Register every piece, log wears, see cost-per-wear.</a:t>
            </a:r>
          </a:p>
        </p:txBody>
      </p:sp>
      <p:sp>
        <p:nvSpPr>
          <p:cNvPr id="43" name="Rounded Rectangle 42"/>
          <p:cNvSpPr/>
          <p:nvPr/>
        </p:nvSpPr>
        <p:spPr>
          <a:xfrm>
            <a:off x="6172200" y="667512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446520" y="704088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20840" y="6784848"/>
            <a:ext cx="4754880" cy="365760"/>
          </a:xfrm>
          <a:prstGeom prst="rect">
            <a:avLst/>
          </a:prstGeom>
          <a:noFill/>
        </p:spPr>
        <p:txBody>
          <a:bodyPr wrap="square" lIns="0" rIns="0" tIns="0" bIns="0" anchor="t">
            <a:spAutoFit/>
          </a:bodyPr>
          <a:lstStyle/>
          <a:p>
            <a:pPr algn="l"/>
            <a:r>
              <a:rPr sz="1400" b="1">
                <a:solidFill>
                  <a:srgbClr val="2B2A26"/>
                </a:solidFill>
                <a:latin typeface="Calibri"/>
              </a:rPr>
              <a:t>Multi-way unlock tracking</a:t>
            </a:r>
          </a:p>
        </p:txBody>
      </p:sp>
      <p:sp>
        <p:nvSpPr>
          <p:cNvPr id="46" name="TextBox 45"/>
          <p:cNvSpPr txBox="1"/>
          <p:nvPr/>
        </p:nvSpPr>
        <p:spPr>
          <a:xfrm>
            <a:off x="6720840" y="7086600"/>
            <a:ext cx="4754880" cy="457200"/>
          </a:xfrm>
          <a:prstGeom prst="rect">
            <a:avLst/>
          </a:prstGeom>
          <a:noFill/>
        </p:spPr>
        <p:txBody>
          <a:bodyPr wrap="square" lIns="0" rIns="0" tIns="0" bIns="0" anchor="t">
            <a:spAutoFit/>
          </a:bodyPr>
          <a:lstStyle/>
          <a:p>
            <a:pPr algn="l"/>
            <a:r>
              <a:rPr sz="1100" b="0">
                <a:solidFill>
                  <a:srgbClr val="888379"/>
                </a:solidFill>
                <a:latin typeface="Calibri"/>
              </a:rPr>
              <a:t>Show 3 of 8 styles unlocked per piece, encourage exploration.</a:t>
            </a:r>
          </a:p>
        </p:txBody>
      </p:sp>
      <p:sp>
        <p:nvSpPr>
          <p:cNvPr id="47" name="Rounded Rectangle 46"/>
          <p:cNvSpPr/>
          <p:nvPr/>
        </p:nvSpPr>
        <p:spPr>
          <a:xfrm>
            <a:off x="548640" y="768096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22960" y="804672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97280" y="7790688"/>
            <a:ext cx="4754880" cy="365760"/>
          </a:xfrm>
          <a:prstGeom prst="rect">
            <a:avLst/>
          </a:prstGeom>
          <a:noFill/>
        </p:spPr>
        <p:txBody>
          <a:bodyPr wrap="square" lIns="0" rIns="0" tIns="0" bIns="0" anchor="t">
            <a:spAutoFit/>
          </a:bodyPr>
          <a:lstStyle/>
          <a:p>
            <a:pPr algn="l"/>
            <a:r>
              <a:rPr sz="1400" b="1">
                <a:solidFill>
                  <a:srgbClr val="2B2A26"/>
                </a:solidFill>
                <a:latin typeface="Calibri"/>
              </a:rPr>
              <a:t>Founder-narrated drops</a:t>
            </a:r>
          </a:p>
        </p:txBody>
      </p:sp>
      <p:sp>
        <p:nvSpPr>
          <p:cNvPr id="50" name="TextBox 49"/>
          <p:cNvSpPr txBox="1"/>
          <p:nvPr/>
        </p:nvSpPr>
        <p:spPr>
          <a:xfrm>
            <a:off x="1097280" y="8092440"/>
            <a:ext cx="4754880" cy="457200"/>
          </a:xfrm>
          <a:prstGeom prst="rect">
            <a:avLst/>
          </a:prstGeom>
          <a:noFill/>
        </p:spPr>
        <p:txBody>
          <a:bodyPr wrap="square" lIns="0" rIns="0" tIns="0" bIns="0" anchor="t">
            <a:spAutoFit/>
          </a:bodyPr>
          <a:lstStyle/>
          <a:p>
            <a:pPr algn="l"/>
            <a:r>
              <a:rPr sz="1100" b="0">
                <a:solidFill>
                  <a:srgbClr val="888379"/>
                </a:solidFill>
                <a:latin typeface="Calibri"/>
              </a:rPr>
              <a:t>Kristi short videos per collection.</a:t>
            </a:r>
          </a:p>
        </p:txBody>
      </p:sp>
      <p:sp>
        <p:nvSpPr>
          <p:cNvPr id="51" name="Rounded Rectangle 50"/>
          <p:cNvSpPr/>
          <p:nvPr/>
        </p:nvSpPr>
        <p:spPr>
          <a:xfrm>
            <a:off x="6172200" y="768096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446520" y="804672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720840" y="7790688"/>
            <a:ext cx="4754880" cy="365760"/>
          </a:xfrm>
          <a:prstGeom prst="rect">
            <a:avLst/>
          </a:prstGeom>
          <a:noFill/>
        </p:spPr>
        <p:txBody>
          <a:bodyPr wrap="square" lIns="0" rIns="0" tIns="0" bIns="0" anchor="t">
            <a:spAutoFit/>
          </a:bodyPr>
          <a:lstStyle/>
          <a:p>
            <a:pPr algn="l"/>
            <a:r>
              <a:rPr sz="1400" b="1">
                <a:solidFill>
                  <a:srgbClr val="2B2A26"/>
                </a:solidFill>
                <a:latin typeface="Calibri"/>
              </a:rPr>
              <a:t>Loops loyalty</a:t>
            </a:r>
          </a:p>
        </p:txBody>
      </p:sp>
      <p:sp>
        <p:nvSpPr>
          <p:cNvPr id="54" name="TextBox 53"/>
          <p:cNvSpPr txBox="1"/>
          <p:nvPr/>
        </p:nvSpPr>
        <p:spPr>
          <a:xfrm>
            <a:off x="6720840" y="8092440"/>
            <a:ext cx="4754880" cy="457200"/>
          </a:xfrm>
          <a:prstGeom prst="rect">
            <a:avLst/>
          </a:prstGeom>
          <a:noFill/>
        </p:spPr>
        <p:txBody>
          <a:bodyPr wrap="square" lIns="0" rIns="0" tIns="0" bIns="0" anchor="t">
            <a:spAutoFit/>
          </a:bodyPr>
          <a:lstStyle/>
          <a:p>
            <a:pPr algn="l"/>
            <a:r>
              <a:rPr sz="1100" b="0">
                <a:solidFill>
                  <a:srgbClr val="888379"/>
                </a:solidFill>
                <a:latin typeface="Calibri"/>
              </a:rPr>
              <a:t>Recognition for long-term ownership; not bribery for new buys.</a:t>
            </a:r>
          </a:p>
        </p:txBody>
      </p:sp>
      <p:sp>
        <p:nvSpPr>
          <p:cNvPr id="55" name="Rounded Rectangle 54"/>
          <p:cNvSpPr/>
          <p:nvPr/>
        </p:nvSpPr>
        <p:spPr>
          <a:xfrm>
            <a:off x="548640" y="868680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822960" y="905256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97280" y="8796528"/>
            <a:ext cx="4754880" cy="365760"/>
          </a:xfrm>
          <a:prstGeom prst="rect">
            <a:avLst/>
          </a:prstGeom>
          <a:noFill/>
        </p:spPr>
        <p:txBody>
          <a:bodyPr wrap="square" lIns="0" rIns="0" tIns="0" bIns="0" anchor="t">
            <a:spAutoFit/>
          </a:bodyPr>
          <a:lstStyle/>
          <a:p>
            <a:pPr algn="l"/>
            <a:r>
              <a:rPr sz="1400" b="1">
                <a:solidFill>
                  <a:srgbClr val="2B2A26"/>
                </a:solidFill>
                <a:latin typeface="Calibri"/>
              </a:rPr>
              <a:t>Multi-way styler chat (AI)</a:t>
            </a:r>
          </a:p>
        </p:txBody>
      </p:sp>
      <p:sp>
        <p:nvSpPr>
          <p:cNvPr id="58" name="TextBox 57"/>
          <p:cNvSpPr txBox="1"/>
          <p:nvPr/>
        </p:nvSpPr>
        <p:spPr>
          <a:xfrm>
            <a:off x="1097280" y="9098280"/>
            <a:ext cx="4754880" cy="457200"/>
          </a:xfrm>
          <a:prstGeom prst="rect">
            <a:avLst/>
          </a:prstGeom>
          <a:noFill/>
        </p:spPr>
        <p:txBody>
          <a:bodyPr wrap="square" lIns="0" rIns="0" tIns="0" bIns="0" anchor="t">
            <a:spAutoFit/>
          </a:bodyPr>
          <a:lstStyle/>
          <a:p>
            <a:pPr algn="l"/>
            <a:r>
              <a:rPr sz="1100" b="0">
                <a:solidFill>
                  <a:srgbClr val="888379"/>
                </a:solidFill>
                <a:latin typeface="Calibri"/>
              </a:rPr>
              <a:t>Recognise a piece from photo, walk through documented styles.</a:t>
            </a:r>
          </a:p>
        </p:txBody>
      </p:sp>
      <p:sp>
        <p:nvSpPr>
          <p:cNvPr id="59" name="Rounded Rectangle 58"/>
          <p:cNvSpPr/>
          <p:nvPr/>
        </p:nvSpPr>
        <p:spPr>
          <a:xfrm>
            <a:off x="6172200" y="868680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6446520" y="905256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720840" y="8796528"/>
            <a:ext cx="4754880" cy="365760"/>
          </a:xfrm>
          <a:prstGeom prst="rect">
            <a:avLst/>
          </a:prstGeom>
          <a:noFill/>
        </p:spPr>
        <p:txBody>
          <a:bodyPr wrap="square" lIns="0" rIns="0" tIns="0" bIns="0" anchor="t">
            <a:spAutoFit/>
          </a:bodyPr>
          <a:lstStyle/>
          <a:p>
            <a:pPr algn="l"/>
            <a:r>
              <a:rPr sz="1400" b="1">
                <a:solidFill>
                  <a:srgbClr val="2B2A26"/>
                </a:solidFill>
                <a:latin typeface="Calibri"/>
              </a:rPr>
              <a:t>Capsule builder AI</a:t>
            </a:r>
          </a:p>
        </p:txBody>
      </p:sp>
      <p:sp>
        <p:nvSpPr>
          <p:cNvPr id="62" name="TextBox 61"/>
          <p:cNvSpPr txBox="1"/>
          <p:nvPr/>
        </p:nvSpPr>
        <p:spPr>
          <a:xfrm>
            <a:off x="6720840" y="9098280"/>
            <a:ext cx="4754880" cy="457200"/>
          </a:xfrm>
          <a:prstGeom prst="rect">
            <a:avLst/>
          </a:prstGeom>
          <a:noFill/>
        </p:spPr>
        <p:txBody>
          <a:bodyPr wrap="square" lIns="0" rIns="0" tIns="0" bIns="0" anchor="t">
            <a:spAutoFit/>
          </a:bodyPr>
          <a:lstStyle/>
          <a:p>
            <a:pPr algn="l"/>
            <a:r>
              <a:rPr sz="1100" b="0">
                <a:solidFill>
                  <a:srgbClr val="888379"/>
                </a:solidFill>
                <a:latin typeface="Calibri"/>
              </a:rPr>
              <a:t>Auto-build trip capsules from owned pieces.</a:t>
            </a:r>
          </a:p>
        </p:txBody>
      </p:sp>
      <p:sp>
        <p:nvSpPr>
          <p:cNvPr id="63" name="Rounded Rectangle 62"/>
          <p:cNvSpPr/>
          <p:nvPr/>
        </p:nvSpPr>
        <p:spPr>
          <a:xfrm>
            <a:off x="548640" y="969264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22960" y="1005840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97280" y="9802368"/>
            <a:ext cx="4754880" cy="365760"/>
          </a:xfrm>
          <a:prstGeom prst="rect">
            <a:avLst/>
          </a:prstGeom>
          <a:noFill/>
        </p:spPr>
        <p:txBody>
          <a:bodyPr wrap="square" lIns="0" rIns="0" tIns="0" bIns="0" anchor="t">
            <a:spAutoFit/>
          </a:bodyPr>
          <a:lstStyle/>
          <a:p>
            <a:pPr algn="l"/>
            <a:r>
              <a:rPr sz="1400" b="1">
                <a:solidFill>
                  <a:srgbClr val="2B2A26"/>
                </a:solidFill>
                <a:latin typeface="Calibri"/>
              </a:rPr>
              <a:t>Atelier care + fit chat (AI)</a:t>
            </a:r>
          </a:p>
        </p:txBody>
      </p:sp>
      <p:sp>
        <p:nvSpPr>
          <p:cNvPr id="66" name="TextBox 65"/>
          <p:cNvSpPr txBox="1"/>
          <p:nvPr/>
        </p:nvSpPr>
        <p:spPr>
          <a:xfrm>
            <a:off x="1097280" y="10104120"/>
            <a:ext cx="4754880" cy="457200"/>
          </a:xfrm>
          <a:prstGeom prst="rect">
            <a:avLst/>
          </a:prstGeom>
          <a:noFill/>
        </p:spPr>
        <p:txBody>
          <a:bodyPr wrap="square" lIns="0" rIns="0" tIns="0" bIns="0" anchor="t">
            <a:spAutoFit/>
          </a:bodyPr>
          <a:lstStyle/>
          <a:p>
            <a:pPr algn="l"/>
            <a:r>
              <a:rPr sz="1100" b="0">
                <a:solidFill>
                  <a:srgbClr val="888379"/>
                </a:solidFill>
                <a:latin typeface="Calibri"/>
              </a:rPr>
              <a:t>Multilingual EN/FR with past-order context.</a:t>
            </a:r>
          </a:p>
        </p:txBody>
      </p:sp>
      <p:sp>
        <p:nvSpPr>
          <p:cNvPr id="67" name="Rounded Rectangle 66"/>
          <p:cNvSpPr/>
          <p:nvPr/>
        </p:nvSpPr>
        <p:spPr>
          <a:xfrm>
            <a:off x="6172200" y="969264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6446520" y="1005840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720840" y="9802368"/>
            <a:ext cx="4754880" cy="365760"/>
          </a:xfrm>
          <a:prstGeom prst="rect">
            <a:avLst/>
          </a:prstGeom>
          <a:noFill/>
        </p:spPr>
        <p:txBody>
          <a:bodyPr wrap="square" lIns="0" rIns="0" tIns="0" bIns="0" anchor="t">
            <a:spAutoFit/>
          </a:bodyPr>
          <a:lstStyle/>
          <a:p>
            <a:pPr algn="l"/>
            <a:r>
              <a:rPr sz="1400" b="1">
                <a:solidFill>
                  <a:srgbClr val="2B2A26"/>
                </a:solidFill>
                <a:latin typeface="Calibri"/>
              </a:rPr>
              <a:t>The Studio (web admin)</a:t>
            </a:r>
          </a:p>
        </p:txBody>
      </p:sp>
      <p:sp>
        <p:nvSpPr>
          <p:cNvPr id="70" name="TextBox 69"/>
          <p:cNvSpPr txBox="1"/>
          <p:nvPr/>
        </p:nvSpPr>
        <p:spPr>
          <a:xfrm>
            <a:off x="6720840" y="10104120"/>
            <a:ext cx="4754880" cy="457200"/>
          </a:xfrm>
          <a:prstGeom prst="rect">
            <a:avLst/>
          </a:prstGeom>
          <a:noFill/>
        </p:spPr>
        <p:txBody>
          <a:bodyPr wrap="square" lIns="0" rIns="0" tIns="0" bIns="0" anchor="t">
            <a:spAutoFit/>
          </a:bodyPr>
          <a:lstStyle/>
          <a:p>
            <a:pPr algn="l"/>
            <a:r>
              <a:rPr sz="1100" b="0">
                <a:solidFill>
                  <a:srgbClr val="888379"/>
                </a:solidFill>
                <a:latin typeface="Calibri"/>
              </a:rPr>
              <a:t>Multi-way library, repair queue, capsule templates, concierge, analytics.</a:t>
            </a:r>
          </a:p>
        </p:txBody>
      </p:sp>
      <p:sp>
        <p:nvSpPr>
          <p:cNvPr id="71" name="TextBox 70"/>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72" name="TextBox 71"/>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PHASE 2 · DEPTH (MONTHS 5–9)</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AR multi-way, photo fit-check, wholesale.</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548640"/>
          </a:xfrm>
          <a:prstGeom prst="rect">
            <a:avLst/>
          </a:prstGeom>
          <a:noFill/>
        </p:spPr>
        <p:txBody>
          <a:bodyPr wrap="square" lIns="0" rIns="0" tIns="0" bIns="0" anchor="t">
            <a:spAutoFit/>
          </a:bodyPr>
          <a:lstStyle/>
          <a:p>
            <a:pPr algn="l"/>
            <a:r>
              <a:rPr sz="1400" b="0">
                <a:solidFill>
                  <a:srgbClr val="888379"/>
                </a:solidFill>
                <a:latin typeface="Calibri"/>
              </a:rPr>
              <a:t>Features that turn launch into a category-defining experience.</a:t>
            </a:r>
          </a:p>
        </p:txBody>
      </p:sp>
      <p:sp>
        <p:nvSpPr>
          <p:cNvPr id="7" name="Rounded Rectangle 6"/>
          <p:cNvSpPr/>
          <p:nvPr/>
        </p:nvSpPr>
        <p:spPr>
          <a:xfrm>
            <a:off x="548640" y="265176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301752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761488"/>
            <a:ext cx="4754880" cy="365760"/>
          </a:xfrm>
          <a:prstGeom prst="rect">
            <a:avLst/>
          </a:prstGeom>
          <a:noFill/>
        </p:spPr>
        <p:txBody>
          <a:bodyPr wrap="square" lIns="0" rIns="0" tIns="0" bIns="0" anchor="t">
            <a:spAutoFit/>
          </a:bodyPr>
          <a:lstStyle/>
          <a:p>
            <a:pPr algn="l"/>
            <a:r>
              <a:rPr sz="1400" b="1">
                <a:solidFill>
                  <a:srgbClr val="2B2A26"/>
                </a:solidFill>
                <a:latin typeface="Calibri"/>
              </a:rPr>
              <a:t>AR multi-way preview</a:t>
            </a:r>
          </a:p>
        </p:txBody>
      </p:sp>
      <p:sp>
        <p:nvSpPr>
          <p:cNvPr id="10" name="TextBox 9"/>
          <p:cNvSpPr txBox="1"/>
          <p:nvPr/>
        </p:nvSpPr>
        <p:spPr>
          <a:xfrm>
            <a:off x="1097280" y="3063240"/>
            <a:ext cx="4754880" cy="457200"/>
          </a:xfrm>
          <a:prstGeom prst="rect">
            <a:avLst/>
          </a:prstGeom>
          <a:noFill/>
        </p:spPr>
        <p:txBody>
          <a:bodyPr wrap="square" lIns="0" rIns="0" tIns="0" bIns="0" anchor="t">
            <a:spAutoFit/>
          </a:bodyPr>
          <a:lstStyle/>
          <a:p>
            <a:pPr algn="l"/>
            <a:r>
              <a:rPr sz="1100" b="0">
                <a:solidFill>
                  <a:srgbClr val="888379"/>
                </a:solidFill>
                <a:latin typeface="Calibri"/>
              </a:rPr>
              <a:t>See a Chrysalis Cardi style on a body silhouette before you try it.</a:t>
            </a:r>
          </a:p>
        </p:txBody>
      </p:sp>
      <p:sp>
        <p:nvSpPr>
          <p:cNvPr id="11" name="Rounded Rectangle 10"/>
          <p:cNvSpPr/>
          <p:nvPr/>
        </p:nvSpPr>
        <p:spPr>
          <a:xfrm>
            <a:off x="6172200" y="265176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46520" y="301752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61488"/>
            <a:ext cx="4754880" cy="365760"/>
          </a:xfrm>
          <a:prstGeom prst="rect">
            <a:avLst/>
          </a:prstGeom>
          <a:noFill/>
        </p:spPr>
        <p:txBody>
          <a:bodyPr wrap="square" lIns="0" rIns="0" tIns="0" bIns="0" anchor="t">
            <a:spAutoFit/>
          </a:bodyPr>
          <a:lstStyle/>
          <a:p>
            <a:pPr algn="l"/>
            <a:r>
              <a:rPr sz="1400" b="1">
                <a:solidFill>
                  <a:srgbClr val="2B2A26"/>
                </a:solidFill>
                <a:latin typeface="Calibri"/>
              </a:rPr>
              <a:t>Photo-based fit check</a:t>
            </a:r>
          </a:p>
        </p:txBody>
      </p:sp>
      <p:sp>
        <p:nvSpPr>
          <p:cNvPr id="14" name="TextBox 13"/>
          <p:cNvSpPr txBox="1"/>
          <p:nvPr/>
        </p:nvSpPr>
        <p:spPr>
          <a:xfrm>
            <a:off x="6720840" y="3063240"/>
            <a:ext cx="4754880" cy="457200"/>
          </a:xfrm>
          <a:prstGeom prst="rect">
            <a:avLst/>
          </a:prstGeom>
          <a:noFill/>
        </p:spPr>
        <p:txBody>
          <a:bodyPr wrap="square" lIns="0" rIns="0" tIns="0" bIns="0" anchor="t">
            <a:spAutoFit/>
          </a:bodyPr>
          <a:lstStyle/>
          <a:p>
            <a:pPr algn="l"/>
            <a:r>
              <a:rPr sz="1100" b="0">
                <a:solidFill>
                  <a:srgbClr val="888379"/>
                </a:solidFill>
                <a:latin typeface="Calibri"/>
              </a:rPr>
              <a:t>Upload a mirror photo, get fit feedback.</a:t>
            </a:r>
          </a:p>
        </p:txBody>
      </p:sp>
      <p:sp>
        <p:nvSpPr>
          <p:cNvPr id="15" name="Rounded Rectangle 14"/>
          <p:cNvSpPr/>
          <p:nvPr/>
        </p:nvSpPr>
        <p:spPr>
          <a:xfrm>
            <a:off x="548640" y="365760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402336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67328"/>
            <a:ext cx="4754880" cy="365760"/>
          </a:xfrm>
          <a:prstGeom prst="rect">
            <a:avLst/>
          </a:prstGeom>
          <a:noFill/>
        </p:spPr>
        <p:txBody>
          <a:bodyPr wrap="square" lIns="0" rIns="0" tIns="0" bIns="0" anchor="t">
            <a:spAutoFit/>
          </a:bodyPr>
          <a:lstStyle/>
          <a:p>
            <a:pPr algn="l"/>
            <a:r>
              <a:rPr sz="1400" b="1">
                <a:solidFill>
                  <a:srgbClr val="2B2A26"/>
                </a:solidFill>
                <a:latin typeface="Calibri"/>
              </a:rPr>
              <a:t>Photo-based repair triage (advanced)</a:t>
            </a:r>
          </a:p>
        </p:txBody>
      </p:sp>
      <p:sp>
        <p:nvSpPr>
          <p:cNvPr id="18" name="TextBox 17"/>
          <p:cNvSpPr txBox="1"/>
          <p:nvPr/>
        </p:nvSpPr>
        <p:spPr>
          <a:xfrm>
            <a:off x="1097280" y="4069080"/>
            <a:ext cx="4754880" cy="457200"/>
          </a:xfrm>
          <a:prstGeom prst="rect">
            <a:avLst/>
          </a:prstGeom>
          <a:noFill/>
        </p:spPr>
        <p:txBody>
          <a:bodyPr wrap="square" lIns="0" rIns="0" tIns="0" bIns="0" anchor="t">
            <a:spAutoFit/>
          </a:bodyPr>
          <a:lstStyle/>
          <a:p>
            <a:pPr algn="l"/>
            <a:r>
              <a:rPr sz="1100" b="0">
                <a:solidFill>
                  <a:srgbClr val="888379"/>
                </a:solidFill>
                <a:latin typeface="Calibri"/>
              </a:rPr>
              <a:t>Vision AI classifies wear/damage, returns DIY or atelier quote.</a:t>
            </a:r>
          </a:p>
        </p:txBody>
      </p:sp>
      <p:sp>
        <p:nvSpPr>
          <p:cNvPr id="19" name="Rounded Rectangle 18"/>
          <p:cNvSpPr/>
          <p:nvPr/>
        </p:nvSpPr>
        <p:spPr>
          <a:xfrm>
            <a:off x="6172200" y="365760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46520" y="402336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3767328"/>
            <a:ext cx="4754880" cy="365760"/>
          </a:xfrm>
          <a:prstGeom prst="rect">
            <a:avLst/>
          </a:prstGeom>
          <a:noFill/>
        </p:spPr>
        <p:txBody>
          <a:bodyPr wrap="square" lIns="0" rIns="0" tIns="0" bIns="0" anchor="t">
            <a:spAutoFit/>
          </a:bodyPr>
          <a:lstStyle/>
          <a:p>
            <a:pPr algn="l"/>
            <a:r>
              <a:rPr sz="1400" b="1">
                <a:solidFill>
                  <a:srgbClr val="2B2A26"/>
                </a:solidFill>
                <a:latin typeface="Calibri"/>
              </a:rPr>
              <a:t>Wholesale + travel-retail portal</a:t>
            </a:r>
          </a:p>
        </p:txBody>
      </p:sp>
      <p:sp>
        <p:nvSpPr>
          <p:cNvPr id="22" name="TextBox 21"/>
          <p:cNvSpPr txBox="1"/>
          <p:nvPr/>
        </p:nvSpPr>
        <p:spPr>
          <a:xfrm>
            <a:off x="6720840" y="4069080"/>
            <a:ext cx="4754880" cy="457200"/>
          </a:xfrm>
          <a:prstGeom prst="rect">
            <a:avLst/>
          </a:prstGeom>
          <a:noFill/>
        </p:spPr>
        <p:txBody>
          <a:bodyPr wrap="square" lIns="0" rIns="0" tIns="0" bIns="0" anchor="t">
            <a:spAutoFit/>
          </a:bodyPr>
          <a:lstStyle/>
          <a:p>
            <a:pPr algn="l"/>
            <a:r>
              <a:rPr sz="1100" b="0">
                <a:solidFill>
                  <a:srgbClr val="888379"/>
                </a:solidFill>
                <a:latin typeface="Calibri"/>
              </a:rPr>
              <a:t>MEC, Away, hotel-shops with B2B + SSO.</a:t>
            </a:r>
          </a:p>
        </p:txBody>
      </p:sp>
      <p:sp>
        <p:nvSpPr>
          <p:cNvPr id="23" name="Rounded Rectangle 22"/>
          <p:cNvSpPr/>
          <p:nvPr/>
        </p:nvSpPr>
        <p:spPr>
          <a:xfrm>
            <a:off x="548640" y="466344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2960" y="502920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773168"/>
            <a:ext cx="4754880" cy="365760"/>
          </a:xfrm>
          <a:prstGeom prst="rect">
            <a:avLst/>
          </a:prstGeom>
          <a:noFill/>
        </p:spPr>
        <p:txBody>
          <a:bodyPr wrap="square" lIns="0" rIns="0" tIns="0" bIns="0" anchor="t">
            <a:spAutoFit/>
          </a:bodyPr>
          <a:lstStyle/>
          <a:p>
            <a:pPr algn="l"/>
            <a:r>
              <a:rPr sz="1400" b="1">
                <a:solidFill>
                  <a:srgbClr val="2B2A26"/>
                </a:solidFill>
                <a:latin typeface="Calibri"/>
              </a:rPr>
              <a:t>Heritage / archive sale</a:t>
            </a:r>
          </a:p>
        </p:txBody>
      </p:sp>
      <p:sp>
        <p:nvSpPr>
          <p:cNvPr id="26" name="TextBox 25"/>
          <p:cNvSpPr txBox="1"/>
          <p:nvPr/>
        </p:nvSpPr>
        <p:spPr>
          <a:xfrm>
            <a:off x="1097280" y="5074920"/>
            <a:ext cx="4754880" cy="457200"/>
          </a:xfrm>
          <a:prstGeom prst="rect">
            <a:avLst/>
          </a:prstGeom>
          <a:noFill/>
        </p:spPr>
        <p:txBody>
          <a:bodyPr wrap="square" lIns="0" rIns="0" tIns="0" bIns="0" anchor="t">
            <a:spAutoFit/>
          </a:bodyPr>
          <a:lstStyle/>
          <a:p>
            <a:pPr algn="l"/>
            <a:r>
              <a:rPr sz="1100" b="0">
                <a:solidFill>
                  <a:srgbClr val="888379"/>
                </a:solidFill>
                <a:latin typeface="Calibri"/>
              </a:rPr>
              <a:t>Past-season Chrysalis variants re-released.</a:t>
            </a:r>
          </a:p>
        </p:txBody>
      </p:sp>
      <p:sp>
        <p:nvSpPr>
          <p:cNvPr id="27" name="Rounded Rectangle 26"/>
          <p:cNvSpPr/>
          <p:nvPr/>
        </p:nvSpPr>
        <p:spPr>
          <a:xfrm>
            <a:off x="6172200" y="466344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46520" y="502920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4773168"/>
            <a:ext cx="4754880" cy="365760"/>
          </a:xfrm>
          <a:prstGeom prst="rect">
            <a:avLst/>
          </a:prstGeom>
          <a:noFill/>
        </p:spPr>
        <p:txBody>
          <a:bodyPr wrap="square" lIns="0" rIns="0" tIns="0" bIns="0" anchor="t">
            <a:spAutoFit/>
          </a:bodyPr>
          <a:lstStyle/>
          <a:p>
            <a:pPr algn="l"/>
            <a:r>
              <a:rPr sz="1400" b="1">
                <a:solidFill>
                  <a:srgbClr val="2B2A26"/>
                </a:solidFill>
                <a:latin typeface="Calibri"/>
              </a:rPr>
              <a:t>Multi-traveler capsules</a:t>
            </a:r>
          </a:p>
        </p:txBody>
      </p:sp>
      <p:sp>
        <p:nvSpPr>
          <p:cNvPr id="30" name="TextBox 29"/>
          <p:cNvSpPr txBox="1"/>
          <p:nvPr/>
        </p:nvSpPr>
        <p:spPr>
          <a:xfrm>
            <a:off x="6720840" y="5074920"/>
            <a:ext cx="4754880" cy="457200"/>
          </a:xfrm>
          <a:prstGeom prst="rect">
            <a:avLst/>
          </a:prstGeom>
          <a:noFill/>
        </p:spPr>
        <p:txBody>
          <a:bodyPr wrap="square" lIns="0" rIns="0" tIns="0" bIns="0" anchor="t">
            <a:spAutoFit/>
          </a:bodyPr>
          <a:lstStyle/>
          <a:p>
            <a:pPr algn="l"/>
            <a:r>
              <a:rPr sz="1100" b="0">
                <a:solidFill>
                  <a:srgbClr val="888379"/>
                </a:solidFill>
                <a:latin typeface="Calibri"/>
              </a:rPr>
              <a:t>Co-edit a packing capsule with a partner.</a:t>
            </a:r>
          </a:p>
        </p:txBody>
      </p:sp>
      <p:sp>
        <p:nvSpPr>
          <p:cNvPr id="31" name="Rounded Rectangle 30"/>
          <p:cNvSpPr/>
          <p:nvPr/>
        </p:nvSpPr>
        <p:spPr>
          <a:xfrm>
            <a:off x="548640" y="566928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2960" y="603504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779008"/>
            <a:ext cx="4754880" cy="365760"/>
          </a:xfrm>
          <a:prstGeom prst="rect">
            <a:avLst/>
          </a:prstGeom>
          <a:noFill/>
        </p:spPr>
        <p:txBody>
          <a:bodyPr wrap="square" lIns="0" rIns="0" tIns="0" bIns="0" anchor="t">
            <a:spAutoFit/>
          </a:bodyPr>
          <a:lstStyle/>
          <a:p>
            <a:pPr algn="l"/>
            <a:r>
              <a:rPr sz="1400" b="1">
                <a:solidFill>
                  <a:srgbClr val="2B2A26"/>
                </a:solidFill>
                <a:latin typeface="Calibri"/>
              </a:rPr>
              <a:t>Founder dispatches</a:t>
            </a:r>
          </a:p>
        </p:txBody>
      </p:sp>
      <p:sp>
        <p:nvSpPr>
          <p:cNvPr id="34" name="TextBox 33"/>
          <p:cNvSpPr txBox="1"/>
          <p:nvPr/>
        </p:nvSpPr>
        <p:spPr>
          <a:xfrm>
            <a:off x="1097280" y="6080760"/>
            <a:ext cx="4754880" cy="457200"/>
          </a:xfrm>
          <a:prstGeom prst="rect">
            <a:avLst/>
          </a:prstGeom>
          <a:noFill/>
        </p:spPr>
        <p:txBody>
          <a:bodyPr wrap="square" lIns="0" rIns="0" tIns="0" bIns="0" anchor="t">
            <a:spAutoFit/>
          </a:bodyPr>
          <a:lstStyle/>
          <a:p>
            <a:pPr algn="l"/>
            <a:r>
              <a:rPr sz="1100" b="0">
                <a:solidFill>
                  <a:srgbClr val="888379"/>
                </a:solidFill>
                <a:latin typeface="Calibri"/>
              </a:rPr>
              <a:t>Kristi short videos tied to drops and milestones.</a:t>
            </a:r>
          </a:p>
        </p:txBody>
      </p:sp>
      <p:sp>
        <p:nvSpPr>
          <p:cNvPr id="35" name="Rounded Rectangle 34"/>
          <p:cNvSpPr/>
          <p:nvPr/>
        </p:nvSpPr>
        <p:spPr>
          <a:xfrm>
            <a:off x="6172200" y="566928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446520" y="603504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5779008"/>
            <a:ext cx="4754880" cy="365760"/>
          </a:xfrm>
          <a:prstGeom prst="rect">
            <a:avLst/>
          </a:prstGeom>
          <a:noFill/>
        </p:spPr>
        <p:txBody>
          <a:bodyPr wrap="square" lIns="0" rIns="0" tIns="0" bIns="0" anchor="t">
            <a:spAutoFit/>
          </a:bodyPr>
          <a:lstStyle/>
          <a:p>
            <a:pPr algn="l"/>
            <a:r>
              <a:rPr sz="1400" b="1">
                <a:solidFill>
                  <a:srgbClr val="2B2A26"/>
                </a:solidFill>
                <a:latin typeface="Calibri"/>
              </a:rPr>
              <a:t>Returns triage AI</a:t>
            </a:r>
          </a:p>
        </p:txBody>
      </p:sp>
      <p:sp>
        <p:nvSpPr>
          <p:cNvPr id="38" name="TextBox 37"/>
          <p:cNvSpPr txBox="1"/>
          <p:nvPr/>
        </p:nvSpPr>
        <p:spPr>
          <a:xfrm>
            <a:off x="6720840" y="6080760"/>
            <a:ext cx="4754880" cy="457200"/>
          </a:xfrm>
          <a:prstGeom prst="rect">
            <a:avLst/>
          </a:prstGeom>
          <a:noFill/>
        </p:spPr>
        <p:txBody>
          <a:bodyPr wrap="square" lIns="0" rIns="0" tIns="0" bIns="0" anchor="t">
            <a:spAutoFit/>
          </a:bodyPr>
          <a:lstStyle/>
          <a:p>
            <a:pPr algn="l"/>
            <a:r>
              <a:rPr sz="1100" b="0">
                <a:solidFill>
                  <a:srgbClr val="888379"/>
                </a:solidFill>
                <a:latin typeface="Calibri"/>
              </a:rPr>
              <a:t>Fit-related vs damage-related routing.</a:t>
            </a:r>
          </a:p>
        </p:txBody>
      </p:sp>
      <p:sp>
        <p:nvSpPr>
          <p:cNvPr id="39" name="TextBox 38"/>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40" name="TextBox 39"/>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PHASE 3 · CULTURAL AUTHORITY (MONTHS 10+)</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From an app to a slow-fashion movement.</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548640"/>
          </a:xfrm>
          <a:prstGeom prst="rect">
            <a:avLst/>
          </a:prstGeom>
          <a:noFill/>
        </p:spPr>
        <p:txBody>
          <a:bodyPr wrap="square" lIns="0" rIns="0" tIns="0" bIns="0" anchor="t">
            <a:spAutoFit/>
          </a:bodyPr>
          <a:lstStyle/>
          <a:p>
            <a:pPr algn="l"/>
            <a:r>
              <a:rPr sz="1400" b="0">
                <a:solidFill>
                  <a:srgbClr val="888379"/>
                </a:solidFill>
                <a:latin typeface="Calibri"/>
              </a:rPr>
              <a:t>Long-form storytelling, community, operational AI.</a:t>
            </a:r>
          </a:p>
        </p:txBody>
      </p:sp>
      <p:sp>
        <p:nvSpPr>
          <p:cNvPr id="7" name="Rounded Rectangle 6"/>
          <p:cNvSpPr/>
          <p:nvPr/>
        </p:nvSpPr>
        <p:spPr>
          <a:xfrm>
            <a:off x="548640" y="265176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301752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761488"/>
            <a:ext cx="4754880" cy="365760"/>
          </a:xfrm>
          <a:prstGeom prst="rect">
            <a:avLst/>
          </a:prstGeom>
          <a:noFill/>
        </p:spPr>
        <p:txBody>
          <a:bodyPr wrap="square" lIns="0" rIns="0" tIns="0" bIns="0" anchor="t">
            <a:spAutoFit/>
          </a:bodyPr>
          <a:lstStyle/>
          <a:p>
            <a:pPr algn="l"/>
            <a:r>
              <a:rPr sz="1400" b="1">
                <a:solidFill>
                  <a:srgbClr val="2B2A26"/>
                </a:solidFill>
                <a:latin typeface="Calibri"/>
              </a:rPr>
              <a:t>Editorial / journal</a:t>
            </a:r>
          </a:p>
        </p:txBody>
      </p:sp>
      <p:sp>
        <p:nvSpPr>
          <p:cNvPr id="10" name="TextBox 9"/>
          <p:cNvSpPr txBox="1"/>
          <p:nvPr/>
        </p:nvSpPr>
        <p:spPr>
          <a:xfrm>
            <a:off x="1097280" y="3063240"/>
            <a:ext cx="4754880" cy="457200"/>
          </a:xfrm>
          <a:prstGeom prst="rect">
            <a:avLst/>
          </a:prstGeom>
          <a:noFill/>
        </p:spPr>
        <p:txBody>
          <a:bodyPr wrap="square" lIns="0" rIns="0" tIns="0" bIns="0" anchor="t">
            <a:spAutoFit/>
          </a:bodyPr>
          <a:lstStyle/>
          <a:p>
            <a:pPr algn="l"/>
            <a:r>
              <a:rPr sz="1100" b="0">
                <a:solidFill>
                  <a:srgbClr val="888379"/>
                </a:solidFill>
                <a:latin typeface="Calibri"/>
              </a:rPr>
              <a:t>Long-form on multi-way design, slow fashion, travel.</a:t>
            </a:r>
          </a:p>
        </p:txBody>
      </p:sp>
      <p:sp>
        <p:nvSpPr>
          <p:cNvPr id="11" name="Rounded Rectangle 10"/>
          <p:cNvSpPr/>
          <p:nvPr/>
        </p:nvSpPr>
        <p:spPr>
          <a:xfrm>
            <a:off x="6172200" y="265176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46520" y="301752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61488"/>
            <a:ext cx="4754880" cy="365760"/>
          </a:xfrm>
          <a:prstGeom prst="rect">
            <a:avLst/>
          </a:prstGeom>
          <a:noFill/>
        </p:spPr>
        <p:txBody>
          <a:bodyPr wrap="square" lIns="0" rIns="0" tIns="0" bIns="0" anchor="t">
            <a:spAutoFit/>
          </a:bodyPr>
          <a:lstStyle/>
          <a:p>
            <a:pPr algn="l"/>
            <a:r>
              <a:rPr sz="1400" b="1">
                <a:solidFill>
                  <a:srgbClr val="2B2A26"/>
                </a:solidFill>
                <a:latin typeface="Calibri"/>
              </a:rPr>
              <a:t>Annual VOICES film series</a:t>
            </a:r>
          </a:p>
        </p:txBody>
      </p:sp>
      <p:sp>
        <p:nvSpPr>
          <p:cNvPr id="14" name="TextBox 13"/>
          <p:cNvSpPr txBox="1"/>
          <p:nvPr/>
        </p:nvSpPr>
        <p:spPr>
          <a:xfrm>
            <a:off x="6720840" y="3063240"/>
            <a:ext cx="4754880" cy="457200"/>
          </a:xfrm>
          <a:prstGeom prst="rect">
            <a:avLst/>
          </a:prstGeom>
          <a:noFill/>
        </p:spPr>
        <p:txBody>
          <a:bodyPr wrap="square" lIns="0" rIns="0" tIns="0" bIns="0" anchor="t">
            <a:spAutoFit/>
          </a:bodyPr>
          <a:lstStyle/>
          <a:p>
            <a:pPr algn="l"/>
            <a:r>
              <a:rPr sz="1100" b="0">
                <a:solidFill>
                  <a:srgbClr val="888379"/>
                </a:solidFill>
                <a:latin typeface="Calibri"/>
              </a:rPr>
              <a:t>Short docs on long-life ownership — 10+ year customers.</a:t>
            </a:r>
          </a:p>
        </p:txBody>
      </p:sp>
      <p:sp>
        <p:nvSpPr>
          <p:cNvPr id="15" name="Rounded Rectangle 14"/>
          <p:cNvSpPr/>
          <p:nvPr/>
        </p:nvSpPr>
        <p:spPr>
          <a:xfrm>
            <a:off x="548640" y="365760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402336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67328"/>
            <a:ext cx="4754880" cy="365760"/>
          </a:xfrm>
          <a:prstGeom prst="rect">
            <a:avLst/>
          </a:prstGeom>
          <a:noFill/>
        </p:spPr>
        <p:txBody>
          <a:bodyPr wrap="square" lIns="0" rIns="0" tIns="0" bIns="0" anchor="t">
            <a:spAutoFit/>
          </a:bodyPr>
          <a:lstStyle/>
          <a:p>
            <a:pPr algn="l"/>
            <a:r>
              <a:rPr sz="1400" b="1">
                <a:solidFill>
                  <a:srgbClr val="2B2A26"/>
                </a:solidFill>
                <a:latin typeface="Calibri"/>
              </a:rPr>
              <a:t>Multilingual content scaling AI</a:t>
            </a:r>
          </a:p>
        </p:txBody>
      </p:sp>
      <p:sp>
        <p:nvSpPr>
          <p:cNvPr id="18" name="TextBox 17"/>
          <p:cNvSpPr txBox="1"/>
          <p:nvPr/>
        </p:nvSpPr>
        <p:spPr>
          <a:xfrm>
            <a:off x="1097280" y="4069080"/>
            <a:ext cx="4754880" cy="457200"/>
          </a:xfrm>
          <a:prstGeom prst="rect">
            <a:avLst/>
          </a:prstGeom>
          <a:noFill/>
        </p:spPr>
        <p:txBody>
          <a:bodyPr wrap="square" lIns="0" rIns="0" tIns="0" bIns="0" anchor="t">
            <a:spAutoFit/>
          </a:bodyPr>
          <a:lstStyle/>
          <a:p>
            <a:pPr algn="l"/>
            <a:r>
              <a:rPr sz="1100" b="0">
                <a:solidFill>
                  <a:srgbClr val="888379"/>
                </a:solidFill>
                <a:latin typeface="Calibri"/>
              </a:rPr>
              <a:t>EN-first, AI drafts FR/ES/IT for editor review.</a:t>
            </a:r>
          </a:p>
        </p:txBody>
      </p:sp>
      <p:sp>
        <p:nvSpPr>
          <p:cNvPr id="19" name="Rounded Rectangle 18"/>
          <p:cNvSpPr/>
          <p:nvPr/>
        </p:nvSpPr>
        <p:spPr>
          <a:xfrm>
            <a:off x="6172200" y="365760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46520" y="402336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3767328"/>
            <a:ext cx="4754880" cy="365760"/>
          </a:xfrm>
          <a:prstGeom prst="rect">
            <a:avLst/>
          </a:prstGeom>
          <a:noFill/>
        </p:spPr>
        <p:txBody>
          <a:bodyPr wrap="square" lIns="0" rIns="0" tIns="0" bIns="0" anchor="t">
            <a:spAutoFit/>
          </a:bodyPr>
          <a:lstStyle/>
          <a:p>
            <a:pPr algn="l"/>
            <a:r>
              <a:rPr sz="1400" b="1">
                <a:solidFill>
                  <a:srgbClr val="2B2A26"/>
                </a:solidFill>
                <a:latin typeface="Calibri"/>
              </a:rPr>
              <a:t>Demand-sensing AI</a:t>
            </a:r>
          </a:p>
        </p:txBody>
      </p:sp>
      <p:sp>
        <p:nvSpPr>
          <p:cNvPr id="22" name="TextBox 21"/>
          <p:cNvSpPr txBox="1"/>
          <p:nvPr/>
        </p:nvSpPr>
        <p:spPr>
          <a:xfrm>
            <a:off x="6720840" y="4069080"/>
            <a:ext cx="4754880" cy="457200"/>
          </a:xfrm>
          <a:prstGeom prst="rect">
            <a:avLst/>
          </a:prstGeom>
          <a:noFill/>
        </p:spPr>
        <p:txBody>
          <a:bodyPr wrap="square" lIns="0" rIns="0" tIns="0" bIns="0" anchor="t">
            <a:spAutoFit/>
          </a:bodyPr>
          <a:lstStyle/>
          <a:p>
            <a:pPr algn="l"/>
            <a:r>
              <a:rPr sz="1100" b="0">
                <a:solidFill>
                  <a:srgbClr val="888379"/>
                </a:solidFill>
                <a:latin typeface="Calibri"/>
              </a:rPr>
              <a:t>Wishlists + capsule data feeds small-collection planning.</a:t>
            </a:r>
          </a:p>
        </p:txBody>
      </p:sp>
      <p:sp>
        <p:nvSpPr>
          <p:cNvPr id="23" name="Rounded Rectangle 22"/>
          <p:cNvSpPr/>
          <p:nvPr/>
        </p:nvSpPr>
        <p:spPr>
          <a:xfrm>
            <a:off x="548640" y="466344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2960" y="502920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773168"/>
            <a:ext cx="4754880" cy="365760"/>
          </a:xfrm>
          <a:prstGeom prst="rect">
            <a:avLst/>
          </a:prstGeom>
          <a:noFill/>
        </p:spPr>
        <p:txBody>
          <a:bodyPr wrap="square" lIns="0" rIns="0" tIns="0" bIns="0" anchor="t">
            <a:spAutoFit/>
          </a:bodyPr>
          <a:lstStyle/>
          <a:p>
            <a:pPr algn="l"/>
            <a:r>
              <a:rPr sz="1400" b="1">
                <a:solidFill>
                  <a:srgbClr val="2B2A26"/>
                </a:solidFill>
                <a:latin typeface="Calibri"/>
              </a:rPr>
              <a:t>Counterfeit-listing detection</a:t>
            </a:r>
          </a:p>
        </p:txBody>
      </p:sp>
      <p:sp>
        <p:nvSpPr>
          <p:cNvPr id="26" name="TextBox 25"/>
          <p:cNvSpPr txBox="1"/>
          <p:nvPr/>
        </p:nvSpPr>
        <p:spPr>
          <a:xfrm>
            <a:off x="1097280" y="5074920"/>
            <a:ext cx="4754880" cy="457200"/>
          </a:xfrm>
          <a:prstGeom prst="rect">
            <a:avLst/>
          </a:prstGeom>
          <a:noFill/>
        </p:spPr>
        <p:txBody>
          <a:bodyPr wrap="square" lIns="0" rIns="0" tIns="0" bIns="0" anchor="t">
            <a:spAutoFit/>
          </a:bodyPr>
          <a:lstStyle/>
          <a:p>
            <a:pPr algn="l"/>
            <a:r>
              <a:rPr sz="1100" b="0">
                <a:solidFill>
                  <a:srgbClr val="888379"/>
                </a:solidFill>
                <a:latin typeface="Calibri"/>
              </a:rPr>
              <a:t>Amazon, Poshmark, eBay.</a:t>
            </a:r>
          </a:p>
        </p:txBody>
      </p:sp>
      <p:sp>
        <p:nvSpPr>
          <p:cNvPr id="27" name="Rounded Rectangle 26"/>
          <p:cNvSpPr/>
          <p:nvPr/>
        </p:nvSpPr>
        <p:spPr>
          <a:xfrm>
            <a:off x="6172200" y="466344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46520" y="502920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4773168"/>
            <a:ext cx="4754880" cy="365760"/>
          </a:xfrm>
          <a:prstGeom prst="rect">
            <a:avLst/>
          </a:prstGeom>
          <a:noFill/>
        </p:spPr>
        <p:txBody>
          <a:bodyPr wrap="square" lIns="0" rIns="0" tIns="0" bIns="0" anchor="t">
            <a:spAutoFit/>
          </a:bodyPr>
          <a:lstStyle/>
          <a:p>
            <a:pPr algn="l"/>
            <a:r>
              <a:rPr sz="1400" b="1">
                <a:solidFill>
                  <a:srgbClr val="2B2A26"/>
                </a:solidFill>
                <a:latin typeface="Calibri"/>
              </a:rPr>
              <a:t>VIP signal detection</a:t>
            </a:r>
          </a:p>
        </p:txBody>
      </p:sp>
      <p:sp>
        <p:nvSpPr>
          <p:cNvPr id="30" name="TextBox 29"/>
          <p:cNvSpPr txBox="1"/>
          <p:nvPr/>
        </p:nvSpPr>
        <p:spPr>
          <a:xfrm>
            <a:off x="6720840" y="5074920"/>
            <a:ext cx="4754880" cy="457200"/>
          </a:xfrm>
          <a:prstGeom prst="rect">
            <a:avLst/>
          </a:prstGeom>
          <a:noFill/>
        </p:spPr>
        <p:txBody>
          <a:bodyPr wrap="square" lIns="0" rIns="0" tIns="0" bIns="0" anchor="t">
            <a:spAutoFit/>
          </a:bodyPr>
          <a:lstStyle/>
          <a:p>
            <a:pPr algn="l"/>
            <a:r>
              <a:rPr sz="1100" b="0">
                <a:solidFill>
                  <a:srgbClr val="888379"/>
                </a:solidFill>
                <a:latin typeface="Calibri"/>
              </a:rPr>
              <a:t>Surfaces customers about to hit Loops top tier.</a:t>
            </a:r>
          </a:p>
        </p:txBody>
      </p:sp>
      <p:sp>
        <p:nvSpPr>
          <p:cNvPr id="31" name="Rounded Rectangle 30"/>
          <p:cNvSpPr/>
          <p:nvPr/>
        </p:nvSpPr>
        <p:spPr>
          <a:xfrm>
            <a:off x="548640" y="566928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2960" y="603504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779008"/>
            <a:ext cx="4754880" cy="365760"/>
          </a:xfrm>
          <a:prstGeom prst="rect">
            <a:avLst/>
          </a:prstGeom>
          <a:noFill/>
        </p:spPr>
        <p:txBody>
          <a:bodyPr wrap="square" lIns="0" rIns="0" tIns="0" bIns="0" anchor="t">
            <a:spAutoFit/>
          </a:bodyPr>
          <a:lstStyle/>
          <a:p>
            <a:pPr algn="l"/>
            <a:r>
              <a:rPr sz="1400" b="1">
                <a:solidFill>
                  <a:srgbClr val="2B2A26"/>
                </a:solidFill>
                <a:latin typeface="Calibri"/>
              </a:rPr>
              <a:t>Long-term wear study</a:t>
            </a:r>
          </a:p>
        </p:txBody>
      </p:sp>
      <p:sp>
        <p:nvSpPr>
          <p:cNvPr id="34" name="TextBox 33"/>
          <p:cNvSpPr txBox="1"/>
          <p:nvPr/>
        </p:nvSpPr>
        <p:spPr>
          <a:xfrm>
            <a:off x="1097280" y="6080760"/>
            <a:ext cx="4754880" cy="457200"/>
          </a:xfrm>
          <a:prstGeom prst="rect">
            <a:avLst/>
          </a:prstGeom>
          <a:noFill/>
        </p:spPr>
        <p:txBody>
          <a:bodyPr wrap="square" lIns="0" rIns="0" tIns="0" bIns="0" anchor="t">
            <a:spAutoFit/>
          </a:bodyPr>
          <a:lstStyle/>
          <a:p>
            <a:pPr algn="l"/>
            <a:r>
              <a:rPr sz="1100" b="0">
                <a:solidFill>
                  <a:srgbClr val="888379"/>
                </a:solidFill>
                <a:latin typeface="Calibri"/>
              </a:rPr>
              <a:t>Anonymised aggregate on pieces worn 5+ years.</a:t>
            </a:r>
          </a:p>
        </p:txBody>
      </p:sp>
      <p:sp>
        <p:nvSpPr>
          <p:cNvPr id="35" name="Rounded Rectangle 34"/>
          <p:cNvSpPr/>
          <p:nvPr/>
        </p:nvSpPr>
        <p:spPr>
          <a:xfrm>
            <a:off x="6172200" y="5669280"/>
            <a:ext cx="5486400" cy="8686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446520" y="6035040"/>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5779008"/>
            <a:ext cx="4754880" cy="365760"/>
          </a:xfrm>
          <a:prstGeom prst="rect">
            <a:avLst/>
          </a:prstGeom>
          <a:noFill/>
        </p:spPr>
        <p:txBody>
          <a:bodyPr wrap="square" lIns="0" rIns="0" tIns="0" bIns="0" anchor="t">
            <a:spAutoFit/>
          </a:bodyPr>
          <a:lstStyle/>
          <a:p>
            <a:pPr algn="l"/>
            <a:r>
              <a:rPr sz="1400" b="1">
                <a:solidFill>
                  <a:srgbClr val="2B2A26"/>
                </a:solidFill>
                <a:latin typeface="Calibri"/>
              </a:rPr>
              <a:t>Multi-way library AI extension</a:t>
            </a:r>
          </a:p>
        </p:txBody>
      </p:sp>
      <p:sp>
        <p:nvSpPr>
          <p:cNvPr id="38" name="TextBox 37"/>
          <p:cNvSpPr txBox="1"/>
          <p:nvPr/>
        </p:nvSpPr>
        <p:spPr>
          <a:xfrm>
            <a:off x="6720840" y="6080760"/>
            <a:ext cx="4754880" cy="457200"/>
          </a:xfrm>
          <a:prstGeom prst="rect">
            <a:avLst/>
          </a:prstGeom>
          <a:noFill/>
        </p:spPr>
        <p:txBody>
          <a:bodyPr wrap="square" lIns="0" rIns="0" tIns="0" bIns="0" anchor="t">
            <a:spAutoFit/>
          </a:bodyPr>
          <a:lstStyle/>
          <a:p>
            <a:pPr algn="l"/>
            <a:r>
              <a:rPr sz="1100" b="0">
                <a:solidFill>
                  <a:srgbClr val="888379"/>
                </a:solidFill>
                <a:latin typeface="Calibri"/>
              </a:rPr>
              <a:t>AI proposes new style #9 for human review on legacy pieces.</a:t>
            </a:r>
          </a:p>
        </p:txBody>
      </p:sp>
      <p:sp>
        <p:nvSpPr>
          <p:cNvPr id="39" name="TextBox 38"/>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40" name="TextBox 39"/>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USER EXPERIENCE</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Onboarding — under 90 seconds, in EN or FR.</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88379"/>
                </a:solidFill>
                <a:latin typeface="Calibri"/>
              </a:rPr>
              <a:t>The first screen earns trust by asking what travel and life look like — not what you weigh.</a:t>
            </a:r>
          </a:p>
        </p:txBody>
      </p:sp>
      <p:sp>
        <p:nvSpPr>
          <p:cNvPr id="7" name="Rounded Rectangle 6"/>
          <p:cNvSpPr/>
          <p:nvPr/>
        </p:nvSpPr>
        <p:spPr>
          <a:xfrm>
            <a:off x="548640" y="2651760"/>
            <a:ext cx="2103120" cy="32918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26080"/>
            <a:ext cx="1554480" cy="457200"/>
          </a:xfrm>
          <a:prstGeom prst="rect">
            <a:avLst/>
          </a:prstGeom>
          <a:noFill/>
        </p:spPr>
        <p:txBody>
          <a:bodyPr wrap="square" lIns="0" rIns="0" tIns="0" bIns="0" anchor="t">
            <a:spAutoFit/>
          </a:bodyPr>
          <a:lstStyle/>
          <a:p>
            <a:pPr algn="l"/>
            <a:r>
              <a:rPr sz="2800" b="0">
                <a:solidFill>
                  <a:srgbClr val="5D6E54"/>
                </a:solidFill>
                <a:latin typeface="Georgia"/>
              </a:rPr>
              <a:t>01</a:t>
            </a:r>
          </a:p>
        </p:txBody>
      </p:sp>
      <p:sp>
        <p:nvSpPr>
          <p:cNvPr id="9" name="TextBox 8"/>
          <p:cNvSpPr txBox="1"/>
          <p:nvPr/>
        </p:nvSpPr>
        <p:spPr>
          <a:xfrm>
            <a:off x="822960" y="3566160"/>
            <a:ext cx="1554480" cy="457200"/>
          </a:xfrm>
          <a:prstGeom prst="rect">
            <a:avLst/>
          </a:prstGeom>
          <a:noFill/>
        </p:spPr>
        <p:txBody>
          <a:bodyPr wrap="square" lIns="0" rIns="0" tIns="0" bIns="0" anchor="t">
            <a:spAutoFit/>
          </a:bodyPr>
          <a:lstStyle/>
          <a:p>
            <a:pPr algn="l"/>
            <a:r>
              <a:rPr sz="1400" b="1">
                <a:solidFill>
                  <a:srgbClr val="2B2A26"/>
                </a:solidFill>
                <a:latin typeface="Calibri"/>
              </a:rPr>
              <a:t>Bonjour</a:t>
            </a:r>
          </a:p>
        </p:txBody>
      </p:sp>
      <p:sp>
        <p:nvSpPr>
          <p:cNvPr id="10" name="TextBox 9"/>
          <p:cNvSpPr txBox="1"/>
          <p:nvPr/>
        </p:nvSpPr>
        <p:spPr>
          <a:xfrm>
            <a:off x="822960" y="4069080"/>
            <a:ext cx="1554480" cy="1828800"/>
          </a:xfrm>
          <a:prstGeom prst="rect">
            <a:avLst/>
          </a:prstGeom>
          <a:noFill/>
        </p:spPr>
        <p:txBody>
          <a:bodyPr wrap="square" lIns="0" rIns="0" tIns="0" bIns="0" anchor="t">
            <a:spAutoFit/>
          </a:bodyPr>
          <a:lstStyle/>
          <a:p>
            <a:pPr algn="l"/>
            <a:r>
              <a:rPr sz="1100" b="0">
                <a:solidFill>
                  <a:srgbClr val="888379"/>
                </a:solidFill>
                <a:latin typeface="Calibri"/>
              </a:rPr>
              <a:t>Welcome in two languages.</a:t>
            </a:r>
          </a:p>
          <a:p>
            <a:pPr algn="l"/>
            <a:r>
              <a:rPr sz="1100" b="0">
                <a:solidFill>
                  <a:srgbClr val="888379"/>
                </a:solidFill>
                <a:latin typeface="Calibri"/>
              </a:rPr>
              <a:t>Tap your language; everything follows.</a:t>
            </a:r>
          </a:p>
        </p:txBody>
      </p:sp>
      <p:sp>
        <p:nvSpPr>
          <p:cNvPr id="11" name="Right Arrow 10"/>
          <p:cNvSpPr/>
          <p:nvPr/>
        </p:nvSpPr>
        <p:spPr>
          <a:xfrm>
            <a:off x="2660904" y="4114800"/>
            <a:ext cx="164592"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34640" y="2651760"/>
            <a:ext cx="2103120" cy="32918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0" y="2926080"/>
            <a:ext cx="1554480" cy="457200"/>
          </a:xfrm>
          <a:prstGeom prst="rect">
            <a:avLst/>
          </a:prstGeom>
          <a:noFill/>
        </p:spPr>
        <p:txBody>
          <a:bodyPr wrap="square" lIns="0" rIns="0" tIns="0" bIns="0" anchor="t">
            <a:spAutoFit/>
          </a:bodyPr>
          <a:lstStyle/>
          <a:p>
            <a:pPr algn="l"/>
            <a:r>
              <a:rPr sz="2800" b="0">
                <a:solidFill>
                  <a:srgbClr val="5D6E54"/>
                </a:solidFill>
                <a:latin typeface="Georgia"/>
              </a:rPr>
              <a:t>02</a:t>
            </a:r>
          </a:p>
        </p:txBody>
      </p:sp>
      <p:sp>
        <p:nvSpPr>
          <p:cNvPr id="14" name="TextBox 13"/>
          <p:cNvSpPr txBox="1"/>
          <p:nvPr/>
        </p:nvSpPr>
        <p:spPr>
          <a:xfrm>
            <a:off x="3108960" y="3566160"/>
            <a:ext cx="1554480" cy="457200"/>
          </a:xfrm>
          <a:prstGeom prst="rect">
            <a:avLst/>
          </a:prstGeom>
          <a:noFill/>
        </p:spPr>
        <p:txBody>
          <a:bodyPr wrap="square" lIns="0" rIns="0" tIns="0" bIns="0" anchor="t">
            <a:spAutoFit/>
          </a:bodyPr>
          <a:lstStyle/>
          <a:p>
            <a:pPr algn="l"/>
            <a:r>
              <a:rPr sz="1400" b="1">
                <a:solidFill>
                  <a:srgbClr val="2B2A26"/>
                </a:solidFill>
                <a:latin typeface="Calibri"/>
              </a:rPr>
              <a:t>Sign in</a:t>
            </a:r>
          </a:p>
        </p:txBody>
      </p:sp>
      <p:sp>
        <p:nvSpPr>
          <p:cNvPr id="15" name="TextBox 14"/>
          <p:cNvSpPr txBox="1"/>
          <p:nvPr/>
        </p:nvSpPr>
        <p:spPr>
          <a:xfrm>
            <a:off x="3108960" y="4069080"/>
            <a:ext cx="1554480" cy="1828800"/>
          </a:xfrm>
          <a:prstGeom prst="rect">
            <a:avLst/>
          </a:prstGeom>
          <a:noFill/>
        </p:spPr>
        <p:txBody>
          <a:bodyPr wrap="square" lIns="0" rIns="0" tIns="0" bIns="0" anchor="t">
            <a:spAutoFit/>
          </a:bodyPr>
          <a:lstStyle/>
          <a:p>
            <a:pPr algn="l"/>
            <a:r>
              <a:rPr sz="1100" b="0">
                <a:solidFill>
                  <a:srgbClr val="888379"/>
                </a:solidFill>
                <a:latin typeface="Calibri"/>
              </a:rPr>
              <a:t>Apple, Google, or email.</a:t>
            </a:r>
          </a:p>
          <a:p>
            <a:pPr algn="l"/>
            <a:r>
              <a:rPr sz="1100" b="0">
                <a:solidFill>
                  <a:srgbClr val="888379"/>
                </a:solidFill>
                <a:latin typeface="Calibri"/>
              </a:rPr>
              <a:t>No forms.</a:t>
            </a:r>
          </a:p>
        </p:txBody>
      </p:sp>
      <p:sp>
        <p:nvSpPr>
          <p:cNvPr id="16" name="Right Arrow 15"/>
          <p:cNvSpPr/>
          <p:nvPr/>
        </p:nvSpPr>
        <p:spPr>
          <a:xfrm>
            <a:off x="4946904" y="4114800"/>
            <a:ext cx="164592"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20640" y="2651760"/>
            <a:ext cx="2103120" cy="32918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94960" y="2926080"/>
            <a:ext cx="1554480" cy="457200"/>
          </a:xfrm>
          <a:prstGeom prst="rect">
            <a:avLst/>
          </a:prstGeom>
          <a:noFill/>
        </p:spPr>
        <p:txBody>
          <a:bodyPr wrap="square" lIns="0" rIns="0" tIns="0" bIns="0" anchor="t">
            <a:spAutoFit/>
          </a:bodyPr>
          <a:lstStyle/>
          <a:p>
            <a:pPr algn="l"/>
            <a:r>
              <a:rPr sz="2800" b="0">
                <a:solidFill>
                  <a:srgbClr val="5D6E54"/>
                </a:solidFill>
                <a:latin typeface="Georgia"/>
              </a:rPr>
              <a:t>03</a:t>
            </a:r>
          </a:p>
        </p:txBody>
      </p:sp>
      <p:sp>
        <p:nvSpPr>
          <p:cNvPr id="19" name="TextBox 18"/>
          <p:cNvSpPr txBox="1"/>
          <p:nvPr/>
        </p:nvSpPr>
        <p:spPr>
          <a:xfrm>
            <a:off x="5394960" y="3566160"/>
            <a:ext cx="1554480" cy="457200"/>
          </a:xfrm>
          <a:prstGeom prst="rect">
            <a:avLst/>
          </a:prstGeom>
          <a:noFill/>
        </p:spPr>
        <p:txBody>
          <a:bodyPr wrap="square" lIns="0" rIns="0" tIns="0" bIns="0" anchor="t">
            <a:spAutoFit/>
          </a:bodyPr>
          <a:lstStyle/>
          <a:p>
            <a:pPr algn="l"/>
            <a:r>
              <a:rPr sz="1400" b="1">
                <a:solidFill>
                  <a:srgbClr val="2B2A26"/>
                </a:solidFill>
                <a:latin typeface="Calibri"/>
              </a:rPr>
              <a:t>Travel style</a:t>
            </a:r>
          </a:p>
        </p:txBody>
      </p:sp>
      <p:sp>
        <p:nvSpPr>
          <p:cNvPr id="20" name="TextBox 19"/>
          <p:cNvSpPr txBox="1"/>
          <p:nvPr/>
        </p:nvSpPr>
        <p:spPr>
          <a:xfrm>
            <a:off x="5394960" y="4069080"/>
            <a:ext cx="1554480" cy="1828800"/>
          </a:xfrm>
          <a:prstGeom prst="rect">
            <a:avLst/>
          </a:prstGeom>
          <a:noFill/>
        </p:spPr>
        <p:txBody>
          <a:bodyPr wrap="square" lIns="0" rIns="0" tIns="0" bIns="0" anchor="t">
            <a:spAutoFit/>
          </a:bodyPr>
          <a:lstStyle/>
          <a:p>
            <a:pPr algn="l"/>
            <a:r>
              <a:rPr sz="1100" b="0">
                <a:solidFill>
                  <a:srgbClr val="888379"/>
                </a:solidFill>
                <a:latin typeface="Calibri"/>
              </a:rPr>
              <a:t>Trip frequency, common destinations,</a:t>
            </a:r>
          </a:p>
          <a:p>
            <a:pPr algn="l"/>
            <a:r>
              <a:rPr sz="1100" b="0">
                <a:solidFill>
                  <a:srgbClr val="888379"/>
                </a:solidFill>
                <a:latin typeface="Calibri"/>
              </a:rPr>
              <a:t>packing preferences. All optional.</a:t>
            </a:r>
          </a:p>
        </p:txBody>
      </p:sp>
      <p:sp>
        <p:nvSpPr>
          <p:cNvPr id="21" name="Right Arrow 20"/>
          <p:cNvSpPr/>
          <p:nvPr/>
        </p:nvSpPr>
        <p:spPr>
          <a:xfrm>
            <a:off x="7232904" y="4114800"/>
            <a:ext cx="164592"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06640" y="2651760"/>
            <a:ext cx="2103120" cy="32918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0" y="2926080"/>
            <a:ext cx="1554480" cy="457200"/>
          </a:xfrm>
          <a:prstGeom prst="rect">
            <a:avLst/>
          </a:prstGeom>
          <a:noFill/>
        </p:spPr>
        <p:txBody>
          <a:bodyPr wrap="square" lIns="0" rIns="0" tIns="0" bIns="0" anchor="t">
            <a:spAutoFit/>
          </a:bodyPr>
          <a:lstStyle/>
          <a:p>
            <a:pPr algn="l"/>
            <a:r>
              <a:rPr sz="2800" b="0">
                <a:solidFill>
                  <a:srgbClr val="5D6E54"/>
                </a:solidFill>
                <a:latin typeface="Georgia"/>
              </a:rPr>
              <a:t>04</a:t>
            </a:r>
          </a:p>
        </p:txBody>
      </p:sp>
      <p:sp>
        <p:nvSpPr>
          <p:cNvPr id="24" name="TextBox 23"/>
          <p:cNvSpPr txBox="1"/>
          <p:nvPr/>
        </p:nvSpPr>
        <p:spPr>
          <a:xfrm>
            <a:off x="7680960" y="3566160"/>
            <a:ext cx="1554480" cy="457200"/>
          </a:xfrm>
          <a:prstGeom prst="rect">
            <a:avLst/>
          </a:prstGeom>
          <a:noFill/>
        </p:spPr>
        <p:txBody>
          <a:bodyPr wrap="square" lIns="0" rIns="0" tIns="0" bIns="0" anchor="t">
            <a:spAutoFit/>
          </a:bodyPr>
          <a:lstStyle/>
          <a:p>
            <a:pPr algn="l"/>
            <a:r>
              <a:rPr sz="1400" b="1">
                <a:solidFill>
                  <a:srgbClr val="2B2A26"/>
                </a:solidFill>
                <a:latin typeface="Calibri"/>
              </a:rPr>
              <a:t>Sizes</a:t>
            </a:r>
          </a:p>
        </p:txBody>
      </p:sp>
      <p:sp>
        <p:nvSpPr>
          <p:cNvPr id="25" name="TextBox 24"/>
          <p:cNvSpPr txBox="1"/>
          <p:nvPr/>
        </p:nvSpPr>
        <p:spPr>
          <a:xfrm>
            <a:off x="7680960" y="4069080"/>
            <a:ext cx="1554480" cy="1828800"/>
          </a:xfrm>
          <a:prstGeom prst="rect">
            <a:avLst/>
          </a:prstGeom>
          <a:noFill/>
        </p:spPr>
        <p:txBody>
          <a:bodyPr wrap="square" lIns="0" rIns="0" tIns="0" bIns="0" anchor="t">
            <a:spAutoFit/>
          </a:bodyPr>
          <a:lstStyle/>
          <a:p>
            <a:pPr algn="l"/>
            <a:r>
              <a:rPr sz="1100" b="0">
                <a:solidFill>
                  <a:srgbClr val="888379"/>
                </a:solidFill>
                <a:latin typeface="Calibri"/>
              </a:rPr>
              <a:t>Pull from past Shopify orders</a:t>
            </a:r>
          </a:p>
          <a:p>
            <a:pPr algn="l"/>
            <a:r>
              <a:rPr sz="1100" b="0">
                <a:solidFill>
                  <a:srgbClr val="888379"/>
                </a:solidFill>
                <a:latin typeface="Calibri"/>
              </a:rPr>
              <a:t>or 4 quick taps. No body shape required.</a:t>
            </a:r>
          </a:p>
        </p:txBody>
      </p:sp>
      <p:sp>
        <p:nvSpPr>
          <p:cNvPr id="26" name="Right Arrow 25"/>
          <p:cNvSpPr/>
          <p:nvPr/>
        </p:nvSpPr>
        <p:spPr>
          <a:xfrm>
            <a:off x="9518904" y="4114800"/>
            <a:ext cx="164592"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692640" y="2651760"/>
            <a:ext cx="2103120" cy="32918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66960" y="2926080"/>
            <a:ext cx="1554480" cy="457200"/>
          </a:xfrm>
          <a:prstGeom prst="rect">
            <a:avLst/>
          </a:prstGeom>
          <a:noFill/>
        </p:spPr>
        <p:txBody>
          <a:bodyPr wrap="square" lIns="0" rIns="0" tIns="0" bIns="0" anchor="t">
            <a:spAutoFit/>
          </a:bodyPr>
          <a:lstStyle/>
          <a:p>
            <a:pPr algn="l"/>
            <a:r>
              <a:rPr sz="2800" b="0">
                <a:solidFill>
                  <a:srgbClr val="5D6E54"/>
                </a:solidFill>
                <a:latin typeface="Georgia"/>
              </a:rPr>
              <a:t>05</a:t>
            </a:r>
          </a:p>
        </p:txBody>
      </p:sp>
      <p:sp>
        <p:nvSpPr>
          <p:cNvPr id="29" name="TextBox 28"/>
          <p:cNvSpPr txBox="1"/>
          <p:nvPr/>
        </p:nvSpPr>
        <p:spPr>
          <a:xfrm>
            <a:off x="9966960" y="3566160"/>
            <a:ext cx="1554480" cy="457200"/>
          </a:xfrm>
          <a:prstGeom prst="rect">
            <a:avLst/>
          </a:prstGeom>
          <a:noFill/>
        </p:spPr>
        <p:txBody>
          <a:bodyPr wrap="square" lIns="0" rIns="0" tIns="0" bIns="0" anchor="t">
            <a:spAutoFit/>
          </a:bodyPr>
          <a:lstStyle/>
          <a:p>
            <a:pPr algn="l"/>
            <a:r>
              <a:rPr sz="1400" b="1">
                <a:solidFill>
                  <a:srgbClr val="2B2A26"/>
                </a:solidFill>
                <a:latin typeface="Calibri"/>
              </a:rPr>
              <a:t>First moment</a:t>
            </a:r>
          </a:p>
        </p:txBody>
      </p:sp>
      <p:sp>
        <p:nvSpPr>
          <p:cNvPr id="30" name="TextBox 29"/>
          <p:cNvSpPr txBox="1"/>
          <p:nvPr/>
        </p:nvSpPr>
        <p:spPr>
          <a:xfrm>
            <a:off x="9966960" y="4069080"/>
            <a:ext cx="1554480" cy="1828800"/>
          </a:xfrm>
          <a:prstGeom prst="rect">
            <a:avLst/>
          </a:prstGeom>
          <a:noFill/>
        </p:spPr>
        <p:txBody>
          <a:bodyPr wrap="square" lIns="0" rIns="0" tIns="0" bIns="0" anchor="t">
            <a:spAutoFit/>
          </a:bodyPr>
          <a:lstStyle/>
          <a:p>
            <a:pPr algn="l"/>
            <a:r>
              <a:rPr sz="1100" b="0">
                <a:solidFill>
                  <a:srgbClr val="888379"/>
                </a:solidFill>
                <a:latin typeface="Calibri"/>
              </a:rPr>
              <a:t>See today's style of the week,</a:t>
            </a:r>
          </a:p>
          <a:p>
            <a:pPr algn="l"/>
            <a:r>
              <a:rPr sz="1100" b="0">
                <a:solidFill>
                  <a:srgbClr val="888379"/>
                </a:solidFill>
                <a:latin typeface="Calibri"/>
              </a:rPr>
              <a:t>or scan a piece you own.</a:t>
            </a:r>
          </a:p>
        </p:txBody>
      </p:sp>
      <p:sp>
        <p:nvSpPr>
          <p:cNvPr id="31" name="TextBox 30"/>
          <p:cNvSpPr txBox="1"/>
          <p:nvPr/>
        </p:nvSpPr>
        <p:spPr>
          <a:xfrm>
            <a:off x="548640" y="6126480"/>
            <a:ext cx="10972800" cy="365760"/>
          </a:xfrm>
          <a:prstGeom prst="rect">
            <a:avLst/>
          </a:prstGeom>
          <a:noFill/>
        </p:spPr>
        <p:txBody>
          <a:bodyPr wrap="square" lIns="0" rIns="0" tIns="0" bIns="0" anchor="t">
            <a:spAutoFit/>
          </a:bodyPr>
          <a:lstStyle/>
          <a:p>
            <a:pPr algn="l"/>
            <a:r>
              <a:rPr sz="1100" b="1">
                <a:solidFill>
                  <a:srgbClr val="5D6E54"/>
                </a:solidFill>
                <a:latin typeface="Calibri"/>
              </a:rPr>
              <a:t>DESIGN PRINCIPLE   —   Never collect weight, BMI, or body shape without explicit opt-in.</a:t>
            </a:r>
          </a:p>
        </p:txBody>
      </p:sp>
      <p:sp>
        <p:nvSpPr>
          <p:cNvPr id="32" name="TextBox 31"/>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33" name="TextBox 32"/>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USER FLOW · 1 OF 3</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Unlocking the Chrysalis — owner of 2 years, still discovering.</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88379"/>
                </a:solidFill>
                <a:latin typeface="Calibri"/>
              </a:rPr>
              <a:t>Most Chrysalis Cardi owners use 2 or 3 of the 8 styles. The app changes that ratio.</a:t>
            </a:r>
          </a:p>
        </p:txBody>
      </p:sp>
      <p:sp>
        <p:nvSpPr>
          <p:cNvPr id="7" name="Rounded Rectangle 6"/>
          <p:cNvSpPr/>
          <p:nvPr/>
        </p:nvSpPr>
        <p:spPr>
          <a:xfrm>
            <a:off x="548640" y="2560320"/>
            <a:ext cx="1938528" cy="33832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560320"/>
            <a:ext cx="1938528" cy="50292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OWN</a:t>
            </a:r>
          </a:p>
        </p:txBody>
      </p:sp>
      <p:sp>
        <p:nvSpPr>
          <p:cNvPr id="10" name="TextBox 9"/>
          <p:cNvSpPr txBox="1"/>
          <p:nvPr/>
        </p:nvSpPr>
        <p:spPr>
          <a:xfrm>
            <a:off x="777240" y="3246120"/>
            <a:ext cx="1481328" cy="640080"/>
          </a:xfrm>
          <a:prstGeom prst="rect">
            <a:avLst/>
          </a:prstGeom>
          <a:noFill/>
        </p:spPr>
        <p:txBody>
          <a:bodyPr wrap="square" lIns="0" rIns="0" tIns="0" bIns="0" anchor="t">
            <a:spAutoFit/>
          </a:bodyPr>
          <a:lstStyle/>
          <a:p>
            <a:pPr algn="l"/>
            <a:r>
              <a:rPr sz="1300" b="1">
                <a:solidFill>
                  <a:srgbClr val="2B2A26"/>
                </a:solidFill>
                <a:latin typeface="Calibri"/>
              </a:rPr>
              <a:t>Two years in</a:t>
            </a:r>
          </a:p>
        </p:txBody>
      </p:sp>
      <p:sp>
        <p:nvSpPr>
          <p:cNvPr id="11" name="TextBox 10"/>
          <p:cNvSpPr txBox="1"/>
          <p:nvPr/>
        </p:nvSpPr>
        <p:spPr>
          <a:xfrm>
            <a:off x="777240" y="4023360"/>
            <a:ext cx="1481328" cy="1828800"/>
          </a:xfrm>
          <a:prstGeom prst="rect">
            <a:avLst/>
          </a:prstGeom>
          <a:noFill/>
        </p:spPr>
        <p:txBody>
          <a:bodyPr wrap="square" lIns="0" rIns="0" tIns="0" bIns="0" anchor="t">
            <a:spAutoFit/>
          </a:bodyPr>
          <a:lstStyle/>
          <a:p>
            <a:pPr algn="l"/>
            <a:r>
              <a:rPr sz="1000" b="0">
                <a:solidFill>
                  <a:srgbClr val="888379"/>
                </a:solidFill>
                <a:latin typeface="Calibri"/>
              </a:rPr>
              <a:t>Madeleine has worn her Chrysalis Cardi as a cardigan and a wrap top. The other six styles are theoretical.</a:t>
            </a:r>
          </a:p>
        </p:txBody>
      </p:sp>
      <p:sp>
        <p:nvSpPr>
          <p:cNvPr id="12" name="Right Arrow 11"/>
          <p:cNvSpPr/>
          <p:nvPr/>
        </p:nvSpPr>
        <p:spPr>
          <a:xfrm>
            <a:off x="2532888" y="4069080"/>
            <a:ext cx="228600"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07208" y="2560320"/>
            <a:ext cx="1938528" cy="33832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07208" y="2560320"/>
            <a:ext cx="1938528" cy="50292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90088"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DISCOVER</a:t>
            </a:r>
          </a:p>
        </p:txBody>
      </p:sp>
      <p:sp>
        <p:nvSpPr>
          <p:cNvPr id="16" name="TextBox 15"/>
          <p:cNvSpPr txBox="1"/>
          <p:nvPr/>
        </p:nvSpPr>
        <p:spPr>
          <a:xfrm>
            <a:off x="3035808" y="3246120"/>
            <a:ext cx="1481328" cy="640080"/>
          </a:xfrm>
          <a:prstGeom prst="rect">
            <a:avLst/>
          </a:prstGeom>
          <a:noFill/>
        </p:spPr>
        <p:txBody>
          <a:bodyPr wrap="square" lIns="0" rIns="0" tIns="0" bIns="0" anchor="t">
            <a:spAutoFit/>
          </a:bodyPr>
          <a:lstStyle/>
          <a:p>
            <a:pPr algn="l"/>
            <a:r>
              <a:rPr sz="1300" b="1">
                <a:solidFill>
                  <a:srgbClr val="2B2A26"/>
                </a:solidFill>
                <a:latin typeface="Calibri"/>
              </a:rPr>
              <a:t>Style of the week push</a:t>
            </a:r>
          </a:p>
        </p:txBody>
      </p:sp>
      <p:sp>
        <p:nvSpPr>
          <p:cNvPr id="17" name="TextBox 16"/>
          <p:cNvSpPr txBox="1"/>
          <p:nvPr/>
        </p:nvSpPr>
        <p:spPr>
          <a:xfrm>
            <a:off x="3035808" y="4023360"/>
            <a:ext cx="1481328" cy="1828800"/>
          </a:xfrm>
          <a:prstGeom prst="rect">
            <a:avLst/>
          </a:prstGeom>
          <a:noFill/>
        </p:spPr>
        <p:txBody>
          <a:bodyPr wrap="square" lIns="0" rIns="0" tIns="0" bIns="0" anchor="t">
            <a:spAutoFit/>
          </a:bodyPr>
          <a:lstStyle/>
          <a:p>
            <a:pPr algn="l"/>
            <a:r>
              <a:rPr sz="1000" b="0">
                <a:solidFill>
                  <a:srgbClr val="888379"/>
                </a:solidFill>
                <a:latin typeface="Calibri"/>
              </a:rPr>
              <a:t>Saturday morning push: "Try the Halter Dress this week. 30 seconds to learn."</a:t>
            </a:r>
          </a:p>
        </p:txBody>
      </p:sp>
      <p:sp>
        <p:nvSpPr>
          <p:cNvPr id="18" name="Right Arrow 17"/>
          <p:cNvSpPr/>
          <p:nvPr/>
        </p:nvSpPr>
        <p:spPr>
          <a:xfrm>
            <a:off x="4791456" y="4069080"/>
            <a:ext cx="228600"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65776" y="2560320"/>
            <a:ext cx="1938528" cy="33832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65776" y="2560320"/>
            <a:ext cx="1938528" cy="50292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8656"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LEARN</a:t>
            </a:r>
          </a:p>
        </p:txBody>
      </p:sp>
      <p:sp>
        <p:nvSpPr>
          <p:cNvPr id="22" name="TextBox 21"/>
          <p:cNvSpPr txBox="1"/>
          <p:nvPr/>
        </p:nvSpPr>
        <p:spPr>
          <a:xfrm>
            <a:off x="5294376" y="3246120"/>
            <a:ext cx="1481328" cy="640080"/>
          </a:xfrm>
          <a:prstGeom prst="rect">
            <a:avLst/>
          </a:prstGeom>
          <a:noFill/>
        </p:spPr>
        <p:txBody>
          <a:bodyPr wrap="square" lIns="0" rIns="0" tIns="0" bIns="0" anchor="t">
            <a:spAutoFit/>
          </a:bodyPr>
          <a:lstStyle/>
          <a:p>
            <a:pPr algn="l"/>
            <a:r>
              <a:rPr sz="1300" b="1">
                <a:solidFill>
                  <a:srgbClr val="2B2A26"/>
                </a:solidFill>
                <a:latin typeface="Calibri"/>
              </a:rPr>
              <a:t>Watch the how-to</a:t>
            </a:r>
          </a:p>
        </p:txBody>
      </p:sp>
      <p:sp>
        <p:nvSpPr>
          <p:cNvPr id="23" name="TextBox 22"/>
          <p:cNvSpPr txBox="1"/>
          <p:nvPr/>
        </p:nvSpPr>
        <p:spPr>
          <a:xfrm>
            <a:off x="5294376" y="4023360"/>
            <a:ext cx="1481328" cy="1828800"/>
          </a:xfrm>
          <a:prstGeom prst="rect">
            <a:avLst/>
          </a:prstGeom>
          <a:noFill/>
        </p:spPr>
        <p:txBody>
          <a:bodyPr wrap="square" lIns="0" rIns="0" tIns="0" bIns="0" anchor="t">
            <a:spAutoFit/>
          </a:bodyPr>
          <a:lstStyle/>
          <a:p>
            <a:pPr algn="l"/>
            <a:r>
              <a:rPr sz="1000" b="0">
                <a:solidFill>
                  <a:srgbClr val="888379"/>
                </a:solidFill>
                <a:latin typeface="Calibri"/>
              </a:rPr>
              <a:t>30-sec video. The 6 hidden snaps make sense for the first time. She tries it in the bedroom.</a:t>
            </a:r>
          </a:p>
        </p:txBody>
      </p:sp>
      <p:sp>
        <p:nvSpPr>
          <p:cNvPr id="24" name="Right Arrow 23"/>
          <p:cNvSpPr/>
          <p:nvPr/>
        </p:nvSpPr>
        <p:spPr>
          <a:xfrm>
            <a:off x="7050024" y="4069080"/>
            <a:ext cx="228600"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24344" y="2560320"/>
            <a:ext cx="1938528" cy="33832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24344" y="2560320"/>
            <a:ext cx="1938528" cy="50292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7224"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CAPSULE</a:t>
            </a:r>
          </a:p>
        </p:txBody>
      </p:sp>
      <p:sp>
        <p:nvSpPr>
          <p:cNvPr id="28" name="TextBox 27"/>
          <p:cNvSpPr txBox="1"/>
          <p:nvPr/>
        </p:nvSpPr>
        <p:spPr>
          <a:xfrm>
            <a:off x="7552944" y="3246120"/>
            <a:ext cx="1481328" cy="640080"/>
          </a:xfrm>
          <a:prstGeom prst="rect">
            <a:avLst/>
          </a:prstGeom>
          <a:noFill/>
        </p:spPr>
        <p:txBody>
          <a:bodyPr wrap="square" lIns="0" rIns="0" tIns="0" bIns="0" anchor="t">
            <a:spAutoFit/>
          </a:bodyPr>
          <a:lstStyle/>
          <a:p>
            <a:pPr algn="l"/>
            <a:r>
              <a:rPr sz="1300" b="1">
                <a:solidFill>
                  <a:srgbClr val="2B2A26"/>
                </a:solidFill>
                <a:latin typeface="Calibri"/>
              </a:rPr>
              <a:t>Lisbon trip planning</a:t>
            </a:r>
          </a:p>
        </p:txBody>
      </p:sp>
      <p:sp>
        <p:nvSpPr>
          <p:cNvPr id="29" name="TextBox 28"/>
          <p:cNvSpPr txBox="1"/>
          <p:nvPr/>
        </p:nvSpPr>
        <p:spPr>
          <a:xfrm>
            <a:off x="7552944" y="4023360"/>
            <a:ext cx="1481328" cy="1828800"/>
          </a:xfrm>
          <a:prstGeom prst="rect">
            <a:avLst/>
          </a:prstGeom>
          <a:noFill/>
        </p:spPr>
        <p:txBody>
          <a:bodyPr wrap="square" lIns="0" rIns="0" tIns="0" bIns="0" anchor="t">
            <a:spAutoFit/>
          </a:bodyPr>
          <a:lstStyle/>
          <a:p>
            <a:pPr algn="l"/>
            <a:r>
              <a:rPr sz="1000" b="0">
                <a:solidFill>
                  <a:srgbClr val="888379"/>
                </a:solidFill>
                <a:latin typeface="Calibri"/>
              </a:rPr>
              <a:t>Builds her trip capsule. The Halter Dress unlocks an evening outfit she didn't know she had.</a:t>
            </a:r>
          </a:p>
        </p:txBody>
      </p:sp>
      <p:sp>
        <p:nvSpPr>
          <p:cNvPr id="30" name="Right Arrow 29"/>
          <p:cNvSpPr/>
          <p:nvPr/>
        </p:nvSpPr>
        <p:spPr>
          <a:xfrm>
            <a:off x="9308592" y="4069080"/>
            <a:ext cx="228600"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582912" y="2560320"/>
            <a:ext cx="1938528" cy="33832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582912" y="2560320"/>
            <a:ext cx="1938528" cy="50292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65792"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LOOP</a:t>
            </a:r>
          </a:p>
        </p:txBody>
      </p:sp>
      <p:sp>
        <p:nvSpPr>
          <p:cNvPr id="34" name="TextBox 33"/>
          <p:cNvSpPr txBox="1"/>
          <p:nvPr/>
        </p:nvSpPr>
        <p:spPr>
          <a:xfrm>
            <a:off x="9811512" y="3246120"/>
            <a:ext cx="1481328" cy="640080"/>
          </a:xfrm>
          <a:prstGeom prst="rect">
            <a:avLst/>
          </a:prstGeom>
          <a:noFill/>
        </p:spPr>
        <p:txBody>
          <a:bodyPr wrap="square" lIns="0" rIns="0" tIns="0" bIns="0" anchor="t">
            <a:spAutoFit/>
          </a:bodyPr>
          <a:lstStyle/>
          <a:p>
            <a:pPr algn="l"/>
            <a:r>
              <a:rPr sz="1300" b="1">
                <a:solidFill>
                  <a:srgbClr val="2B2A26"/>
                </a:solidFill>
                <a:latin typeface="Calibri"/>
              </a:rPr>
              <a:t>Posts the look</a:t>
            </a:r>
          </a:p>
        </p:txBody>
      </p:sp>
      <p:sp>
        <p:nvSpPr>
          <p:cNvPr id="35" name="TextBox 34"/>
          <p:cNvSpPr txBox="1"/>
          <p:nvPr/>
        </p:nvSpPr>
        <p:spPr>
          <a:xfrm>
            <a:off x="9811512" y="4023360"/>
            <a:ext cx="1481328" cy="1828800"/>
          </a:xfrm>
          <a:prstGeom prst="rect">
            <a:avLst/>
          </a:prstGeom>
          <a:noFill/>
        </p:spPr>
        <p:txBody>
          <a:bodyPr wrap="square" lIns="0" rIns="0" tIns="0" bIns="0" anchor="t">
            <a:spAutoFit/>
          </a:bodyPr>
          <a:lstStyle/>
          <a:p>
            <a:pPr algn="l"/>
            <a:r>
              <a:rPr sz="1000" b="0">
                <a:solidFill>
                  <a:srgbClr val="888379"/>
                </a:solidFill>
                <a:latin typeface="Calibri"/>
              </a:rPr>
              <a:t>After Lisbon she posts a Tribe look. Style #5 becomes her favourite. She replaces a fast-fashion dress with what she already owned.</a:t>
            </a:r>
          </a:p>
        </p:txBody>
      </p:sp>
      <p:sp>
        <p:nvSpPr>
          <p:cNvPr id="36" name="TextBox 35"/>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37" name="TextBox 36"/>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USER FLOW · 2 OF 3</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Lifetime repair — turning a PDF policy into a one-tap workflow.</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88379"/>
                </a:solidFill>
                <a:latin typeface="Calibri"/>
              </a:rPr>
              <a:t>Most lifetime guarantees fail because customers don't use them. The Atelier flow makes them use them.</a:t>
            </a:r>
          </a:p>
        </p:txBody>
      </p:sp>
      <p:sp>
        <p:nvSpPr>
          <p:cNvPr id="7" name="Rounded Rectangle 6"/>
          <p:cNvSpPr/>
          <p:nvPr/>
        </p:nvSpPr>
        <p:spPr>
          <a:xfrm>
            <a:off x="548640" y="2560320"/>
            <a:ext cx="1938528" cy="33832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560320"/>
            <a:ext cx="1938528" cy="50292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DAMAGE</a:t>
            </a:r>
          </a:p>
        </p:txBody>
      </p:sp>
      <p:sp>
        <p:nvSpPr>
          <p:cNvPr id="10" name="TextBox 9"/>
          <p:cNvSpPr txBox="1"/>
          <p:nvPr/>
        </p:nvSpPr>
        <p:spPr>
          <a:xfrm>
            <a:off x="777240" y="3246120"/>
            <a:ext cx="1481328" cy="640080"/>
          </a:xfrm>
          <a:prstGeom prst="rect">
            <a:avLst/>
          </a:prstGeom>
          <a:noFill/>
        </p:spPr>
        <p:txBody>
          <a:bodyPr wrap="square" lIns="0" rIns="0" tIns="0" bIns="0" anchor="t">
            <a:spAutoFit/>
          </a:bodyPr>
          <a:lstStyle/>
          <a:p>
            <a:pPr algn="l"/>
            <a:r>
              <a:rPr sz="1300" b="1">
                <a:solidFill>
                  <a:srgbClr val="2B2A26"/>
                </a:solidFill>
                <a:latin typeface="Calibri"/>
              </a:rPr>
              <a:t>Seam separation</a:t>
            </a:r>
          </a:p>
        </p:txBody>
      </p:sp>
      <p:sp>
        <p:nvSpPr>
          <p:cNvPr id="11" name="TextBox 10"/>
          <p:cNvSpPr txBox="1"/>
          <p:nvPr/>
        </p:nvSpPr>
        <p:spPr>
          <a:xfrm>
            <a:off x="777240" y="4023360"/>
            <a:ext cx="1481328" cy="1828800"/>
          </a:xfrm>
          <a:prstGeom prst="rect">
            <a:avLst/>
          </a:prstGeom>
          <a:noFill/>
        </p:spPr>
        <p:txBody>
          <a:bodyPr wrap="square" lIns="0" rIns="0" tIns="0" bIns="0" anchor="t">
            <a:spAutoFit/>
          </a:bodyPr>
          <a:lstStyle/>
          <a:p>
            <a:pPr algn="l"/>
            <a:r>
              <a:rPr sz="1000" b="0">
                <a:solidFill>
                  <a:srgbClr val="888379"/>
                </a:solidFill>
                <a:latin typeface="Calibri"/>
              </a:rPr>
              <a:t>Sarah's Chrysalis Cardi seam splits after 4 years. Old answer: assume it's the end.</a:t>
            </a:r>
          </a:p>
        </p:txBody>
      </p:sp>
      <p:sp>
        <p:nvSpPr>
          <p:cNvPr id="12" name="Right Arrow 11"/>
          <p:cNvSpPr/>
          <p:nvPr/>
        </p:nvSpPr>
        <p:spPr>
          <a:xfrm>
            <a:off x="2532888" y="4069080"/>
            <a:ext cx="228600"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07208" y="2560320"/>
            <a:ext cx="1938528" cy="33832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07208" y="2560320"/>
            <a:ext cx="1938528" cy="50292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90088"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SCAN</a:t>
            </a:r>
          </a:p>
        </p:txBody>
      </p:sp>
      <p:sp>
        <p:nvSpPr>
          <p:cNvPr id="16" name="TextBox 15"/>
          <p:cNvSpPr txBox="1"/>
          <p:nvPr/>
        </p:nvSpPr>
        <p:spPr>
          <a:xfrm>
            <a:off x="3035808" y="3246120"/>
            <a:ext cx="1481328" cy="640080"/>
          </a:xfrm>
          <a:prstGeom prst="rect">
            <a:avLst/>
          </a:prstGeom>
          <a:noFill/>
        </p:spPr>
        <p:txBody>
          <a:bodyPr wrap="square" lIns="0" rIns="0" tIns="0" bIns="0" anchor="t">
            <a:spAutoFit/>
          </a:bodyPr>
          <a:lstStyle/>
          <a:p>
            <a:pPr algn="l"/>
            <a:r>
              <a:rPr sz="1300" b="1">
                <a:solidFill>
                  <a:srgbClr val="2B2A26"/>
                </a:solidFill>
                <a:latin typeface="Calibri"/>
              </a:rPr>
              <a:t>Opens The Atelier</a:t>
            </a:r>
          </a:p>
        </p:txBody>
      </p:sp>
      <p:sp>
        <p:nvSpPr>
          <p:cNvPr id="17" name="TextBox 16"/>
          <p:cNvSpPr txBox="1"/>
          <p:nvPr/>
        </p:nvSpPr>
        <p:spPr>
          <a:xfrm>
            <a:off x="3035808" y="4023360"/>
            <a:ext cx="1481328" cy="1828800"/>
          </a:xfrm>
          <a:prstGeom prst="rect">
            <a:avLst/>
          </a:prstGeom>
          <a:noFill/>
        </p:spPr>
        <p:txBody>
          <a:bodyPr wrap="square" lIns="0" rIns="0" tIns="0" bIns="0" anchor="t">
            <a:spAutoFit/>
          </a:bodyPr>
          <a:lstStyle/>
          <a:p>
            <a:pPr algn="l"/>
            <a:r>
              <a:rPr sz="1000" b="0">
                <a:solidFill>
                  <a:srgbClr val="888379"/>
                </a:solidFill>
                <a:latin typeface="Calibri"/>
              </a:rPr>
              <a:t>Scans the QR. Photo the seam. AI: "In-house repair, 7-day turnaround, $0 — covered by lifetime guarantee."</a:t>
            </a:r>
          </a:p>
        </p:txBody>
      </p:sp>
      <p:sp>
        <p:nvSpPr>
          <p:cNvPr id="18" name="Right Arrow 17"/>
          <p:cNvSpPr/>
          <p:nvPr/>
        </p:nvSpPr>
        <p:spPr>
          <a:xfrm>
            <a:off x="4791456" y="4069080"/>
            <a:ext cx="228600"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65776" y="2560320"/>
            <a:ext cx="1938528" cy="33832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65776" y="2560320"/>
            <a:ext cx="1938528" cy="50292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8656"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BOOK</a:t>
            </a:r>
          </a:p>
        </p:txBody>
      </p:sp>
      <p:sp>
        <p:nvSpPr>
          <p:cNvPr id="22" name="TextBox 21"/>
          <p:cNvSpPr txBox="1"/>
          <p:nvPr/>
        </p:nvSpPr>
        <p:spPr>
          <a:xfrm>
            <a:off x="5294376" y="3246120"/>
            <a:ext cx="1481328" cy="640080"/>
          </a:xfrm>
          <a:prstGeom prst="rect">
            <a:avLst/>
          </a:prstGeom>
          <a:noFill/>
        </p:spPr>
        <p:txBody>
          <a:bodyPr wrap="square" lIns="0" rIns="0" tIns="0" bIns="0" anchor="t">
            <a:spAutoFit/>
          </a:bodyPr>
          <a:lstStyle/>
          <a:p>
            <a:pPr algn="l"/>
            <a:r>
              <a:rPr sz="1300" b="1">
                <a:solidFill>
                  <a:srgbClr val="2B2A26"/>
                </a:solidFill>
                <a:latin typeface="Calibri"/>
              </a:rPr>
              <a:t>Free pickup or mail-in</a:t>
            </a:r>
          </a:p>
        </p:txBody>
      </p:sp>
      <p:sp>
        <p:nvSpPr>
          <p:cNvPr id="23" name="TextBox 22"/>
          <p:cNvSpPr txBox="1"/>
          <p:nvPr/>
        </p:nvSpPr>
        <p:spPr>
          <a:xfrm>
            <a:off x="5294376" y="4023360"/>
            <a:ext cx="1481328" cy="1828800"/>
          </a:xfrm>
          <a:prstGeom prst="rect">
            <a:avLst/>
          </a:prstGeom>
          <a:noFill/>
        </p:spPr>
        <p:txBody>
          <a:bodyPr wrap="square" lIns="0" rIns="0" tIns="0" bIns="0" anchor="t">
            <a:spAutoFit/>
          </a:bodyPr>
          <a:lstStyle/>
          <a:p>
            <a:pPr algn="l"/>
            <a:r>
              <a:rPr sz="1000" b="0">
                <a:solidFill>
                  <a:srgbClr val="888379"/>
                </a:solidFill>
                <a:latin typeface="Calibri"/>
              </a:rPr>
              <a:t>Toronto pickup booked for Tuesday. Sarah does nothing else.</a:t>
            </a:r>
          </a:p>
        </p:txBody>
      </p:sp>
      <p:sp>
        <p:nvSpPr>
          <p:cNvPr id="24" name="Right Arrow 23"/>
          <p:cNvSpPr/>
          <p:nvPr/>
        </p:nvSpPr>
        <p:spPr>
          <a:xfrm>
            <a:off x="7050024" y="4069080"/>
            <a:ext cx="228600"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24344" y="2560320"/>
            <a:ext cx="1938528" cy="33832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24344" y="2560320"/>
            <a:ext cx="1938528" cy="50292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7224"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REPAIR</a:t>
            </a:r>
          </a:p>
        </p:txBody>
      </p:sp>
      <p:sp>
        <p:nvSpPr>
          <p:cNvPr id="28" name="TextBox 27"/>
          <p:cNvSpPr txBox="1"/>
          <p:nvPr/>
        </p:nvSpPr>
        <p:spPr>
          <a:xfrm>
            <a:off x="7552944" y="3246120"/>
            <a:ext cx="1481328" cy="640080"/>
          </a:xfrm>
          <a:prstGeom prst="rect">
            <a:avLst/>
          </a:prstGeom>
          <a:noFill/>
        </p:spPr>
        <p:txBody>
          <a:bodyPr wrap="square" lIns="0" rIns="0" tIns="0" bIns="0" anchor="t">
            <a:spAutoFit/>
          </a:bodyPr>
          <a:lstStyle/>
          <a:p>
            <a:pPr algn="l"/>
            <a:r>
              <a:rPr sz="1300" b="1">
                <a:solidFill>
                  <a:srgbClr val="2B2A26"/>
                </a:solidFill>
                <a:latin typeface="Calibri"/>
              </a:rPr>
              <a:t>In-house atelier</a:t>
            </a:r>
          </a:p>
        </p:txBody>
      </p:sp>
      <p:sp>
        <p:nvSpPr>
          <p:cNvPr id="29" name="TextBox 28"/>
          <p:cNvSpPr txBox="1"/>
          <p:nvPr/>
        </p:nvSpPr>
        <p:spPr>
          <a:xfrm>
            <a:off x="7552944" y="4023360"/>
            <a:ext cx="1481328" cy="1828800"/>
          </a:xfrm>
          <a:prstGeom prst="rect">
            <a:avLst/>
          </a:prstGeom>
          <a:noFill/>
        </p:spPr>
        <p:txBody>
          <a:bodyPr wrap="square" lIns="0" rIns="0" tIns="0" bIns="0" anchor="t">
            <a:spAutoFit/>
          </a:bodyPr>
          <a:lstStyle/>
          <a:p>
            <a:pPr algn="l"/>
            <a:r>
              <a:rPr sz="1000" b="0">
                <a:solidFill>
                  <a:srgbClr val="888379"/>
                </a:solidFill>
                <a:latin typeface="Calibri"/>
              </a:rPr>
              <a:t>30km from the studio, an Encircled tailor fixes the seam. Photo update sent to Sarah.</a:t>
            </a:r>
          </a:p>
        </p:txBody>
      </p:sp>
      <p:sp>
        <p:nvSpPr>
          <p:cNvPr id="30" name="Right Arrow 29"/>
          <p:cNvSpPr/>
          <p:nvPr/>
        </p:nvSpPr>
        <p:spPr>
          <a:xfrm>
            <a:off x="9308592" y="4069080"/>
            <a:ext cx="228600"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582912" y="2560320"/>
            <a:ext cx="1938528" cy="33832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582912" y="2560320"/>
            <a:ext cx="1938528" cy="50292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65792"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RETURN</a:t>
            </a:r>
          </a:p>
        </p:txBody>
      </p:sp>
      <p:sp>
        <p:nvSpPr>
          <p:cNvPr id="34" name="TextBox 33"/>
          <p:cNvSpPr txBox="1"/>
          <p:nvPr/>
        </p:nvSpPr>
        <p:spPr>
          <a:xfrm>
            <a:off x="9811512" y="3246120"/>
            <a:ext cx="1481328" cy="640080"/>
          </a:xfrm>
          <a:prstGeom prst="rect">
            <a:avLst/>
          </a:prstGeom>
          <a:noFill/>
        </p:spPr>
        <p:txBody>
          <a:bodyPr wrap="square" lIns="0" rIns="0" tIns="0" bIns="0" anchor="t">
            <a:spAutoFit/>
          </a:bodyPr>
          <a:lstStyle/>
          <a:p>
            <a:pPr algn="l"/>
            <a:r>
              <a:rPr sz="1300" b="1">
                <a:solidFill>
                  <a:srgbClr val="2B2A26"/>
                </a:solidFill>
                <a:latin typeface="Calibri"/>
              </a:rPr>
              <a:t>Wear count resumes</a:t>
            </a:r>
          </a:p>
        </p:txBody>
      </p:sp>
      <p:sp>
        <p:nvSpPr>
          <p:cNvPr id="35" name="TextBox 34"/>
          <p:cNvSpPr txBox="1"/>
          <p:nvPr/>
        </p:nvSpPr>
        <p:spPr>
          <a:xfrm>
            <a:off x="9811512" y="4023360"/>
            <a:ext cx="1481328" cy="1828800"/>
          </a:xfrm>
          <a:prstGeom prst="rect">
            <a:avLst/>
          </a:prstGeom>
          <a:noFill/>
        </p:spPr>
        <p:txBody>
          <a:bodyPr wrap="square" lIns="0" rIns="0" tIns="0" bIns="0" anchor="t">
            <a:spAutoFit/>
          </a:bodyPr>
          <a:lstStyle/>
          <a:p>
            <a:pPr algn="l"/>
            <a:r>
              <a:rPr sz="1000" b="0">
                <a:solidFill>
                  <a:srgbClr val="888379"/>
                </a:solidFill>
                <a:latin typeface="Calibri"/>
              </a:rPr>
              <a:t>Repaired piece logged in The Wardrobe. Cost-per-wear drops further. Sarah trusts the brand more than before the damage.</a:t>
            </a:r>
          </a:p>
        </p:txBody>
      </p:sp>
      <p:sp>
        <p:nvSpPr>
          <p:cNvPr id="36" name="TextBox 35"/>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37" name="TextBox 36"/>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USER FLOW · 3 OF 3</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The traveler — packing for a 6-day Lisbon trip in 4 pieces.</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88379"/>
                </a:solidFill>
                <a:latin typeface="Calibri"/>
              </a:rPr>
              <a:t>Encircled's traveler customer wants to pack light. The Capsule flow is the most useful feature in her phone.</a:t>
            </a:r>
          </a:p>
        </p:txBody>
      </p:sp>
      <p:sp>
        <p:nvSpPr>
          <p:cNvPr id="7" name="Rounded Rectangle 6"/>
          <p:cNvSpPr/>
          <p:nvPr/>
        </p:nvSpPr>
        <p:spPr>
          <a:xfrm>
            <a:off x="548640" y="2560320"/>
            <a:ext cx="1938528" cy="33832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560320"/>
            <a:ext cx="1938528" cy="50292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INPUT</a:t>
            </a:r>
          </a:p>
        </p:txBody>
      </p:sp>
      <p:sp>
        <p:nvSpPr>
          <p:cNvPr id="10" name="TextBox 9"/>
          <p:cNvSpPr txBox="1"/>
          <p:nvPr/>
        </p:nvSpPr>
        <p:spPr>
          <a:xfrm>
            <a:off x="777240" y="3246120"/>
            <a:ext cx="1481328" cy="640080"/>
          </a:xfrm>
          <a:prstGeom prst="rect">
            <a:avLst/>
          </a:prstGeom>
          <a:noFill/>
        </p:spPr>
        <p:txBody>
          <a:bodyPr wrap="square" lIns="0" rIns="0" tIns="0" bIns="0" anchor="t">
            <a:spAutoFit/>
          </a:bodyPr>
          <a:lstStyle/>
          <a:p>
            <a:pPr algn="l"/>
            <a:r>
              <a:rPr sz="1300" b="1">
                <a:solidFill>
                  <a:srgbClr val="2B2A26"/>
                </a:solidFill>
                <a:latin typeface="Calibri"/>
              </a:rPr>
              <a:t>Trip details</a:t>
            </a:r>
          </a:p>
        </p:txBody>
      </p:sp>
      <p:sp>
        <p:nvSpPr>
          <p:cNvPr id="11" name="TextBox 10"/>
          <p:cNvSpPr txBox="1"/>
          <p:nvPr/>
        </p:nvSpPr>
        <p:spPr>
          <a:xfrm>
            <a:off x="777240" y="4023360"/>
            <a:ext cx="1481328" cy="1828800"/>
          </a:xfrm>
          <a:prstGeom prst="rect">
            <a:avLst/>
          </a:prstGeom>
          <a:noFill/>
        </p:spPr>
        <p:txBody>
          <a:bodyPr wrap="square" lIns="0" rIns="0" tIns="0" bIns="0" anchor="t">
            <a:spAutoFit/>
          </a:bodyPr>
          <a:lstStyle/>
          <a:p>
            <a:pPr algn="l"/>
            <a:r>
              <a:rPr sz="1000" b="0">
                <a:solidFill>
                  <a:srgbClr val="888379"/>
                </a:solidFill>
                <a:latin typeface="Calibri"/>
              </a:rPr>
              <a:t>Lisbon · 6 days · mid-November · mild · mix of beach and dinner.</a:t>
            </a:r>
          </a:p>
        </p:txBody>
      </p:sp>
      <p:sp>
        <p:nvSpPr>
          <p:cNvPr id="12" name="Right Arrow 11"/>
          <p:cNvSpPr/>
          <p:nvPr/>
        </p:nvSpPr>
        <p:spPr>
          <a:xfrm>
            <a:off x="2532888" y="4069080"/>
            <a:ext cx="228600"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07208" y="2560320"/>
            <a:ext cx="1938528" cy="33832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07208" y="2560320"/>
            <a:ext cx="1938528" cy="50292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90088"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BUILD</a:t>
            </a:r>
          </a:p>
        </p:txBody>
      </p:sp>
      <p:sp>
        <p:nvSpPr>
          <p:cNvPr id="16" name="TextBox 15"/>
          <p:cNvSpPr txBox="1"/>
          <p:nvPr/>
        </p:nvSpPr>
        <p:spPr>
          <a:xfrm>
            <a:off x="3035808" y="3246120"/>
            <a:ext cx="1481328" cy="640080"/>
          </a:xfrm>
          <a:prstGeom prst="rect">
            <a:avLst/>
          </a:prstGeom>
          <a:noFill/>
        </p:spPr>
        <p:txBody>
          <a:bodyPr wrap="square" lIns="0" rIns="0" tIns="0" bIns="0" anchor="t">
            <a:spAutoFit/>
          </a:bodyPr>
          <a:lstStyle/>
          <a:p>
            <a:pPr algn="l"/>
            <a:r>
              <a:rPr sz="1300" b="1">
                <a:solidFill>
                  <a:srgbClr val="2B2A26"/>
                </a:solidFill>
                <a:latin typeface="Calibri"/>
              </a:rPr>
              <a:t>AI capsule from her closet</a:t>
            </a:r>
          </a:p>
        </p:txBody>
      </p:sp>
      <p:sp>
        <p:nvSpPr>
          <p:cNvPr id="17" name="TextBox 16"/>
          <p:cNvSpPr txBox="1"/>
          <p:nvPr/>
        </p:nvSpPr>
        <p:spPr>
          <a:xfrm>
            <a:off x="3035808" y="4023360"/>
            <a:ext cx="1481328" cy="1828800"/>
          </a:xfrm>
          <a:prstGeom prst="rect">
            <a:avLst/>
          </a:prstGeom>
          <a:noFill/>
        </p:spPr>
        <p:txBody>
          <a:bodyPr wrap="square" lIns="0" rIns="0" tIns="0" bIns="0" anchor="t">
            <a:spAutoFit/>
          </a:bodyPr>
          <a:lstStyle/>
          <a:p>
            <a:pPr algn="l"/>
            <a:r>
              <a:rPr sz="1000" b="0">
                <a:solidFill>
                  <a:srgbClr val="888379"/>
                </a:solidFill>
                <a:latin typeface="Calibri"/>
              </a:rPr>
              <a:t>4 pieces selected from her 11-piece wardrobe. 11 outfit combinations. Pack-light score: 92/100.</a:t>
            </a:r>
          </a:p>
        </p:txBody>
      </p:sp>
      <p:sp>
        <p:nvSpPr>
          <p:cNvPr id="18" name="Right Arrow 17"/>
          <p:cNvSpPr/>
          <p:nvPr/>
        </p:nvSpPr>
        <p:spPr>
          <a:xfrm>
            <a:off x="4791456" y="4069080"/>
            <a:ext cx="228600"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65776" y="2560320"/>
            <a:ext cx="1938528" cy="33832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65776" y="2560320"/>
            <a:ext cx="1938528" cy="50292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8656"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REVIEW</a:t>
            </a:r>
          </a:p>
        </p:txBody>
      </p:sp>
      <p:sp>
        <p:nvSpPr>
          <p:cNvPr id="22" name="TextBox 21"/>
          <p:cNvSpPr txBox="1"/>
          <p:nvPr/>
        </p:nvSpPr>
        <p:spPr>
          <a:xfrm>
            <a:off x="5294376" y="3246120"/>
            <a:ext cx="1481328" cy="640080"/>
          </a:xfrm>
          <a:prstGeom prst="rect">
            <a:avLst/>
          </a:prstGeom>
          <a:noFill/>
        </p:spPr>
        <p:txBody>
          <a:bodyPr wrap="square" lIns="0" rIns="0" tIns="0" bIns="0" anchor="t">
            <a:spAutoFit/>
          </a:bodyPr>
          <a:lstStyle/>
          <a:p>
            <a:pPr algn="l"/>
            <a:r>
              <a:rPr sz="1300" b="1">
                <a:solidFill>
                  <a:srgbClr val="2B2A26"/>
                </a:solidFill>
                <a:latin typeface="Calibri"/>
              </a:rPr>
              <a:t>Swap one piece</a:t>
            </a:r>
          </a:p>
        </p:txBody>
      </p:sp>
      <p:sp>
        <p:nvSpPr>
          <p:cNvPr id="23" name="TextBox 22"/>
          <p:cNvSpPr txBox="1"/>
          <p:nvPr/>
        </p:nvSpPr>
        <p:spPr>
          <a:xfrm>
            <a:off x="5294376" y="4023360"/>
            <a:ext cx="1481328" cy="1828800"/>
          </a:xfrm>
          <a:prstGeom prst="rect">
            <a:avLst/>
          </a:prstGeom>
          <a:noFill/>
        </p:spPr>
        <p:txBody>
          <a:bodyPr wrap="square" lIns="0" rIns="0" tIns="0" bIns="0" anchor="t">
            <a:spAutoFit/>
          </a:bodyPr>
          <a:lstStyle/>
          <a:p>
            <a:pPr algn="l"/>
            <a:r>
              <a:rPr sz="1000" b="0">
                <a:solidFill>
                  <a:srgbClr val="888379"/>
                </a:solidFill>
                <a:latin typeface="Calibri"/>
              </a:rPr>
              <a:t>Wants the Wide-leg Pant in black instead of sage. App rebalances; outfit count drops to 9. She accepts.</a:t>
            </a:r>
          </a:p>
        </p:txBody>
      </p:sp>
      <p:sp>
        <p:nvSpPr>
          <p:cNvPr id="24" name="Right Arrow 23"/>
          <p:cNvSpPr/>
          <p:nvPr/>
        </p:nvSpPr>
        <p:spPr>
          <a:xfrm>
            <a:off x="7050024" y="4069080"/>
            <a:ext cx="228600"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24344" y="2560320"/>
            <a:ext cx="1938528" cy="33832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24344" y="2560320"/>
            <a:ext cx="1938528" cy="50292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7224"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PACK</a:t>
            </a:r>
          </a:p>
        </p:txBody>
      </p:sp>
      <p:sp>
        <p:nvSpPr>
          <p:cNvPr id="28" name="TextBox 27"/>
          <p:cNvSpPr txBox="1"/>
          <p:nvPr/>
        </p:nvSpPr>
        <p:spPr>
          <a:xfrm>
            <a:off x="7552944" y="3246120"/>
            <a:ext cx="1481328" cy="640080"/>
          </a:xfrm>
          <a:prstGeom prst="rect">
            <a:avLst/>
          </a:prstGeom>
          <a:noFill/>
        </p:spPr>
        <p:txBody>
          <a:bodyPr wrap="square" lIns="0" rIns="0" tIns="0" bIns="0" anchor="t">
            <a:spAutoFit/>
          </a:bodyPr>
          <a:lstStyle/>
          <a:p>
            <a:pPr algn="l"/>
            <a:r>
              <a:rPr sz="1300" b="1">
                <a:solidFill>
                  <a:srgbClr val="2B2A26"/>
                </a:solidFill>
                <a:latin typeface="Calibri"/>
              </a:rPr>
              <a:t>Save and share</a:t>
            </a:r>
          </a:p>
        </p:txBody>
      </p:sp>
      <p:sp>
        <p:nvSpPr>
          <p:cNvPr id="29" name="TextBox 28"/>
          <p:cNvSpPr txBox="1"/>
          <p:nvPr/>
        </p:nvSpPr>
        <p:spPr>
          <a:xfrm>
            <a:off x="7552944" y="4023360"/>
            <a:ext cx="1481328" cy="1828800"/>
          </a:xfrm>
          <a:prstGeom prst="rect">
            <a:avLst/>
          </a:prstGeom>
          <a:noFill/>
        </p:spPr>
        <p:txBody>
          <a:bodyPr wrap="square" lIns="0" rIns="0" tIns="0" bIns="0" anchor="t">
            <a:spAutoFit/>
          </a:bodyPr>
          <a:lstStyle/>
          <a:p>
            <a:pPr algn="l"/>
            <a:r>
              <a:rPr sz="1000" b="0">
                <a:solidFill>
                  <a:srgbClr val="888379"/>
                </a:solidFill>
                <a:latin typeface="Calibri"/>
              </a:rPr>
              <a:t>Saves "Lisbon mild · 6d" capsule. Shares with her mother who's joining the trip.</a:t>
            </a:r>
          </a:p>
        </p:txBody>
      </p:sp>
      <p:sp>
        <p:nvSpPr>
          <p:cNvPr id="30" name="Right Arrow 29"/>
          <p:cNvSpPr/>
          <p:nvPr/>
        </p:nvSpPr>
        <p:spPr>
          <a:xfrm>
            <a:off x="9308592" y="4069080"/>
            <a:ext cx="228600" cy="365760"/>
          </a:xfrm>
          <a:prstGeom prst="rightArrow">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582912" y="2560320"/>
            <a:ext cx="1938528" cy="338328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582912" y="2560320"/>
            <a:ext cx="1938528" cy="50292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65792" y="2606040"/>
            <a:ext cx="1572768" cy="411480"/>
          </a:xfrm>
          <a:prstGeom prst="rect">
            <a:avLst/>
          </a:prstGeom>
          <a:noFill/>
        </p:spPr>
        <p:txBody>
          <a:bodyPr wrap="square" lIns="0" rIns="0" tIns="0" bIns="0" anchor="ctr">
            <a:spAutoFit/>
          </a:bodyPr>
          <a:lstStyle/>
          <a:p>
            <a:pPr algn="l"/>
            <a:r>
              <a:rPr sz="1100" b="1">
                <a:solidFill>
                  <a:srgbClr val="FFFFFF"/>
                </a:solidFill>
                <a:latin typeface="Calibri"/>
              </a:rPr>
              <a:t>WEAR</a:t>
            </a:r>
          </a:p>
        </p:txBody>
      </p:sp>
      <p:sp>
        <p:nvSpPr>
          <p:cNvPr id="34" name="TextBox 33"/>
          <p:cNvSpPr txBox="1"/>
          <p:nvPr/>
        </p:nvSpPr>
        <p:spPr>
          <a:xfrm>
            <a:off x="9811512" y="3246120"/>
            <a:ext cx="1481328" cy="640080"/>
          </a:xfrm>
          <a:prstGeom prst="rect">
            <a:avLst/>
          </a:prstGeom>
          <a:noFill/>
        </p:spPr>
        <p:txBody>
          <a:bodyPr wrap="square" lIns="0" rIns="0" tIns="0" bIns="0" anchor="t">
            <a:spAutoFit/>
          </a:bodyPr>
          <a:lstStyle/>
          <a:p>
            <a:pPr algn="l"/>
            <a:r>
              <a:rPr sz="1300" b="1">
                <a:solidFill>
                  <a:srgbClr val="2B2A26"/>
                </a:solidFill>
                <a:latin typeface="Calibri"/>
              </a:rPr>
              <a:t>Daily outfit suggestion</a:t>
            </a:r>
          </a:p>
        </p:txBody>
      </p:sp>
      <p:sp>
        <p:nvSpPr>
          <p:cNvPr id="35" name="TextBox 34"/>
          <p:cNvSpPr txBox="1"/>
          <p:nvPr/>
        </p:nvSpPr>
        <p:spPr>
          <a:xfrm>
            <a:off x="9811512" y="4023360"/>
            <a:ext cx="1481328" cy="1828800"/>
          </a:xfrm>
          <a:prstGeom prst="rect">
            <a:avLst/>
          </a:prstGeom>
          <a:noFill/>
        </p:spPr>
        <p:txBody>
          <a:bodyPr wrap="square" lIns="0" rIns="0" tIns="0" bIns="0" anchor="t">
            <a:spAutoFit/>
          </a:bodyPr>
          <a:lstStyle/>
          <a:p>
            <a:pPr algn="l"/>
            <a:r>
              <a:rPr sz="1000" b="0">
                <a:solidFill>
                  <a:srgbClr val="888379"/>
                </a:solidFill>
                <a:latin typeface="Calibri"/>
              </a:rPr>
              <a:t>Each morning in Lisbon, app suggests the day's outfit based on weather. Same Chrysalis Cardi worn 3 different ways across 6 days.</a:t>
            </a:r>
          </a:p>
        </p:txBody>
      </p:sp>
      <p:sp>
        <p:nvSpPr>
          <p:cNvPr id="36" name="TextBox 35"/>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37" name="TextBox 36"/>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VISUAL REFERENCE</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What it looks like in hand.</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88379"/>
                </a:solidFill>
                <a:latin typeface="Calibri"/>
              </a:rPr>
              <a:t>Wireframe-fidelity mockups in the brand palette — warm cream, sage, caramel, terracotta.</a:t>
            </a:r>
          </a:p>
        </p:txBody>
      </p:sp>
      <p:sp>
        <p:nvSpPr>
          <p:cNvPr id="7" name="Rounded Rectangle 6"/>
          <p:cNvSpPr/>
          <p:nvPr/>
        </p:nvSpPr>
        <p:spPr>
          <a:xfrm>
            <a:off x="548640" y="2468880"/>
            <a:ext cx="2103120" cy="1828800"/>
          </a:xfrm>
          <a:prstGeom prst="roundRect">
            <a:avLst>
              <a:gd name="adj" fmla="val 12000"/>
            </a:avLst>
          </a:prstGeom>
          <a:solidFill>
            <a:srgbClr val="2B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560320"/>
            <a:ext cx="1920240" cy="1645920"/>
          </a:xfrm>
          <a:prstGeom prst="roundRect">
            <a:avLst>
              <a:gd name="adj" fmla="val 12000"/>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2560320"/>
            <a:ext cx="1920240" cy="36576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587752"/>
            <a:ext cx="1737360" cy="320040"/>
          </a:xfrm>
          <a:prstGeom prst="rect">
            <a:avLst/>
          </a:prstGeom>
          <a:noFill/>
        </p:spPr>
        <p:txBody>
          <a:bodyPr wrap="square" lIns="0" rIns="0" tIns="0" bIns="0" anchor="ctr">
            <a:spAutoFit/>
          </a:bodyPr>
          <a:lstStyle/>
          <a:p>
            <a:pPr algn="l"/>
            <a:r>
              <a:rPr sz="1000" b="1">
                <a:solidFill>
                  <a:srgbClr val="FFFFFF"/>
                </a:solidFill>
                <a:latin typeface="Calibri"/>
              </a:rPr>
              <a:t>Onboarding</a:t>
            </a:r>
          </a:p>
        </p:txBody>
      </p:sp>
      <p:sp>
        <p:nvSpPr>
          <p:cNvPr id="11" name="TextBox 10"/>
          <p:cNvSpPr txBox="1"/>
          <p:nvPr/>
        </p:nvSpPr>
        <p:spPr>
          <a:xfrm>
            <a:off x="731520" y="3108960"/>
            <a:ext cx="1737360" cy="1097280"/>
          </a:xfrm>
          <a:prstGeom prst="rect">
            <a:avLst/>
          </a:prstGeom>
          <a:noFill/>
        </p:spPr>
        <p:txBody>
          <a:bodyPr wrap="square" lIns="0" rIns="0" tIns="0" bIns="0" anchor="t">
            <a:spAutoFit/>
          </a:bodyPr>
          <a:lstStyle/>
          <a:p>
            <a:pPr algn="l"/>
            <a:r>
              <a:rPr sz="1000" b="0">
                <a:solidFill>
                  <a:srgbClr val="888379"/>
                </a:solidFill>
                <a:latin typeface="Calibri"/>
              </a:rPr>
              <a:t>EN/FR · sign-in</a:t>
            </a:r>
          </a:p>
        </p:txBody>
      </p:sp>
      <p:sp>
        <p:nvSpPr>
          <p:cNvPr id="12" name="Rounded Rectangle 11"/>
          <p:cNvSpPr/>
          <p:nvPr/>
        </p:nvSpPr>
        <p:spPr>
          <a:xfrm>
            <a:off x="2788920" y="2468880"/>
            <a:ext cx="2103120" cy="1828800"/>
          </a:xfrm>
          <a:prstGeom prst="roundRect">
            <a:avLst>
              <a:gd name="adj" fmla="val 12000"/>
            </a:avLst>
          </a:prstGeom>
          <a:solidFill>
            <a:srgbClr val="2B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80360" y="2560320"/>
            <a:ext cx="1920240" cy="1645920"/>
          </a:xfrm>
          <a:prstGeom prst="roundRect">
            <a:avLst>
              <a:gd name="adj" fmla="val 12000"/>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80360" y="2560320"/>
            <a:ext cx="1920240" cy="36576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71800" y="2587752"/>
            <a:ext cx="1737360" cy="320040"/>
          </a:xfrm>
          <a:prstGeom prst="rect">
            <a:avLst/>
          </a:prstGeom>
          <a:noFill/>
        </p:spPr>
        <p:txBody>
          <a:bodyPr wrap="square" lIns="0" rIns="0" tIns="0" bIns="0" anchor="ctr">
            <a:spAutoFit/>
          </a:bodyPr>
          <a:lstStyle/>
          <a:p>
            <a:pPr algn="l"/>
            <a:r>
              <a:rPr sz="1000" b="1">
                <a:solidFill>
                  <a:srgbClr val="FFFFFF"/>
                </a:solidFill>
                <a:latin typeface="Calibri"/>
              </a:rPr>
              <a:t>Home</a:t>
            </a:r>
          </a:p>
        </p:txBody>
      </p:sp>
      <p:sp>
        <p:nvSpPr>
          <p:cNvPr id="16" name="TextBox 15"/>
          <p:cNvSpPr txBox="1"/>
          <p:nvPr/>
        </p:nvSpPr>
        <p:spPr>
          <a:xfrm>
            <a:off x="2971800" y="3108960"/>
            <a:ext cx="1737360" cy="1097280"/>
          </a:xfrm>
          <a:prstGeom prst="rect">
            <a:avLst/>
          </a:prstGeom>
          <a:noFill/>
        </p:spPr>
        <p:txBody>
          <a:bodyPr wrap="square" lIns="0" rIns="0" tIns="0" bIns="0" anchor="t">
            <a:spAutoFit/>
          </a:bodyPr>
          <a:lstStyle/>
          <a:p>
            <a:pPr algn="l"/>
            <a:r>
              <a:rPr sz="1000" b="0">
                <a:solidFill>
                  <a:srgbClr val="888379"/>
                </a:solidFill>
                <a:latin typeface="Calibri"/>
              </a:rPr>
              <a:t>Style of the week + drops</a:t>
            </a:r>
          </a:p>
        </p:txBody>
      </p:sp>
      <p:sp>
        <p:nvSpPr>
          <p:cNvPr id="17" name="Rounded Rectangle 16"/>
          <p:cNvSpPr/>
          <p:nvPr/>
        </p:nvSpPr>
        <p:spPr>
          <a:xfrm>
            <a:off x="5029200" y="2468880"/>
            <a:ext cx="2103120" cy="1828800"/>
          </a:xfrm>
          <a:prstGeom prst="roundRect">
            <a:avLst>
              <a:gd name="adj" fmla="val 12000"/>
            </a:avLst>
          </a:prstGeom>
          <a:solidFill>
            <a:srgbClr val="2B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20640" y="2560320"/>
            <a:ext cx="1920240" cy="1645920"/>
          </a:xfrm>
          <a:prstGeom prst="roundRect">
            <a:avLst>
              <a:gd name="adj" fmla="val 12000"/>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0" y="2560320"/>
            <a:ext cx="1920240" cy="36576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2080" y="2587752"/>
            <a:ext cx="1737360" cy="320040"/>
          </a:xfrm>
          <a:prstGeom prst="rect">
            <a:avLst/>
          </a:prstGeom>
          <a:noFill/>
        </p:spPr>
        <p:txBody>
          <a:bodyPr wrap="square" lIns="0" rIns="0" tIns="0" bIns="0" anchor="ctr">
            <a:spAutoFit/>
          </a:bodyPr>
          <a:lstStyle/>
          <a:p>
            <a:pPr algn="l"/>
            <a:r>
              <a:rPr sz="1000" b="1">
                <a:solidFill>
                  <a:srgbClr val="FFFFFF"/>
                </a:solidFill>
                <a:latin typeface="Calibri"/>
              </a:rPr>
              <a:t>The Many</a:t>
            </a:r>
          </a:p>
        </p:txBody>
      </p:sp>
      <p:sp>
        <p:nvSpPr>
          <p:cNvPr id="21" name="TextBox 20"/>
          <p:cNvSpPr txBox="1"/>
          <p:nvPr/>
        </p:nvSpPr>
        <p:spPr>
          <a:xfrm>
            <a:off x="5212080" y="3108960"/>
            <a:ext cx="1737360" cy="1097280"/>
          </a:xfrm>
          <a:prstGeom prst="rect">
            <a:avLst/>
          </a:prstGeom>
          <a:noFill/>
        </p:spPr>
        <p:txBody>
          <a:bodyPr wrap="square" lIns="0" rIns="0" tIns="0" bIns="0" anchor="t">
            <a:spAutoFit/>
          </a:bodyPr>
          <a:lstStyle/>
          <a:p>
            <a:pPr algn="l"/>
            <a:r>
              <a:rPr sz="1000" b="0">
                <a:solidFill>
                  <a:srgbClr val="888379"/>
                </a:solidFill>
                <a:latin typeface="Calibri"/>
              </a:rPr>
              <a:t>8 ways to wear</a:t>
            </a:r>
          </a:p>
        </p:txBody>
      </p:sp>
      <p:sp>
        <p:nvSpPr>
          <p:cNvPr id="22" name="Rounded Rectangle 21"/>
          <p:cNvSpPr/>
          <p:nvPr/>
        </p:nvSpPr>
        <p:spPr>
          <a:xfrm>
            <a:off x="7269480" y="2468880"/>
            <a:ext cx="2103120" cy="1828800"/>
          </a:xfrm>
          <a:prstGeom prst="roundRect">
            <a:avLst>
              <a:gd name="adj" fmla="val 12000"/>
            </a:avLst>
          </a:prstGeom>
          <a:solidFill>
            <a:srgbClr val="2B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60920" y="2560320"/>
            <a:ext cx="1920240" cy="1645920"/>
          </a:xfrm>
          <a:prstGeom prst="roundRect">
            <a:avLst>
              <a:gd name="adj" fmla="val 12000"/>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60920" y="2560320"/>
            <a:ext cx="1920240" cy="36576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52360" y="2587752"/>
            <a:ext cx="1737360" cy="320040"/>
          </a:xfrm>
          <a:prstGeom prst="rect">
            <a:avLst/>
          </a:prstGeom>
          <a:noFill/>
        </p:spPr>
        <p:txBody>
          <a:bodyPr wrap="square" lIns="0" rIns="0" tIns="0" bIns="0" anchor="ctr">
            <a:spAutoFit/>
          </a:bodyPr>
          <a:lstStyle/>
          <a:p>
            <a:pPr algn="l"/>
            <a:r>
              <a:rPr sz="1000" b="1">
                <a:solidFill>
                  <a:srgbClr val="FFFFFF"/>
                </a:solidFill>
                <a:latin typeface="Calibri"/>
              </a:rPr>
              <a:t>Wardrobe</a:t>
            </a:r>
          </a:p>
        </p:txBody>
      </p:sp>
      <p:sp>
        <p:nvSpPr>
          <p:cNvPr id="26" name="TextBox 25"/>
          <p:cNvSpPr txBox="1"/>
          <p:nvPr/>
        </p:nvSpPr>
        <p:spPr>
          <a:xfrm>
            <a:off x="7452360" y="3108960"/>
            <a:ext cx="1737360" cy="1097280"/>
          </a:xfrm>
          <a:prstGeom prst="rect">
            <a:avLst/>
          </a:prstGeom>
          <a:noFill/>
        </p:spPr>
        <p:txBody>
          <a:bodyPr wrap="square" lIns="0" rIns="0" tIns="0" bIns="0" anchor="t">
            <a:spAutoFit/>
          </a:bodyPr>
          <a:lstStyle/>
          <a:p>
            <a:pPr algn="l"/>
            <a:r>
              <a:rPr sz="1000" b="0">
                <a:solidFill>
                  <a:srgbClr val="888379"/>
                </a:solidFill>
                <a:latin typeface="Calibri"/>
              </a:rPr>
              <a:t>Multi-way unlocks · CPW</a:t>
            </a:r>
          </a:p>
        </p:txBody>
      </p:sp>
      <p:sp>
        <p:nvSpPr>
          <p:cNvPr id="27" name="Rounded Rectangle 26"/>
          <p:cNvSpPr/>
          <p:nvPr/>
        </p:nvSpPr>
        <p:spPr>
          <a:xfrm>
            <a:off x="9509760" y="2468880"/>
            <a:ext cx="2103120" cy="1828800"/>
          </a:xfrm>
          <a:prstGeom prst="roundRect">
            <a:avLst>
              <a:gd name="adj" fmla="val 12000"/>
            </a:avLst>
          </a:prstGeom>
          <a:solidFill>
            <a:srgbClr val="2B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601200" y="2560320"/>
            <a:ext cx="1920240" cy="1645920"/>
          </a:xfrm>
          <a:prstGeom prst="roundRect">
            <a:avLst>
              <a:gd name="adj" fmla="val 12000"/>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01200" y="2560320"/>
            <a:ext cx="1920240" cy="36576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0" y="2587752"/>
            <a:ext cx="1737360" cy="320040"/>
          </a:xfrm>
          <a:prstGeom prst="rect">
            <a:avLst/>
          </a:prstGeom>
          <a:noFill/>
        </p:spPr>
        <p:txBody>
          <a:bodyPr wrap="square" lIns="0" rIns="0" tIns="0" bIns="0" anchor="ctr">
            <a:spAutoFit/>
          </a:bodyPr>
          <a:lstStyle/>
          <a:p>
            <a:pPr algn="l"/>
            <a:r>
              <a:rPr sz="1000" b="1">
                <a:solidFill>
                  <a:srgbClr val="FFFFFF"/>
                </a:solidFill>
                <a:latin typeface="Calibri"/>
              </a:rPr>
              <a:t>Product</a:t>
            </a:r>
          </a:p>
        </p:txBody>
      </p:sp>
      <p:sp>
        <p:nvSpPr>
          <p:cNvPr id="31" name="TextBox 30"/>
          <p:cNvSpPr txBox="1"/>
          <p:nvPr/>
        </p:nvSpPr>
        <p:spPr>
          <a:xfrm>
            <a:off x="9692640" y="3108960"/>
            <a:ext cx="1737360" cy="1097280"/>
          </a:xfrm>
          <a:prstGeom prst="rect">
            <a:avLst/>
          </a:prstGeom>
          <a:noFill/>
        </p:spPr>
        <p:txBody>
          <a:bodyPr wrap="square" lIns="0" rIns="0" tIns="0" bIns="0" anchor="t">
            <a:spAutoFit/>
          </a:bodyPr>
          <a:lstStyle/>
          <a:p>
            <a:pPr algn="l"/>
            <a:r>
              <a:rPr sz="1000" b="0">
                <a:solidFill>
                  <a:srgbClr val="888379"/>
                </a:solidFill>
                <a:latin typeface="Calibri"/>
              </a:rPr>
              <a:t>8 ways · lifetime repair</a:t>
            </a:r>
          </a:p>
        </p:txBody>
      </p:sp>
      <p:sp>
        <p:nvSpPr>
          <p:cNvPr id="32" name="Rounded Rectangle 31"/>
          <p:cNvSpPr/>
          <p:nvPr/>
        </p:nvSpPr>
        <p:spPr>
          <a:xfrm>
            <a:off x="548640" y="4526280"/>
            <a:ext cx="2103120" cy="1828800"/>
          </a:xfrm>
          <a:prstGeom prst="roundRect">
            <a:avLst>
              <a:gd name="adj" fmla="val 12000"/>
            </a:avLst>
          </a:prstGeom>
          <a:solidFill>
            <a:srgbClr val="2B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40080" y="4617720"/>
            <a:ext cx="1920240" cy="1645920"/>
          </a:xfrm>
          <a:prstGeom prst="roundRect">
            <a:avLst>
              <a:gd name="adj" fmla="val 12000"/>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0080" y="4617720"/>
            <a:ext cx="1920240" cy="36576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645152"/>
            <a:ext cx="1737360" cy="320040"/>
          </a:xfrm>
          <a:prstGeom prst="rect">
            <a:avLst/>
          </a:prstGeom>
          <a:noFill/>
        </p:spPr>
        <p:txBody>
          <a:bodyPr wrap="square" lIns="0" rIns="0" tIns="0" bIns="0" anchor="ctr">
            <a:spAutoFit/>
          </a:bodyPr>
          <a:lstStyle/>
          <a:p>
            <a:pPr algn="l"/>
            <a:r>
              <a:rPr sz="1000" b="1">
                <a:solidFill>
                  <a:srgbClr val="FFFFFF"/>
                </a:solidFill>
                <a:latin typeface="Calibri"/>
              </a:rPr>
              <a:t>Capsule</a:t>
            </a:r>
          </a:p>
        </p:txBody>
      </p:sp>
      <p:sp>
        <p:nvSpPr>
          <p:cNvPr id="36" name="TextBox 35"/>
          <p:cNvSpPr txBox="1"/>
          <p:nvPr/>
        </p:nvSpPr>
        <p:spPr>
          <a:xfrm>
            <a:off x="731520" y="5166360"/>
            <a:ext cx="1737360" cy="1097280"/>
          </a:xfrm>
          <a:prstGeom prst="rect">
            <a:avLst/>
          </a:prstGeom>
          <a:noFill/>
        </p:spPr>
        <p:txBody>
          <a:bodyPr wrap="square" lIns="0" rIns="0" tIns="0" bIns="0" anchor="t">
            <a:spAutoFit/>
          </a:bodyPr>
          <a:lstStyle/>
          <a:p>
            <a:pPr algn="l"/>
            <a:r>
              <a:rPr sz="1000" b="0">
                <a:solidFill>
                  <a:srgbClr val="888379"/>
                </a:solidFill>
                <a:latin typeface="Calibri"/>
              </a:rPr>
              <a:t>Trip-built outfit set</a:t>
            </a:r>
          </a:p>
        </p:txBody>
      </p:sp>
      <p:sp>
        <p:nvSpPr>
          <p:cNvPr id="37" name="Rounded Rectangle 36"/>
          <p:cNvSpPr/>
          <p:nvPr/>
        </p:nvSpPr>
        <p:spPr>
          <a:xfrm>
            <a:off x="2788920" y="4526280"/>
            <a:ext cx="2103120" cy="1828800"/>
          </a:xfrm>
          <a:prstGeom prst="roundRect">
            <a:avLst>
              <a:gd name="adj" fmla="val 12000"/>
            </a:avLst>
          </a:prstGeom>
          <a:solidFill>
            <a:srgbClr val="2B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880360" y="4617720"/>
            <a:ext cx="1920240" cy="1645920"/>
          </a:xfrm>
          <a:prstGeom prst="roundRect">
            <a:avLst>
              <a:gd name="adj" fmla="val 12000"/>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880360" y="4617720"/>
            <a:ext cx="1920240" cy="36576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71800" y="4645152"/>
            <a:ext cx="1737360" cy="320040"/>
          </a:xfrm>
          <a:prstGeom prst="rect">
            <a:avLst/>
          </a:prstGeom>
          <a:noFill/>
        </p:spPr>
        <p:txBody>
          <a:bodyPr wrap="square" lIns="0" rIns="0" tIns="0" bIns="0" anchor="ctr">
            <a:spAutoFit/>
          </a:bodyPr>
          <a:lstStyle/>
          <a:p>
            <a:pPr algn="l"/>
            <a:r>
              <a:rPr sz="1000" b="1">
                <a:solidFill>
                  <a:srgbClr val="FFFFFF"/>
                </a:solidFill>
                <a:latin typeface="Calibri"/>
              </a:rPr>
              <a:t>Atelier</a:t>
            </a:r>
          </a:p>
        </p:txBody>
      </p:sp>
      <p:sp>
        <p:nvSpPr>
          <p:cNvPr id="41" name="TextBox 40"/>
          <p:cNvSpPr txBox="1"/>
          <p:nvPr/>
        </p:nvSpPr>
        <p:spPr>
          <a:xfrm>
            <a:off x="2971800" y="5166360"/>
            <a:ext cx="1737360" cy="1097280"/>
          </a:xfrm>
          <a:prstGeom prst="rect">
            <a:avLst/>
          </a:prstGeom>
          <a:noFill/>
        </p:spPr>
        <p:txBody>
          <a:bodyPr wrap="square" lIns="0" rIns="0" tIns="0" bIns="0" anchor="t">
            <a:spAutoFit/>
          </a:bodyPr>
          <a:lstStyle/>
          <a:p>
            <a:pPr algn="l"/>
            <a:r>
              <a:rPr sz="1000" b="0">
                <a:solidFill>
                  <a:srgbClr val="888379"/>
                </a:solidFill>
                <a:latin typeface="Calibri"/>
              </a:rPr>
              <a:t>Repair flow</a:t>
            </a:r>
          </a:p>
        </p:txBody>
      </p:sp>
      <p:sp>
        <p:nvSpPr>
          <p:cNvPr id="42" name="Rounded Rectangle 41"/>
          <p:cNvSpPr/>
          <p:nvPr/>
        </p:nvSpPr>
        <p:spPr>
          <a:xfrm>
            <a:off x="5029200" y="4526280"/>
            <a:ext cx="2103120" cy="1828800"/>
          </a:xfrm>
          <a:prstGeom prst="roundRect">
            <a:avLst>
              <a:gd name="adj" fmla="val 12000"/>
            </a:avLst>
          </a:prstGeom>
          <a:solidFill>
            <a:srgbClr val="2B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5120640" y="4617720"/>
            <a:ext cx="1920240" cy="1645920"/>
          </a:xfrm>
          <a:prstGeom prst="roundRect">
            <a:avLst>
              <a:gd name="adj" fmla="val 12000"/>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120640" y="4617720"/>
            <a:ext cx="1920240" cy="36576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12080" y="4645152"/>
            <a:ext cx="1737360" cy="320040"/>
          </a:xfrm>
          <a:prstGeom prst="rect">
            <a:avLst/>
          </a:prstGeom>
          <a:noFill/>
        </p:spPr>
        <p:txBody>
          <a:bodyPr wrap="square" lIns="0" rIns="0" tIns="0" bIns="0" anchor="ctr">
            <a:spAutoFit/>
          </a:bodyPr>
          <a:lstStyle/>
          <a:p>
            <a:pPr algn="l"/>
            <a:r>
              <a:rPr sz="1000" b="1">
                <a:solidFill>
                  <a:srgbClr val="FFFFFF"/>
                </a:solidFill>
                <a:latin typeface="Calibri"/>
              </a:rPr>
              <a:t>Atelier chat</a:t>
            </a:r>
          </a:p>
        </p:txBody>
      </p:sp>
      <p:sp>
        <p:nvSpPr>
          <p:cNvPr id="46" name="TextBox 45"/>
          <p:cNvSpPr txBox="1"/>
          <p:nvPr/>
        </p:nvSpPr>
        <p:spPr>
          <a:xfrm>
            <a:off x="5212080" y="5166360"/>
            <a:ext cx="1737360" cy="1097280"/>
          </a:xfrm>
          <a:prstGeom prst="rect">
            <a:avLst/>
          </a:prstGeom>
          <a:noFill/>
        </p:spPr>
        <p:txBody>
          <a:bodyPr wrap="square" lIns="0" rIns="0" tIns="0" bIns="0" anchor="t">
            <a:spAutoFit/>
          </a:bodyPr>
          <a:lstStyle/>
          <a:p>
            <a:pPr algn="l"/>
            <a:r>
              <a:rPr sz="1000" b="0">
                <a:solidFill>
                  <a:srgbClr val="888379"/>
                </a:solidFill>
                <a:latin typeface="Calibri"/>
              </a:rPr>
              <a:t>Multilingual fit + style</a:t>
            </a:r>
          </a:p>
        </p:txBody>
      </p:sp>
      <p:sp>
        <p:nvSpPr>
          <p:cNvPr id="47" name="Rounded Rectangle 46"/>
          <p:cNvSpPr/>
          <p:nvPr/>
        </p:nvSpPr>
        <p:spPr>
          <a:xfrm>
            <a:off x="7269480" y="4526280"/>
            <a:ext cx="2103120" cy="1828800"/>
          </a:xfrm>
          <a:prstGeom prst="roundRect">
            <a:avLst>
              <a:gd name="adj" fmla="val 12000"/>
            </a:avLst>
          </a:prstGeom>
          <a:solidFill>
            <a:srgbClr val="2B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7360920" y="4617720"/>
            <a:ext cx="1920240" cy="1645920"/>
          </a:xfrm>
          <a:prstGeom prst="roundRect">
            <a:avLst>
              <a:gd name="adj" fmla="val 12000"/>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360920" y="4617720"/>
            <a:ext cx="1920240" cy="36576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52360" y="4645152"/>
            <a:ext cx="1737360" cy="320040"/>
          </a:xfrm>
          <a:prstGeom prst="rect">
            <a:avLst/>
          </a:prstGeom>
          <a:noFill/>
        </p:spPr>
        <p:txBody>
          <a:bodyPr wrap="square" lIns="0" rIns="0" tIns="0" bIns="0" anchor="ctr">
            <a:spAutoFit/>
          </a:bodyPr>
          <a:lstStyle/>
          <a:p>
            <a:pPr algn="l"/>
            <a:r>
              <a:rPr sz="1000" b="1">
                <a:solidFill>
                  <a:srgbClr val="FFFFFF"/>
                </a:solidFill>
                <a:latin typeface="Calibri"/>
              </a:rPr>
              <a:t>Profile</a:t>
            </a:r>
          </a:p>
        </p:txBody>
      </p:sp>
      <p:sp>
        <p:nvSpPr>
          <p:cNvPr id="51" name="TextBox 50"/>
          <p:cNvSpPr txBox="1"/>
          <p:nvPr/>
        </p:nvSpPr>
        <p:spPr>
          <a:xfrm>
            <a:off x="7452360" y="5166360"/>
            <a:ext cx="1737360" cy="1097280"/>
          </a:xfrm>
          <a:prstGeom prst="rect">
            <a:avLst/>
          </a:prstGeom>
          <a:noFill/>
        </p:spPr>
        <p:txBody>
          <a:bodyPr wrap="square" lIns="0" rIns="0" tIns="0" bIns="0" anchor="t">
            <a:spAutoFit/>
          </a:bodyPr>
          <a:lstStyle/>
          <a:p>
            <a:pPr algn="l"/>
            <a:r>
              <a:rPr sz="1000" b="0">
                <a:solidFill>
                  <a:srgbClr val="888379"/>
                </a:solidFill>
                <a:latin typeface="Calibri"/>
              </a:rPr>
              <a:t>Data · privacy</a:t>
            </a:r>
          </a:p>
        </p:txBody>
      </p:sp>
      <p:sp>
        <p:nvSpPr>
          <p:cNvPr id="52" name="TextBox 51"/>
          <p:cNvSpPr txBox="1"/>
          <p:nvPr/>
        </p:nvSpPr>
        <p:spPr>
          <a:xfrm>
            <a:off x="548640" y="6400800"/>
            <a:ext cx="10972800" cy="365760"/>
          </a:xfrm>
          <a:prstGeom prst="rect">
            <a:avLst/>
          </a:prstGeom>
          <a:noFill/>
        </p:spPr>
        <p:txBody>
          <a:bodyPr wrap="square" lIns="0" rIns="0" tIns="0" bIns="0" anchor="t">
            <a:spAutoFit/>
          </a:bodyPr>
          <a:lstStyle/>
          <a:p>
            <a:pPr algn="l"/>
            <a:r>
              <a:rPr sz="1000" b="0">
                <a:solidFill>
                  <a:srgbClr val="5D6E54"/>
                </a:solidFill>
                <a:latin typeface="Calibri"/>
              </a:rPr>
              <a:t>Full interactive HTML mockup available — opens in any browser.</a:t>
            </a:r>
          </a:p>
        </p:txBody>
      </p:sp>
      <p:sp>
        <p:nvSpPr>
          <p:cNvPr id="53" name="TextBox 52"/>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54" name="TextBox 53"/>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INTELLIGENCE · TIER 1</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AI in service of multi-way design and lifetime repair.</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88379"/>
                </a:solidFill>
                <a:latin typeface="Calibri"/>
              </a:rPr>
              <a:t>Every Tier 1 feature unlocks value the customer already paid for.</a:t>
            </a:r>
          </a:p>
        </p:txBody>
      </p:sp>
      <p:sp>
        <p:nvSpPr>
          <p:cNvPr id="7" name="Rounded Rectangle 6"/>
          <p:cNvSpPr/>
          <p:nvPr/>
        </p:nvSpPr>
        <p:spPr>
          <a:xfrm>
            <a:off x="548640" y="2651760"/>
            <a:ext cx="5486400" cy="914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880360"/>
            <a:ext cx="457200" cy="457200"/>
          </a:xfrm>
          <a:prstGeom prst="roundRect">
            <a:avLst>
              <a:gd name="adj" fmla="val 12000"/>
            </a:avLst>
          </a:prstGeom>
          <a:solidFill>
            <a:srgbClr val="ECD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880360"/>
            <a:ext cx="457200" cy="457200"/>
          </a:xfrm>
          <a:prstGeom prst="rect">
            <a:avLst/>
          </a:prstGeom>
          <a:noFill/>
        </p:spPr>
        <p:txBody>
          <a:bodyPr wrap="square" lIns="0" rIns="0" tIns="0" bIns="0" anchor="ctr">
            <a:spAutoFit/>
          </a:bodyPr>
          <a:lstStyle/>
          <a:p>
            <a:pPr algn="ctr"/>
            <a:r>
              <a:rPr sz="1800" b="0">
                <a:solidFill>
                  <a:srgbClr val="5D6E54"/>
                </a:solidFill>
                <a:latin typeface="Georgia"/>
              </a:rPr>
              <a:t>✦</a:t>
            </a:r>
          </a:p>
        </p:txBody>
      </p:sp>
      <p:sp>
        <p:nvSpPr>
          <p:cNvPr id="10" name="TextBox 9"/>
          <p:cNvSpPr txBox="1"/>
          <p:nvPr/>
        </p:nvSpPr>
        <p:spPr>
          <a:xfrm>
            <a:off x="1325880" y="2788920"/>
            <a:ext cx="4480560" cy="365760"/>
          </a:xfrm>
          <a:prstGeom prst="rect">
            <a:avLst/>
          </a:prstGeom>
          <a:noFill/>
        </p:spPr>
        <p:txBody>
          <a:bodyPr wrap="square" lIns="0" rIns="0" tIns="0" bIns="0" anchor="t">
            <a:spAutoFit/>
          </a:bodyPr>
          <a:lstStyle/>
          <a:p>
            <a:pPr algn="l"/>
            <a:r>
              <a:rPr sz="1400" b="1">
                <a:solidFill>
                  <a:srgbClr val="2B2A26"/>
                </a:solidFill>
                <a:latin typeface="Calibri"/>
              </a:rPr>
              <a:t>Multi-way styler chat</a:t>
            </a:r>
          </a:p>
        </p:txBody>
      </p:sp>
      <p:sp>
        <p:nvSpPr>
          <p:cNvPr id="11" name="TextBox 10"/>
          <p:cNvSpPr txBox="1"/>
          <p:nvPr/>
        </p:nvSpPr>
        <p:spPr>
          <a:xfrm>
            <a:off x="1325880" y="3108960"/>
            <a:ext cx="4480560" cy="457200"/>
          </a:xfrm>
          <a:prstGeom prst="rect">
            <a:avLst/>
          </a:prstGeom>
          <a:noFill/>
        </p:spPr>
        <p:txBody>
          <a:bodyPr wrap="square" lIns="0" rIns="0" tIns="0" bIns="0" anchor="t">
            <a:spAutoFit/>
          </a:bodyPr>
          <a:lstStyle/>
          <a:p>
            <a:pPr algn="l"/>
            <a:r>
              <a:rPr sz="1100" b="0">
                <a:solidFill>
                  <a:srgbClr val="888379"/>
                </a:solidFill>
                <a:latin typeface="Calibri"/>
              </a:rPr>
              <a:t>Recognise a piece from photo, walk through the brand's documented styles.</a:t>
            </a:r>
          </a:p>
        </p:txBody>
      </p:sp>
      <p:sp>
        <p:nvSpPr>
          <p:cNvPr id="12" name="Rounded Rectangle 11"/>
          <p:cNvSpPr/>
          <p:nvPr/>
        </p:nvSpPr>
        <p:spPr>
          <a:xfrm>
            <a:off x="6172200" y="2651760"/>
            <a:ext cx="5486400" cy="914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0" y="2880360"/>
            <a:ext cx="457200" cy="457200"/>
          </a:xfrm>
          <a:prstGeom prst="roundRect">
            <a:avLst>
              <a:gd name="adj" fmla="val 12000"/>
            </a:avLst>
          </a:prstGeom>
          <a:solidFill>
            <a:srgbClr val="ECD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880360"/>
            <a:ext cx="457200" cy="457200"/>
          </a:xfrm>
          <a:prstGeom prst="rect">
            <a:avLst/>
          </a:prstGeom>
          <a:noFill/>
        </p:spPr>
        <p:txBody>
          <a:bodyPr wrap="square" lIns="0" rIns="0" tIns="0" bIns="0" anchor="ctr">
            <a:spAutoFit/>
          </a:bodyPr>
          <a:lstStyle/>
          <a:p>
            <a:pPr algn="ctr"/>
            <a:r>
              <a:rPr sz="1800" b="0">
                <a:solidFill>
                  <a:srgbClr val="5D6E54"/>
                </a:solidFill>
                <a:latin typeface="Georgia"/>
              </a:rPr>
              <a:t>✦</a:t>
            </a:r>
          </a:p>
        </p:txBody>
      </p:sp>
      <p:sp>
        <p:nvSpPr>
          <p:cNvPr id="15" name="TextBox 14"/>
          <p:cNvSpPr txBox="1"/>
          <p:nvPr/>
        </p:nvSpPr>
        <p:spPr>
          <a:xfrm>
            <a:off x="6949440" y="2788920"/>
            <a:ext cx="4480560" cy="365760"/>
          </a:xfrm>
          <a:prstGeom prst="rect">
            <a:avLst/>
          </a:prstGeom>
          <a:noFill/>
        </p:spPr>
        <p:txBody>
          <a:bodyPr wrap="square" lIns="0" rIns="0" tIns="0" bIns="0" anchor="t">
            <a:spAutoFit/>
          </a:bodyPr>
          <a:lstStyle/>
          <a:p>
            <a:pPr algn="l"/>
            <a:r>
              <a:rPr sz="1400" b="1">
                <a:solidFill>
                  <a:srgbClr val="2B2A26"/>
                </a:solidFill>
                <a:latin typeface="Calibri"/>
              </a:rPr>
              <a:t>Capsule builder</a:t>
            </a:r>
          </a:p>
        </p:txBody>
      </p:sp>
      <p:sp>
        <p:nvSpPr>
          <p:cNvPr id="16" name="TextBox 15"/>
          <p:cNvSpPr txBox="1"/>
          <p:nvPr/>
        </p:nvSpPr>
        <p:spPr>
          <a:xfrm>
            <a:off x="6949440" y="3108960"/>
            <a:ext cx="4480560" cy="457200"/>
          </a:xfrm>
          <a:prstGeom prst="rect">
            <a:avLst/>
          </a:prstGeom>
          <a:noFill/>
        </p:spPr>
        <p:txBody>
          <a:bodyPr wrap="square" lIns="0" rIns="0" tIns="0" bIns="0" anchor="t">
            <a:spAutoFit/>
          </a:bodyPr>
          <a:lstStyle/>
          <a:p>
            <a:pPr algn="l"/>
            <a:r>
              <a:rPr sz="1100" b="0">
                <a:solidFill>
                  <a:srgbClr val="888379"/>
                </a:solidFill>
                <a:latin typeface="Calibri"/>
              </a:rPr>
              <a:t>Destination + length + weather → capsule from owned pieces with pack-light score.</a:t>
            </a:r>
          </a:p>
        </p:txBody>
      </p:sp>
      <p:sp>
        <p:nvSpPr>
          <p:cNvPr id="17" name="Rounded Rectangle 16"/>
          <p:cNvSpPr/>
          <p:nvPr/>
        </p:nvSpPr>
        <p:spPr>
          <a:xfrm>
            <a:off x="548640" y="3703320"/>
            <a:ext cx="5486400" cy="914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 y="3931920"/>
            <a:ext cx="457200" cy="457200"/>
          </a:xfrm>
          <a:prstGeom prst="roundRect">
            <a:avLst>
              <a:gd name="adj" fmla="val 12000"/>
            </a:avLst>
          </a:prstGeom>
          <a:solidFill>
            <a:srgbClr val="ECD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931920"/>
            <a:ext cx="457200" cy="457200"/>
          </a:xfrm>
          <a:prstGeom prst="rect">
            <a:avLst/>
          </a:prstGeom>
          <a:noFill/>
        </p:spPr>
        <p:txBody>
          <a:bodyPr wrap="square" lIns="0" rIns="0" tIns="0" bIns="0" anchor="ctr">
            <a:spAutoFit/>
          </a:bodyPr>
          <a:lstStyle/>
          <a:p>
            <a:pPr algn="ctr"/>
            <a:r>
              <a:rPr sz="1800" b="0">
                <a:solidFill>
                  <a:srgbClr val="5D6E54"/>
                </a:solidFill>
                <a:latin typeface="Georgia"/>
              </a:rPr>
              <a:t>✦</a:t>
            </a:r>
          </a:p>
        </p:txBody>
      </p:sp>
      <p:sp>
        <p:nvSpPr>
          <p:cNvPr id="20" name="TextBox 19"/>
          <p:cNvSpPr txBox="1"/>
          <p:nvPr/>
        </p:nvSpPr>
        <p:spPr>
          <a:xfrm>
            <a:off x="1325880" y="3840480"/>
            <a:ext cx="4480560" cy="365760"/>
          </a:xfrm>
          <a:prstGeom prst="rect">
            <a:avLst/>
          </a:prstGeom>
          <a:noFill/>
        </p:spPr>
        <p:txBody>
          <a:bodyPr wrap="square" lIns="0" rIns="0" tIns="0" bIns="0" anchor="t">
            <a:spAutoFit/>
          </a:bodyPr>
          <a:lstStyle/>
          <a:p>
            <a:pPr algn="l"/>
            <a:r>
              <a:rPr sz="1400" b="1">
                <a:solidFill>
                  <a:srgbClr val="2B2A26"/>
                </a:solidFill>
                <a:latin typeface="Calibri"/>
              </a:rPr>
              <a:t>Atelier care + fit chat</a:t>
            </a:r>
          </a:p>
        </p:txBody>
      </p:sp>
      <p:sp>
        <p:nvSpPr>
          <p:cNvPr id="21" name="TextBox 20"/>
          <p:cNvSpPr txBox="1"/>
          <p:nvPr/>
        </p:nvSpPr>
        <p:spPr>
          <a:xfrm>
            <a:off x="1325880" y="4160520"/>
            <a:ext cx="4480560" cy="457200"/>
          </a:xfrm>
          <a:prstGeom prst="rect">
            <a:avLst/>
          </a:prstGeom>
          <a:noFill/>
        </p:spPr>
        <p:txBody>
          <a:bodyPr wrap="square" lIns="0" rIns="0" tIns="0" bIns="0" anchor="t">
            <a:spAutoFit/>
          </a:bodyPr>
          <a:lstStyle/>
          <a:p>
            <a:pPr algn="l"/>
            <a:r>
              <a:rPr sz="1100" b="0">
                <a:solidFill>
                  <a:srgbClr val="888379"/>
                </a:solidFill>
                <a:latin typeface="Calibri"/>
              </a:rPr>
              <a:t>Multilingual EN/FR with past-order context.</a:t>
            </a:r>
          </a:p>
        </p:txBody>
      </p:sp>
      <p:sp>
        <p:nvSpPr>
          <p:cNvPr id="22" name="Rounded Rectangle 21"/>
          <p:cNvSpPr/>
          <p:nvPr/>
        </p:nvSpPr>
        <p:spPr>
          <a:xfrm>
            <a:off x="6172200" y="3703320"/>
            <a:ext cx="5486400" cy="914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00800" y="3931920"/>
            <a:ext cx="457200" cy="457200"/>
          </a:xfrm>
          <a:prstGeom prst="roundRect">
            <a:avLst>
              <a:gd name="adj" fmla="val 12000"/>
            </a:avLst>
          </a:prstGeom>
          <a:solidFill>
            <a:srgbClr val="ECD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931920"/>
            <a:ext cx="457200" cy="457200"/>
          </a:xfrm>
          <a:prstGeom prst="rect">
            <a:avLst/>
          </a:prstGeom>
          <a:noFill/>
        </p:spPr>
        <p:txBody>
          <a:bodyPr wrap="square" lIns="0" rIns="0" tIns="0" bIns="0" anchor="ctr">
            <a:spAutoFit/>
          </a:bodyPr>
          <a:lstStyle/>
          <a:p>
            <a:pPr algn="ctr"/>
            <a:r>
              <a:rPr sz="1800" b="0">
                <a:solidFill>
                  <a:srgbClr val="5D6E54"/>
                </a:solidFill>
                <a:latin typeface="Georgia"/>
              </a:rPr>
              <a:t>✦</a:t>
            </a:r>
          </a:p>
        </p:txBody>
      </p:sp>
      <p:sp>
        <p:nvSpPr>
          <p:cNvPr id="25" name="TextBox 24"/>
          <p:cNvSpPr txBox="1"/>
          <p:nvPr/>
        </p:nvSpPr>
        <p:spPr>
          <a:xfrm>
            <a:off x="6949440" y="3840480"/>
            <a:ext cx="4480560" cy="365760"/>
          </a:xfrm>
          <a:prstGeom prst="rect">
            <a:avLst/>
          </a:prstGeom>
          <a:noFill/>
        </p:spPr>
        <p:txBody>
          <a:bodyPr wrap="square" lIns="0" rIns="0" tIns="0" bIns="0" anchor="t">
            <a:spAutoFit/>
          </a:bodyPr>
          <a:lstStyle/>
          <a:p>
            <a:pPr algn="l"/>
            <a:r>
              <a:rPr sz="1400" b="1">
                <a:solidFill>
                  <a:srgbClr val="2B2A26"/>
                </a:solidFill>
                <a:latin typeface="Calibri"/>
              </a:rPr>
              <a:t>Repair triage (basic)</a:t>
            </a:r>
          </a:p>
        </p:txBody>
      </p:sp>
      <p:sp>
        <p:nvSpPr>
          <p:cNvPr id="26" name="TextBox 25"/>
          <p:cNvSpPr txBox="1"/>
          <p:nvPr/>
        </p:nvSpPr>
        <p:spPr>
          <a:xfrm>
            <a:off x="6949440" y="4160520"/>
            <a:ext cx="4480560" cy="457200"/>
          </a:xfrm>
          <a:prstGeom prst="rect">
            <a:avLst/>
          </a:prstGeom>
          <a:noFill/>
        </p:spPr>
        <p:txBody>
          <a:bodyPr wrap="square" lIns="0" rIns="0" tIns="0" bIns="0" anchor="t">
            <a:spAutoFit/>
          </a:bodyPr>
          <a:lstStyle/>
          <a:p>
            <a:pPr algn="l"/>
            <a:r>
              <a:rPr sz="1100" b="0">
                <a:solidFill>
                  <a:srgbClr val="888379"/>
                </a:solidFill>
                <a:latin typeface="Calibri"/>
              </a:rPr>
              <a:t>Vision classification routes DIY vs atelier.</a:t>
            </a:r>
          </a:p>
        </p:txBody>
      </p:sp>
      <p:sp>
        <p:nvSpPr>
          <p:cNvPr id="27" name="Rounded Rectangle 26"/>
          <p:cNvSpPr/>
          <p:nvPr/>
        </p:nvSpPr>
        <p:spPr>
          <a:xfrm>
            <a:off x="548640" y="4754880"/>
            <a:ext cx="5486400" cy="914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4983480"/>
            <a:ext cx="457200" cy="457200"/>
          </a:xfrm>
          <a:prstGeom prst="roundRect">
            <a:avLst>
              <a:gd name="adj" fmla="val 12000"/>
            </a:avLst>
          </a:prstGeom>
          <a:solidFill>
            <a:srgbClr val="ECD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983480"/>
            <a:ext cx="457200" cy="457200"/>
          </a:xfrm>
          <a:prstGeom prst="rect">
            <a:avLst/>
          </a:prstGeom>
          <a:noFill/>
        </p:spPr>
        <p:txBody>
          <a:bodyPr wrap="square" lIns="0" rIns="0" tIns="0" bIns="0" anchor="ctr">
            <a:spAutoFit/>
          </a:bodyPr>
          <a:lstStyle/>
          <a:p>
            <a:pPr algn="ctr"/>
            <a:r>
              <a:rPr sz="1800" b="0">
                <a:solidFill>
                  <a:srgbClr val="5D6E54"/>
                </a:solidFill>
                <a:latin typeface="Georgia"/>
              </a:rPr>
              <a:t>✦</a:t>
            </a:r>
          </a:p>
        </p:txBody>
      </p:sp>
      <p:sp>
        <p:nvSpPr>
          <p:cNvPr id="30" name="TextBox 29"/>
          <p:cNvSpPr txBox="1"/>
          <p:nvPr/>
        </p:nvSpPr>
        <p:spPr>
          <a:xfrm>
            <a:off x="1325880" y="4892040"/>
            <a:ext cx="4480560" cy="365760"/>
          </a:xfrm>
          <a:prstGeom prst="rect">
            <a:avLst/>
          </a:prstGeom>
          <a:noFill/>
        </p:spPr>
        <p:txBody>
          <a:bodyPr wrap="square" lIns="0" rIns="0" tIns="0" bIns="0" anchor="t">
            <a:spAutoFit/>
          </a:bodyPr>
          <a:lstStyle/>
          <a:p>
            <a:pPr algn="l"/>
            <a:r>
              <a:rPr sz="1400" b="1">
                <a:solidFill>
                  <a:srgbClr val="2B2A26"/>
                </a:solidFill>
                <a:latin typeface="Calibri"/>
              </a:rPr>
              <a:t>Multilingual brand-voice translation</a:t>
            </a:r>
          </a:p>
        </p:txBody>
      </p:sp>
      <p:sp>
        <p:nvSpPr>
          <p:cNvPr id="31" name="TextBox 30"/>
          <p:cNvSpPr txBox="1"/>
          <p:nvPr/>
        </p:nvSpPr>
        <p:spPr>
          <a:xfrm>
            <a:off x="1325880" y="5212080"/>
            <a:ext cx="4480560" cy="457200"/>
          </a:xfrm>
          <a:prstGeom prst="rect">
            <a:avLst/>
          </a:prstGeom>
          <a:noFill/>
        </p:spPr>
        <p:txBody>
          <a:bodyPr wrap="square" lIns="0" rIns="0" tIns="0" bIns="0" anchor="t">
            <a:spAutoFit/>
          </a:bodyPr>
          <a:lstStyle/>
          <a:p>
            <a:pPr algn="l"/>
            <a:r>
              <a:rPr sz="1100" b="0">
                <a:solidFill>
                  <a:srgbClr val="888379"/>
                </a:solidFill>
                <a:latin typeface="Calibri"/>
              </a:rPr>
              <a:t>EN-first; Claude drafts FR; brand glossary preserves Chrysalis, Atelier, Loops.</a:t>
            </a:r>
          </a:p>
        </p:txBody>
      </p:sp>
      <p:sp>
        <p:nvSpPr>
          <p:cNvPr id="32" name="Rounded Rectangle 31"/>
          <p:cNvSpPr/>
          <p:nvPr/>
        </p:nvSpPr>
        <p:spPr>
          <a:xfrm>
            <a:off x="6172200" y="4754880"/>
            <a:ext cx="5486400" cy="914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400800" y="4983480"/>
            <a:ext cx="457200" cy="457200"/>
          </a:xfrm>
          <a:prstGeom prst="roundRect">
            <a:avLst>
              <a:gd name="adj" fmla="val 12000"/>
            </a:avLst>
          </a:prstGeom>
          <a:solidFill>
            <a:srgbClr val="ECD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4983480"/>
            <a:ext cx="457200" cy="457200"/>
          </a:xfrm>
          <a:prstGeom prst="rect">
            <a:avLst/>
          </a:prstGeom>
          <a:noFill/>
        </p:spPr>
        <p:txBody>
          <a:bodyPr wrap="square" lIns="0" rIns="0" tIns="0" bIns="0" anchor="ctr">
            <a:spAutoFit/>
          </a:bodyPr>
          <a:lstStyle/>
          <a:p>
            <a:pPr algn="ctr"/>
            <a:r>
              <a:rPr sz="1800" b="0">
                <a:solidFill>
                  <a:srgbClr val="5D6E54"/>
                </a:solidFill>
                <a:latin typeface="Georgia"/>
              </a:rPr>
              <a:t>✦</a:t>
            </a:r>
          </a:p>
        </p:txBody>
      </p:sp>
      <p:sp>
        <p:nvSpPr>
          <p:cNvPr id="35" name="TextBox 34"/>
          <p:cNvSpPr txBox="1"/>
          <p:nvPr/>
        </p:nvSpPr>
        <p:spPr>
          <a:xfrm>
            <a:off x="6949440" y="4892040"/>
            <a:ext cx="4480560" cy="365760"/>
          </a:xfrm>
          <a:prstGeom prst="rect">
            <a:avLst/>
          </a:prstGeom>
          <a:noFill/>
        </p:spPr>
        <p:txBody>
          <a:bodyPr wrap="square" lIns="0" rIns="0" tIns="0" bIns="0" anchor="t">
            <a:spAutoFit/>
          </a:bodyPr>
          <a:lstStyle/>
          <a:p>
            <a:pPr algn="l"/>
            <a:r>
              <a:rPr sz="1400" b="1">
                <a:solidFill>
                  <a:srgbClr val="2B2A26"/>
                </a:solidFill>
                <a:latin typeface="Calibri"/>
              </a:rPr>
              <a:t>Wardrobe-gap analyser</a:t>
            </a:r>
          </a:p>
        </p:txBody>
      </p:sp>
      <p:sp>
        <p:nvSpPr>
          <p:cNvPr id="36" name="TextBox 35"/>
          <p:cNvSpPr txBox="1"/>
          <p:nvPr/>
        </p:nvSpPr>
        <p:spPr>
          <a:xfrm>
            <a:off x="6949440" y="5212080"/>
            <a:ext cx="4480560" cy="457200"/>
          </a:xfrm>
          <a:prstGeom prst="rect">
            <a:avLst/>
          </a:prstGeom>
          <a:noFill/>
        </p:spPr>
        <p:txBody>
          <a:bodyPr wrap="square" lIns="0" rIns="0" tIns="0" bIns="0" anchor="t">
            <a:spAutoFit/>
          </a:bodyPr>
          <a:lstStyle/>
          <a:p>
            <a:pPr algn="l"/>
            <a:r>
              <a:rPr sz="1100" b="0">
                <a:solidFill>
                  <a:srgbClr val="888379"/>
                </a:solidFill>
                <a:latin typeface="Calibri"/>
              </a:rPr>
              <a:t>"You're missing a black wide-leg for travel" — recommends from your real wardrobe.</a:t>
            </a:r>
          </a:p>
        </p:txBody>
      </p:sp>
      <p:sp>
        <p:nvSpPr>
          <p:cNvPr id="37" name="TextBox 36"/>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38" name="TextBox 37"/>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INTELLIGENCE · TIER 2 &amp; 3</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AI that powers AR, repair triage, and the back office.</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88379"/>
                </a:solidFill>
                <a:latin typeface="Calibri"/>
              </a:rPr>
              <a:t>Phase 2 customer-facing AI plus operational AI the customer never sees.</a:t>
            </a:r>
          </a:p>
        </p:txBody>
      </p:sp>
      <p:sp>
        <p:nvSpPr>
          <p:cNvPr id="7" name="Rounded Rectangle 6"/>
          <p:cNvSpPr/>
          <p:nvPr/>
        </p:nvSpPr>
        <p:spPr>
          <a:xfrm>
            <a:off x="548640" y="2651760"/>
            <a:ext cx="5486400" cy="914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880360"/>
            <a:ext cx="457200" cy="457200"/>
          </a:xfrm>
          <a:prstGeom prst="roundRect">
            <a:avLst>
              <a:gd name="adj" fmla="val 12000"/>
            </a:avLst>
          </a:prstGeom>
          <a:solidFill>
            <a:srgbClr val="ECD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880360"/>
            <a:ext cx="457200" cy="457200"/>
          </a:xfrm>
          <a:prstGeom prst="rect">
            <a:avLst/>
          </a:prstGeom>
          <a:noFill/>
        </p:spPr>
        <p:txBody>
          <a:bodyPr wrap="square" lIns="0" rIns="0" tIns="0" bIns="0" anchor="ctr">
            <a:spAutoFit/>
          </a:bodyPr>
          <a:lstStyle/>
          <a:p>
            <a:pPr algn="ctr"/>
            <a:r>
              <a:rPr sz="1800" b="0">
                <a:solidFill>
                  <a:srgbClr val="5D6E54"/>
                </a:solidFill>
                <a:latin typeface="Georgia"/>
              </a:rPr>
              <a:t>✦</a:t>
            </a:r>
          </a:p>
        </p:txBody>
      </p:sp>
      <p:sp>
        <p:nvSpPr>
          <p:cNvPr id="10" name="TextBox 9"/>
          <p:cNvSpPr txBox="1"/>
          <p:nvPr/>
        </p:nvSpPr>
        <p:spPr>
          <a:xfrm>
            <a:off x="1325880" y="2788920"/>
            <a:ext cx="4480560" cy="365760"/>
          </a:xfrm>
          <a:prstGeom prst="rect">
            <a:avLst/>
          </a:prstGeom>
          <a:noFill/>
        </p:spPr>
        <p:txBody>
          <a:bodyPr wrap="square" lIns="0" rIns="0" tIns="0" bIns="0" anchor="t">
            <a:spAutoFit/>
          </a:bodyPr>
          <a:lstStyle/>
          <a:p>
            <a:pPr algn="l"/>
            <a:r>
              <a:rPr sz="1400" b="1">
                <a:solidFill>
                  <a:srgbClr val="2B2A26"/>
                </a:solidFill>
                <a:latin typeface="Calibri"/>
              </a:rPr>
              <a:t>AR multi-way preview</a:t>
            </a:r>
          </a:p>
        </p:txBody>
      </p:sp>
      <p:sp>
        <p:nvSpPr>
          <p:cNvPr id="11" name="TextBox 10"/>
          <p:cNvSpPr txBox="1"/>
          <p:nvPr/>
        </p:nvSpPr>
        <p:spPr>
          <a:xfrm>
            <a:off x="1325880" y="3108960"/>
            <a:ext cx="4480560" cy="457200"/>
          </a:xfrm>
          <a:prstGeom prst="rect">
            <a:avLst/>
          </a:prstGeom>
          <a:noFill/>
        </p:spPr>
        <p:txBody>
          <a:bodyPr wrap="square" lIns="0" rIns="0" tIns="0" bIns="0" anchor="t">
            <a:spAutoFit/>
          </a:bodyPr>
          <a:lstStyle/>
          <a:p>
            <a:pPr algn="l"/>
            <a:r>
              <a:rPr sz="1100" b="0">
                <a:solidFill>
                  <a:srgbClr val="888379"/>
                </a:solidFill>
                <a:latin typeface="Calibri"/>
              </a:rPr>
              <a:t>Phone camera shows a Chrysalis style on a body silhouette.</a:t>
            </a:r>
          </a:p>
        </p:txBody>
      </p:sp>
      <p:sp>
        <p:nvSpPr>
          <p:cNvPr id="12" name="Rounded Rectangle 11"/>
          <p:cNvSpPr/>
          <p:nvPr/>
        </p:nvSpPr>
        <p:spPr>
          <a:xfrm>
            <a:off x="6172200" y="2651760"/>
            <a:ext cx="5486400" cy="914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0" y="2880360"/>
            <a:ext cx="457200" cy="457200"/>
          </a:xfrm>
          <a:prstGeom prst="roundRect">
            <a:avLst>
              <a:gd name="adj" fmla="val 12000"/>
            </a:avLst>
          </a:prstGeom>
          <a:solidFill>
            <a:srgbClr val="ECD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880360"/>
            <a:ext cx="457200" cy="457200"/>
          </a:xfrm>
          <a:prstGeom prst="rect">
            <a:avLst/>
          </a:prstGeom>
          <a:noFill/>
        </p:spPr>
        <p:txBody>
          <a:bodyPr wrap="square" lIns="0" rIns="0" tIns="0" bIns="0" anchor="ctr">
            <a:spAutoFit/>
          </a:bodyPr>
          <a:lstStyle/>
          <a:p>
            <a:pPr algn="ctr"/>
            <a:r>
              <a:rPr sz="1800" b="0">
                <a:solidFill>
                  <a:srgbClr val="5D6E54"/>
                </a:solidFill>
                <a:latin typeface="Georgia"/>
              </a:rPr>
              <a:t>✦</a:t>
            </a:r>
          </a:p>
        </p:txBody>
      </p:sp>
      <p:sp>
        <p:nvSpPr>
          <p:cNvPr id="15" name="TextBox 14"/>
          <p:cNvSpPr txBox="1"/>
          <p:nvPr/>
        </p:nvSpPr>
        <p:spPr>
          <a:xfrm>
            <a:off x="6949440" y="2788920"/>
            <a:ext cx="4480560" cy="365760"/>
          </a:xfrm>
          <a:prstGeom prst="rect">
            <a:avLst/>
          </a:prstGeom>
          <a:noFill/>
        </p:spPr>
        <p:txBody>
          <a:bodyPr wrap="square" lIns="0" rIns="0" tIns="0" bIns="0" anchor="t">
            <a:spAutoFit/>
          </a:bodyPr>
          <a:lstStyle/>
          <a:p>
            <a:pPr algn="l"/>
            <a:r>
              <a:rPr sz="1400" b="1">
                <a:solidFill>
                  <a:srgbClr val="2B2A26"/>
                </a:solidFill>
                <a:latin typeface="Calibri"/>
              </a:rPr>
              <a:t>Vision-based fit check</a:t>
            </a:r>
          </a:p>
        </p:txBody>
      </p:sp>
      <p:sp>
        <p:nvSpPr>
          <p:cNvPr id="16" name="TextBox 15"/>
          <p:cNvSpPr txBox="1"/>
          <p:nvPr/>
        </p:nvSpPr>
        <p:spPr>
          <a:xfrm>
            <a:off x="6949440" y="3108960"/>
            <a:ext cx="4480560" cy="457200"/>
          </a:xfrm>
          <a:prstGeom prst="rect">
            <a:avLst/>
          </a:prstGeom>
          <a:noFill/>
        </p:spPr>
        <p:txBody>
          <a:bodyPr wrap="square" lIns="0" rIns="0" tIns="0" bIns="0" anchor="t">
            <a:spAutoFit/>
          </a:bodyPr>
          <a:lstStyle/>
          <a:p>
            <a:pPr algn="l"/>
            <a:r>
              <a:rPr sz="1100" b="0">
                <a:solidFill>
                  <a:srgbClr val="888379"/>
                </a:solidFill>
                <a:latin typeface="Calibri"/>
              </a:rPr>
              <a:t>Mirror photo → fit feedback (waistband, length, drape).</a:t>
            </a:r>
          </a:p>
        </p:txBody>
      </p:sp>
      <p:sp>
        <p:nvSpPr>
          <p:cNvPr id="17" name="Rounded Rectangle 16"/>
          <p:cNvSpPr/>
          <p:nvPr/>
        </p:nvSpPr>
        <p:spPr>
          <a:xfrm>
            <a:off x="548640" y="3703320"/>
            <a:ext cx="5486400" cy="914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 y="3931920"/>
            <a:ext cx="457200" cy="457200"/>
          </a:xfrm>
          <a:prstGeom prst="roundRect">
            <a:avLst>
              <a:gd name="adj" fmla="val 12000"/>
            </a:avLst>
          </a:prstGeom>
          <a:solidFill>
            <a:srgbClr val="ECD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931920"/>
            <a:ext cx="457200" cy="457200"/>
          </a:xfrm>
          <a:prstGeom prst="rect">
            <a:avLst/>
          </a:prstGeom>
          <a:noFill/>
        </p:spPr>
        <p:txBody>
          <a:bodyPr wrap="square" lIns="0" rIns="0" tIns="0" bIns="0" anchor="ctr">
            <a:spAutoFit/>
          </a:bodyPr>
          <a:lstStyle/>
          <a:p>
            <a:pPr algn="ctr"/>
            <a:r>
              <a:rPr sz="1800" b="0">
                <a:solidFill>
                  <a:srgbClr val="5D6E54"/>
                </a:solidFill>
                <a:latin typeface="Georgia"/>
              </a:rPr>
              <a:t>✦</a:t>
            </a:r>
          </a:p>
        </p:txBody>
      </p:sp>
      <p:sp>
        <p:nvSpPr>
          <p:cNvPr id="20" name="TextBox 19"/>
          <p:cNvSpPr txBox="1"/>
          <p:nvPr/>
        </p:nvSpPr>
        <p:spPr>
          <a:xfrm>
            <a:off x="1325880" y="3840480"/>
            <a:ext cx="4480560" cy="365760"/>
          </a:xfrm>
          <a:prstGeom prst="rect">
            <a:avLst/>
          </a:prstGeom>
          <a:noFill/>
        </p:spPr>
        <p:txBody>
          <a:bodyPr wrap="square" lIns="0" rIns="0" tIns="0" bIns="0" anchor="t">
            <a:spAutoFit/>
          </a:bodyPr>
          <a:lstStyle/>
          <a:p>
            <a:pPr algn="l"/>
            <a:r>
              <a:rPr sz="1400" b="1">
                <a:solidFill>
                  <a:srgbClr val="2B2A26"/>
                </a:solidFill>
                <a:latin typeface="Calibri"/>
              </a:rPr>
              <a:t>Photo-based repair triage (advanced)</a:t>
            </a:r>
          </a:p>
        </p:txBody>
      </p:sp>
      <p:sp>
        <p:nvSpPr>
          <p:cNvPr id="21" name="TextBox 20"/>
          <p:cNvSpPr txBox="1"/>
          <p:nvPr/>
        </p:nvSpPr>
        <p:spPr>
          <a:xfrm>
            <a:off x="1325880" y="4160520"/>
            <a:ext cx="4480560" cy="457200"/>
          </a:xfrm>
          <a:prstGeom prst="rect">
            <a:avLst/>
          </a:prstGeom>
          <a:noFill/>
        </p:spPr>
        <p:txBody>
          <a:bodyPr wrap="square" lIns="0" rIns="0" tIns="0" bIns="0" anchor="t">
            <a:spAutoFit/>
          </a:bodyPr>
          <a:lstStyle/>
          <a:p>
            <a:pPr algn="l"/>
            <a:r>
              <a:rPr sz="1100" b="0">
                <a:solidFill>
                  <a:srgbClr val="888379"/>
                </a:solidFill>
                <a:latin typeface="Calibri"/>
              </a:rPr>
              <a:t>Damage classifier returns DIY guide or atelier quote with turnaround estimate.</a:t>
            </a:r>
          </a:p>
        </p:txBody>
      </p:sp>
      <p:sp>
        <p:nvSpPr>
          <p:cNvPr id="22" name="Rounded Rectangle 21"/>
          <p:cNvSpPr/>
          <p:nvPr/>
        </p:nvSpPr>
        <p:spPr>
          <a:xfrm>
            <a:off x="6172200" y="3703320"/>
            <a:ext cx="5486400" cy="914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00800" y="3931920"/>
            <a:ext cx="457200" cy="457200"/>
          </a:xfrm>
          <a:prstGeom prst="roundRect">
            <a:avLst>
              <a:gd name="adj" fmla="val 12000"/>
            </a:avLst>
          </a:prstGeom>
          <a:solidFill>
            <a:srgbClr val="ECD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931920"/>
            <a:ext cx="457200" cy="457200"/>
          </a:xfrm>
          <a:prstGeom prst="rect">
            <a:avLst/>
          </a:prstGeom>
          <a:noFill/>
        </p:spPr>
        <p:txBody>
          <a:bodyPr wrap="square" lIns="0" rIns="0" tIns="0" bIns="0" anchor="ctr">
            <a:spAutoFit/>
          </a:bodyPr>
          <a:lstStyle/>
          <a:p>
            <a:pPr algn="ctr"/>
            <a:r>
              <a:rPr sz="1800" b="0">
                <a:solidFill>
                  <a:srgbClr val="5D6E54"/>
                </a:solidFill>
                <a:latin typeface="Georgia"/>
              </a:rPr>
              <a:t>✦</a:t>
            </a:r>
          </a:p>
        </p:txBody>
      </p:sp>
      <p:sp>
        <p:nvSpPr>
          <p:cNvPr id="25" name="TextBox 24"/>
          <p:cNvSpPr txBox="1"/>
          <p:nvPr/>
        </p:nvSpPr>
        <p:spPr>
          <a:xfrm>
            <a:off x="6949440" y="3840480"/>
            <a:ext cx="4480560" cy="365760"/>
          </a:xfrm>
          <a:prstGeom prst="rect">
            <a:avLst/>
          </a:prstGeom>
          <a:noFill/>
        </p:spPr>
        <p:txBody>
          <a:bodyPr wrap="square" lIns="0" rIns="0" tIns="0" bIns="0" anchor="t">
            <a:spAutoFit/>
          </a:bodyPr>
          <a:lstStyle/>
          <a:p>
            <a:pPr algn="l"/>
            <a:r>
              <a:rPr sz="1400" b="1">
                <a:solidFill>
                  <a:srgbClr val="2B2A26"/>
                </a:solidFill>
                <a:latin typeface="Calibri"/>
              </a:rPr>
              <a:t>Returns triage</a:t>
            </a:r>
          </a:p>
        </p:txBody>
      </p:sp>
      <p:sp>
        <p:nvSpPr>
          <p:cNvPr id="26" name="TextBox 25"/>
          <p:cNvSpPr txBox="1"/>
          <p:nvPr/>
        </p:nvSpPr>
        <p:spPr>
          <a:xfrm>
            <a:off x="6949440" y="4160520"/>
            <a:ext cx="4480560" cy="457200"/>
          </a:xfrm>
          <a:prstGeom prst="rect">
            <a:avLst/>
          </a:prstGeom>
          <a:noFill/>
        </p:spPr>
        <p:txBody>
          <a:bodyPr wrap="square" lIns="0" rIns="0" tIns="0" bIns="0" anchor="t">
            <a:spAutoFit/>
          </a:bodyPr>
          <a:lstStyle/>
          <a:p>
            <a:pPr algn="l"/>
            <a:r>
              <a:rPr sz="1100" b="0">
                <a:solidFill>
                  <a:srgbClr val="888379"/>
                </a:solidFill>
                <a:latin typeface="Calibri"/>
              </a:rPr>
              <a:t>Fit-related vs damage-related routing.</a:t>
            </a:r>
          </a:p>
        </p:txBody>
      </p:sp>
      <p:sp>
        <p:nvSpPr>
          <p:cNvPr id="27" name="Rounded Rectangle 26"/>
          <p:cNvSpPr/>
          <p:nvPr/>
        </p:nvSpPr>
        <p:spPr>
          <a:xfrm>
            <a:off x="548640" y="4754880"/>
            <a:ext cx="5486400" cy="914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4983480"/>
            <a:ext cx="457200" cy="457200"/>
          </a:xfrm>
          <a:prstGeom prst="roundRect">
            <a:avLst>
              <a:gd name="adj" fmla="val 12000"/>
            </a:avLst>
          </a:prstGeom>
          <a:solidFill>
            <a:srgbClr val="ECD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983480"/>
            <a:ext cx="457200" cy="457200"/>
          </a:xfrm>
          <a:prstGeom prst="rect">
            <a:avLst/>
          </a:prstGeom>
          <a:noFill/>
        </p:spPr>
        <p:txBody>
          <a:bodyPr wrap="square" lIns="0" rIns="0" tIns="0" bIns="0" anchor="ctr">
            <a:spAutoFit/>
          </a:bodyPr>
          <a:lstStyle/>
          <a:p>
            <a:pPr algn="ctr"/>
            <a:r>
              <a:rPr sz="1800" b="0">
                <a:solidFill>
                  <a:srgbClr val="5D6E54"/>
                </a:solidFill>
                <a:latin typeface="Georgia"/>
              </a:rPr>
              <a:t>✦</a:t>
            </a:r>
          </a:p>
        </p:txBody>
      </p:sp>
      <p:sp>
        <p:nvSpPr>
          <p:cNvPr id="30" name="TextBox 29"/>
          <p:cNvSpPr txBox="1"/>
          <p:nvPr/>
        </p:nvSpPr>
        <p:spPr>
          <a:xfrm>
            <a:off x="1325880" y="4892040"/>
            <a:ext cx="4480560" cy="365760"/>
          </a:xfrm>
          <a:prstGeom prst="rect">
            <a:avLst/>
          </a:prstGeom>
          <a:noFill/>
        </p:spPr>
        <p:txBody>
          <a:bodyPr wrap="square" lIns="0" rIns="0" tIns="0" bIns="0" anchor="t">
            <a:spAutoFit/>
          </a:bodyPr>
          <a:lstStyle/>
          <a:p>
            <a:pPr algn="l"/>
            <a:r>
              <a:rPr sz="1400" b="1">
                <a:solidFill>
                  <a:srgbClr val="2B2A26"/>
                </a:solidFill>
                <a:latin typeface="Calibri"/>
              </a:rPr>
              <a:t>Demand-sensing AI</a:t>
            </a:r>
          </a:p>
        </p:txBody>
      </p:sp>
      <p:sp>
        <p:nvSpPr>
          <p:cNvPr id="31" name="TextBox 30"/>
          <p:cNvSpPr txBox="1"/>
          <p:nvPr/>
        </p:nvSpPr>
        <p:spPr>
          <a:xfrm>
            <a:off x="1325880" y="5212080"/>
            <a:ext cx="4480560" cy="457200"/>
          </a:xfrm>
          <a:prstGeom prst="rect">
            <a:avLst/>
          </a:prstGeom>
          <a:noFill/>
        </p:spPr>
        <p:txBody>
          <a:bodyPr wrap="square" lIns="0" rIns="0" tIns="0" bIns="0" anchor="t">
            <a:spAutoFit/>
          </a:bodyPr>
          <a:lstStyle/>
          <a:p>
            <a:pPr algn="l"/>
            <a:r>
              <a:rPr sz="1100" b="0">
                <a:solidFill>
                  <a:srgbClr val="888379"/>
                </a:solidFill>
                <a:latin typeface="Calibri"/>
              </a:rPr>
              <a:t>Wishlists + capsule signals feed small-collection planning.</a:t>
            </a:r>
          </a:p>
        </p:txBody>
      </p:sp>
      <p:sp>
        <p:nvSpPr>
          <p:cNvPr id="32" name="Rounded Rectangle 31"/>
          <p:cNvSpPr/>
          <p:nvPr/>
        </p:nvSpPr>
        <p:spPr>
          <a:xfrm>
            <a:off x="6172200" y="4754880"/>
            <a:ext cx="5486400" cy="914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400800" y="4983480"/>
            <a:ext cx="457200" cy="457200"/>
          </a:xfrm>
          <a:prstGeom prst="roundRect">
            <a:avLst>
              <a:gd name="adj" fmla="val 12000"/>
            </a:avLst>
          </a:prstGeom>
          <a:solidFill>
            <a:srgbClr val="ECD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4983480"/>
            <a:ext cx="457200" cy="457200"/>
          </a:xfrm>
          <a:prstGeom prst="rect">
            <a:avLst/>
          </a:prstGeom>
          <a:noFill/>
        </p:spPr>
        <p:txBody>
          <a:bodyPr wrap="square" lIns="0" rIns="0" tIns="0" bIns="0" anchor="ctr">
            <a:spAutoFit/>
          </a:bodyPr>
          <a:lstStyle/>
          <a:p>
            <a:pPr algn="ctr"/>
            <a:r>
              <a:rPr sz="1800" b="0">
                <a:solidFill>
                  <a:srgbClr val="5D6E54"/>
                </a:solidFill>
                <a:latin typeface="Georgia"/>
              </a:rPr>
              <a:t>✦</a:t>
            </a:r>
          </a:p>
        </p:txBody>
      </p:sp>
      <p:sp>
        <p:nvSpPr>
          <p:cNvPr id="35" name="TextBox 34"/>
          <p:cNvSpPr txBox="1"/>
          <p:nvPr/>
        </p:nvSpPr>
        <p:spPr>
          <a:xfrm>
            <a:off x="6949440" y="4892040"/>
            <a:ext cx="4480560" cy="365760"/>
          </a:xfrm>
          <a:prstGeom prst="rect">
            <a:avLst/>
          </a:prstGeom>
          <a:noFill/>
        </p:spPr>
        <p:txBody>
          <a:bodyPr wrap="square" lIns="0" rIns="0" tIns="0" bIns="0" anchor="t">
            <a:spAutoFit/>
          </a:bodyPr>
          <a:lstStyle/>
          <a:p>
            <a:pPr algn="l"/>
            <a:r>
              <a:rPr sz="1400" b="1">
                <a:solidFill>
                  <a:srgbClr val="2B2A26"/>
                </a:solidFill>
                <a:latin typeface="Calibri"/>
              </a:rPr>
              <a:t>Multilingual content scaling</a:t>
            </a:r>
          </a:p>
        </p:txBody>
      </p:sp>
      <p:sp>
        <p:nvSpPr>
          <p:cNvPr id="36" name="TextBox 35"/>
          <p:cNvSpPr txBox="1"/>
          <p:nvPr/>
        </p:nvSpPr>
        <p:spPr>
          <a:xfrm>
            <a:off x="6949440" y="5212080"/>
            <a:ext cx="4480560" cy="457200"/>
          </a:xfrm>
          <a:prstGeom prst="rect">
            <a:avLst/>
          </a:prstGeom>
          <a:noFill/>
        </p:spPr>
        <p:txBody>
          <a:bodyPr wrap="square" lIns="0" rIns="0" tIns="0" bIns="0" anchor="t">
            <a:spAutoFit/>
          </a:bodyPr>
          <a:lstStyle/>
          <a:p>
            <a:pPr algn="l"/>
            <a:r>
              <a:rPr sz="1100" b="0">
                <a:solidFill>
                  <a:srgbClr val="888379"/>
                </a:solidFill>
                <a:latin typeface="Calibri"/>
              </a:rPr>
              <a:t>EN-first, AI drafts FR/ES/IT/JP; editors approve.</a:t>
            </a:r>
          </a:p>
        </p:txBody>
      </p:sp>
      <p:sp>
        <p:nvSpPr>
          <p:cNvPr id="37" name="Rounded Rectangle 36"/>
          <p:cNvSpPr/>
          <p:nvPr/>
        </p:nvSpPr>
        <p:spPr>
          <a:xfrm>
            <a:off x="548640" y="5806440"/>
            <a:ext cx="5486400" cy="914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77240" y="6035040"/>
            <a:ext cx="457200" cy="457200"/>
          </a:xfrm>
          <a:prstGeom prst="roundRect">
            <a:avLst>
              <a:gd name="adj" fmla="val 12000"/>
            </a:avLst>
          </a:prstGeom>
          <a:solidFill>
            <a:srgbClr val="ECD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6035040"/>
            <a:ext cx="457200" cy="457200"/>
          </a:xfrm>
          <a:prstGeom prst="rect">
            <a:avLst/>
          </a:prstGeom>
          <a:noFill/>
        </p:spPr>
        <p:txBody>
          <a:bodyPr wrap="square" lIns="0" rIns="0" tIns="0" bIns="0" anchor="ctr">
            <a:spAutoFit/>
          </a:bodyPr>
          <a:lstStyle/>
          <a:p>
            <a:pPr algn="ctr"/>
            <a:r>
              <a:rPr sz="1800" b="0">
                <a:solidFill>
                  <a:srgbClr val="5D6E54"/>
                </a:solidFill>
                <a:latin typeface="Georgia"/>
              </a:rPr>
              <a:t>✦</a:t>
            </a:r>
          </a:p>
        </p:txBody>
      </p:sp>
      <p:sp>
        <p:nvSpPr>
          <p:cNvPr id="40" name="TextBox 39"/>
          <p:cNvSpPr txBox="1"/>
          <p:nvPr/>
        </p:nvSpPr>
        <p:spPr>
          <a:xfrm>
            <a:off x="1325880" y="5943600"/>
            <a:ext cx="4480560" cy="365760"/>
          </a:xfrm>
          <a:prstGeom prst="rect">
            <a:avLst/>
          </a:prstGeom>
          <a:noFill/>
        </p:spPr>
        <p:txBody>
          <a:bodyPr wrap="square" lIns="0" rIns="0" tIns="0" bIns="0" anchor="t">
            <a:spAutoFit/>
          </a:bodyPr>
          <a:lstStyle/>
          <a:p>
            <a:pPr algn="l"/>
            <a:r>
              <a:rPr sz="1400" b="1">
                <a:solidFill>
                  <a:srgbClr val="2B2A26"/>
                </a:solidFill>
                <a:latin typeface="Calibri"/>
              </a:rPr>
              <a:t>Multi-way library AI extension</a:t>
            </a:r>
          </a:p>
        </p:txBody>
      </p:sp>
      <p:sp>
        <p:nvSpPr>
          <p:cNvPr id="41" name="TextBox 40"/>
          <p:cNvSpPr txBox="1"/>
          <p:nvPr/>
        </p:nvSpPr>
        <p:spPr>
          <a:xfrm>
            <a:off x="1325880" y="6263640"/>
            <a:ext cx="4480560" cy="457200"/>
          </a:xfrm>
          <a:prstGeom prst="rect">
            <a:avLst/>
          </a:prstGeom>
          <a:noFill/>
        </p:spPr>
        <p:txBody>
          <a:bodyPr wrap="square" lIns="0" rIns="0" tIns="0" bIns="0" anchor="t">
            <a:spAutoFit/>
          </a:bodyPr>
          <a:lstStyle/>
          <a:p>
            <a:pPr algn="l"/>
            <a:r>
              <a:rPr sz="1100" b="0">
                <a:solidFill>
                  <a:srgbClr val="888379"/>
                </a:solidFill>
                <a:latin typeface="Calibri"/>
              </a:rPr>
              <a:t>AI proposes potential new styles for legacy pieces; founder review only.</a:t>
            </a:r>
          </a:p>
        </p:txBody>
      </p:sp>
      <p:sp>
        <p:nvSpPr>
          <p:cNvPr id="42" name="Rounded Rectangle 41"/>
          <p:cNvSpPr/>
          <p:nvPr/>
        </p:nvSpPr>
        <p:spPr>
          <a:xfrm>
            <a:off x="6172200" y="5806440"/>
            <a:ext cx="5486400" cy="9144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400800" y="6035040"/>
            <a:ext cx="457200" cy="457200"/>
          </a:xfrm>
          <a:prstGeom prst="roundRect">
            <a:avLst>
              <a:gd name="adj" fmla="val 12000"/>
            </a:avLst>
          </a:prstGeom>
          <a:solidFill>
            <a:srgbClr val="ECD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6035040"/>
            <a:ext cx="457200" cy="457200"/>
          </a:xfrm>
          <a:prstGeom prst="rect">
            <a:avLst/>
          </a:prstGeom>
          <a:noFill/>
        </p:spPr>
        <p:txBody>
          <a:bodyPr wrap="square" lIns="0" rIns="0" tIns="0" bIns="0" anchor="ctr">
            <a:spAutoFit/>
          </a:bodyPr>
          <a:lstStyle/>
          <a:p>
            <a:pPr algn="ctr"/>
            <a:r>
              <a:rPr sz="1800" b="0">
                <a:solidFill>
                  <a:srgbClr val="5D6E54"/>
                </a:solidFill>
                <a:latin typeface="Georgia"/>
              </a:rPr>
              <a:t>✦</a:t>
            </a:r>
          </a:p>
        </p:txBody>
      </p:sp>
      <p:sp>
        <p:nvSpPr>
          <p:cNvPr id="45" name="TextBox 44"/>
          <p:cNvSpPr txBox="1"/>
          <p:nvPr/>
        </p:nvSpPr>
        <p:spPr>
          <a:xfrm>
            <a:off x="6949440" y="5943600"/>
            <a:ext cx="4480560" cy="365760"/>
          </a:xfrm>
          <a:prstGeom prst="rect">
            <a:avLst/>
          </a:prstGeom>
          <a:noFill/>
        </p:spPr>
        <p:txBody>
          <a:bodyPr wrap="square" lIns="0" rIns="0" tIns="0" bIns="0" anchor="t">
            <a:spAutoFit/>
          </a:bodyPr>
          <a:lstStyle/>
          <a:p>
            <a:pPr algn="l"/>
            <a:r>
              <a:rPr sz="1400" b="1">
                <a:solidFill>
                  <a:srgbClr val="2B2A26"/>
                </a:solidFill>
                <a:latin typeface="Calibri"/>
              </a:rPr>
              <a:t>Counterfeit listing detection</a:t>
            </a:r>
          </a:p>
        </p:txBody>
      </p:sp>
      <p:sp>
        <p:nvSpPr>
          <p:cNvPr id="46" name="TextBox 45"/>
          <p:cNvSpPr txBox="1"/>
          <p:nvPr/>
        </p:nvSpPr>
        <p:spPr>
          <a:xfrm>
            <a:off x="6949440" y="6263640"/>
            <a:ext cx="4480560" cy="457200"/>
          </a:xfrm>
          <a:prstGeom prst="rect">
            <a:avLst/>
          </a:prstGeom>
          <a:noFill/>
        </p:spPr>
        <p:txBody>
          <a:bodyPr wrap="square" lIns="0" rIns="0" tIns="0" bIns="0" anchor="t">
            <a:spAutoFit/>
          </a:bodyPr>
          <a:lstStyle/>
          <a:p>
            <a:pPr algn="l"/>
            <a:r>
              <a:rPr sz="1100" b="0">
                <a:solidFill>
                  <a:srgbClr val="888379"/>
                </a:solidFill>
                <a:latin typeface="Calibri"/>
              </a:rPr>
              <a:t>Amazon / Poshmark / eBay.</a:t>
            </a:r>
          </a:p>
        </p:txBody>
      </p:sp>
      <p:sp>
        <p:nvSpPr>
          <p:cNvPr id="47" name="TextBox 46"/>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48" name="TextBox 47"/>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DATA WITH CONSENT</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What we collect — and what we won't.</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365760"/>
          </a:xfrm>
          <a:prstGeom prst="rect">
            <a:avLst/>
          </a:prstGeom>
          <a:noFill/>
        </p:spPr>
        <p:txBody>
          <a:bodyPr wrap="square" lIns="0" rIns="0" tIns="0" bIns="0" anchor="t">
            <a:spAutoFit/>
          </a:bodyPr>
          <a:lstStyle/>
          <a:p>
            <a:pPr algn="l"/>
            <a:r>
              <a:rPr sz="1400" b="0">
                <a:solidFill>
                  <a:srgbClr val="888379"/>
                </a:solidFill>
                <a:latin typeface="Calibri"/>
              </a:rPr>
              <a:t>Default to opt-in per category. A self-serve "what we know about you" screen, always.</a:t>
            </a:r>
          </a:p>
        </p:txBody>
      </p:sp>
      <p:sp>
        <p:nvSpPr>
          <p:cNvPr id="7" name="Rounded Rectangle 6"/>
          <p:cNvSpPr/>
          <p:nvPr/>
        </p:nvSpPr>
        <p:spPr>
          <a:xfrm>
            <a:off x="548640" y="2651760"/>
            <a:ext cx="5486400" cy="7772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2944368"/>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743200"/>
            <a:ext cx="4754880" cy="365760"/>
          </a:xfrm>
          <a:prstGeom prst="rect">
            <a:avLst/>
          </a:prstGeom>
          <a:noFill/>
        </p:spPr>
        <p:txBody>
          <a:bodyPr wrap="square" lIns="0" rIns="0" tIns="0" bIns="0" anchor="t">
            <a:spAutoFit/>
          </a:bodyPr>
          <a:lstStyle/>
          <a:p>
            <a:pPr algn="l"/>
            <a:r>
              <a:rPr sz="1300" b="1">
                <a:solidFill>
                  <a:srgbClr val="2B2A26"/>
                </a:solidFill>
                <a:latin typeface="Calibri"/>
              </a:rPr>
              <a:t>Identity &amp; contact</a:t>
            </a:r>
          </a:p>
        </p:txBody>
      </p:sp>
      <p:sp>
        <p:nvSpPr>
          <p:cNvPr id="10" name="TextBox 9"/>
          <p:cNvSpPr txBox="1"/>
          <p:nvPr/>
        </p:nvSpPr>
        <p:spPr>
          <a:xfrm>
            <a:off x="1097280" y="3035808"/>
            <a:ext cx="4754880" cy="365760"/>
          </a:xfrm>
          <a:prstGeom prst="rect">
            <a:avLst/>
          </a:prstGeom>
          <a:noFill/>
        </p:spPr>
        <p:txBody>
          <a:bodyPr wrap="square" lIns="0" rIns="0" tIns="0" bIns="0" anchor="t">
            <a:spAutoFit/>
          </a:bodyPr>
          <a:lstStyle/>
          <a:p>
            <a:pPr algn="l"/>
            <a:r>
              <a:rPr sz="1100" b="0">
                <a:solidFill>
                  <a:srgbClr val="888379"/>
                </a:solidFill>
                <a:latin typeface="Calibri"/>
              </a:rPr>
              <a:t>email, name, address — orders and shipping.</a:t>
            </a:r>
          </a:p>
        </p:txBody>
      </p:sp>
      <p:sp>
        <p:nvSpPr>
          <p:cNvPr id="11" name="Rounded Rectangle 10"/>
          <p:cNvSpPr/>
          <p:nvPr/>
        </p:nvSpPr>
        <p:spPr>
          <a:xfrm>
            <a:off x="6144768" y="2651760"/>
            <a:ext cx="5486400" cy="7772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19088" y="2944368"/>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3408" y="2743200"/>
            <a:ext cx="4754880" cy="365760"/>
          </a:xfrm>
          <a:prstGeom prst="rect">
            <a:avLst/>
          </a:prstGeom>
          <a:noFill/>
        </p:spPr>
        <p:txBody>
          <a:bodyPr wrap="square" lIns="0" rIns="0" tIns="0" bIns="0" anchor="t">
            <a:spAutoFit/>
          </a:bodyPr>
          <a:lstStyle/>
          <a:p>
            <a:pPr algn="l"/>
            <a:r>
              <a:rPr sz="1300" b="1">
                <a:solidFill>
                  <a:srgbClr val="2B2A26"/>
                </a:solidFill>
                <a:latin typeface="Calibri"/>
              </a:rPr>
              <a:t>Fit profile</a:t>
            </a:r>
          </a:p>
        </p:txBody>
      </p:sp>
      <p:sp>
        <p:nvSpPr>
          <p:cNvPr id="14" name="TextBox 13"/>
          <p:cNvSpPr txBox="1"/>
          <p:nvPr/>
        </p:nvSpPr>
        <p:spPr>
          <a:xfrm>
            <a:off x="6693408" y="3035808"/>
            <a:ext cx="4754880" cy="365760"/>
          </a:xfrm>
          <a:prstGeom prst="rect">
            <a:avLst/>
          </a:prstGeom>
          <a:noFill/>
        </p:spPr>
        <p:txBody>
          <a:bodyPr wrap="square" lIns="0" rIns="0" tIns="0" bIns="0" anchor="t">
            <a:spAutoFit/>
          </a:bodyPr>
          <a:lstStyle/>
          <a:p>
            <a:pPr algn="l"/>
            <a:r>
              <a:rPr sz="1100" b="0">
                <a:solidFill>
                  <a:srgbClr val="888379"/>
                </a:solidFill>
                <a:latin typeface="Calibri"/>
              </a:rPr>
              <a:t>sizes, fit notes (body shape opt-in).</a:t>
            </a:r>
          </a:p>
        </p:txBody>
      </p:sp>
      <p:sp>
        <p:nvSpPr>
          <p:cNvPr id="15" name="Rounded Rectangle 14"/>
          <p:cNvSpPr/>
          <p:nvPr/>
        </p:nvSpPr>
        <p:spPr>
          <a:xfrm>
            <a:off x="548640" y="3538728"/>
            <a:ext cx="5486400" cy="7772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3831336"/>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630168"/>
            <a:ext cx="4754880" cy="365760"/>
          </a:xfrm>
          <a:prstGeom prst="rect">
            <a:avLst/>
          </a:prstGeom>
          <a:noFill/>
        </p:spPr>
        <p:txBody>
          <a:bodyPr wrap="square" lIns="0" rIns="0" tIns="0" bIns="0" anchor="t">
            <a:spAutoFit/>
          </a:bodyPr>
          <a:lstStyle/>
          <a:p>
            <a:pPr algn="l"/>
            <a:r>
              <a:rPr sz="1300" b="1">
                <a:solidFill>
                  <a:srgbClr val="2B2A26"/>
                </a:solidFill>
                <a:latin typeface="Calibri"/>
              </a:rPr>
              <a:t>Language &amp; region</a:t>
            </a:r>
          </a:p>
        </p:txBody>
      </p:sp>
      <p:sp>
        <p:nvSpPr>
          <p:cNvPr id="18" name="TextBox 17"/>
          <p:cNvSpPr txBox="1"/>
          <p:nvPr/>
        </p:nvSpPr>
        <p:spPr>
          <a:xfrm>
            <a:off x="1097280" y="3922776"/>
            <a:ext cx="4754880" cy="365760"/>
          </a:xfrm>
          <a:prstGeom prst="rect">
            <a:avLst/>
          </a:prstGeom>
          <a:noFill/>
        </p:spPr>
        <p:txBody>
          <a:bodyPr wrap="square" lIns="0" rIns="0" tIns="0" bIns="0" anchor="t">
            <a:spAutoFit/>
          </a:bodyPr>
          <a:lstStyle/>
          <a:p>
            <a:pPr algn="l"/>
            <a:r>
              <a:rPr sz="1100" b="0">
                <a:solidFill>
                  <a:srgbClr val="888379"/>
                </a:solidFill>
                <a:latin typeface="Calibri"/>
              </a:rPr>
              <a:t>UI language, country, currency.</a:t>
            </a:r>
          </a:p>
        </p:txBody>
      </p:sp>
      <p:sp>
        <p:nvSpPr>
          <p:cNvPr id="19" name="Rounded Rectangle 18"/>
          <p:cNvSpPr/>
          <p:nvPr/>
        </p:nvSpPr>
        <p:spPr>
          <a:xfrm>
            <a:off x="6144768" y="3538728"/>
            <a:ext cx="5486400" cy="7772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19088" y="3831336"/>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93408" y="3630168"/>
            <a:ext cx="4754880" cy="365760"/>
          </a:xfrm>
          <a:prstGeom prst="rect">
            <a:avLst/>
          </a:prstGeom>
          <a:noFill/>
        </p:spPr>
        <p:txBody>
          <a:bodyPr wrap="square" lIns="0" rIns="0" tIns="0" bIns="0" anchor="t">
            <a:spAutoFit/>
          </a:bodyPr>
          <a:lstStyle/>
          <a:p>
            <a:pPr algn="l"/>
            <a:r>
              <a:rPr sz="1300" b="1">
                <a:solidFill>
                  <a:srgbClr val="2B2A26"/>
                </a:solidFill>
                <a:latin typeface="Calibri"/>
              </a:rPr>
              <a:t>Travel style</a:t>
            </a:r>
          </a:p>
        </p:txBody>
      </p:sp>
      <p:sp>
        <p:nvSpPr>
          <p:cNvPr id="22" name="TextBox 21"/>
          <p:cNvSpPr txBox="1"/>
          <p:nvPr/>
        </p:nvSpPr>
        <p:spPr>
          <a:xfrm>
            <a:off x="6693408" y="3922776"/>
            <a:ext cx="4754880" cy="365760"/>
          </a:xfrm>
          <a:prstGeom prst="rect">
            <a:avLst/>
          </a:prstGeom>
          <a:noFill/>
        </p:spPr>
        <p:txBody>
          <a:bodyPr wrap="square" lIns="0" rIns="0" tIns="0" bIns="0" anchor="t">
            <a:spAutoFit/>
          </a:bodyPr>
          <a:lstStyle/>
          <a:p>
            <a:pPr algn="l"/>
            <a:r>
              <a:rPr sz="1100" b="0">
                <a:solidFill>
                  <a:srgbClr val="888379"/>
                </a:solidFill>
                <a:latin typeface="Calibri"/>
              </a:rPr>
              <a:t>trip frequency, destinations, packing preferences.</a:t>
            </a:r>
          </a:p>
        </p:txBody>
      </p:sp>
      <p:sp>
        <p:nvSpPr>
          <p:cNvPr id="23" name="Rounded Rectangle 22"/>
          <p:cNvSpPr/>
          <p:nvPr/>
        </p:nvSpPr>
        <p:spPr>
          <a:xfrm>
            <a:off x="548640" y="4425696"/>
            <a:ext cx="5486400" cy="7772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2960" y="4718304"/>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517136"/>
            <a:ext cx="4754880" cy="365760"/>
          </a:xfrm>
          <a:prstGeom prst="rect">
            <a:avLst/>
          </a:prstGeom>
          <a:noFill/>
        </p:spPr>
        <p:txBody>
          <a:bodyPr wrap="square" lIns="0" rIns="0" tIns="0" bIns="0" anchor="t">
            <a:spAutoFit/>
          </a:bodyPr>
          <a:lstStyle/>
          <a:p>
            <a:pPr algn="l"/>
            <a:r>
              <a:rPr sz="1300" b="1">
                <a:solidFill>
                  <a:srgbClr val="2B2A26"/>
                </a:solidFill>
                <a:latin typeface="Calibri"/>
              </a:rPr>
              <a:t>Wardrobe</a:t>
            </a:r>
          </a:p>
        </p:txBody>
      </p:sp>
      <p:sp>
        <p:nvSpPr>
          <p:cNvPr id="26" name="TextBox 25"/>
          <p:cNvSpPr txBox="1"/>
          <p:nvPr/>
        </p:nvSpPr>
        <p:spPr>
          <a:xfrm>
            <a:off x="1097280" y="4809744"/>
            <a:ext cx="4754880" cy="365760"/>
          </a:xfrm>
          <a:prstGeom prst="rect">
            <a:avLst/>
          </a:prstGeom>
          <a:noFill/>
        </p:spPr>
        <p:txBody>
          <a:bodyPr wrap="square" lIns="0" rIns="0" tIns="0" bIns="0" anchor="t">
            <a:spAutoFit/>
          </a:bodyPr>
          <a:lstStyle/>
          <a:p>
            <a:pPr algn="l"/>
            <a:r>
              <a:rPr sz="1100" b="0">
                <a:solidFill>
                  <a:srgbClr val="888379"/>
                </a:solidFill>
                <a:latin typeface="Calibri"/>
              </a:rPr>
              <a:t>registered pieces, wear count, multi-way unlocks, repair history.</a:t>
            </a:r>
          </a:p>
        </p:txBody>
      </p:sp>
      <p:sp>
        <p:nvSpPr>
          <p:cNvPr id="27" name="Rounded Rectangle 26"/>
          <p:cNvSpPr/>
          <p:nvPr/>
        </p:nvSpPr>
        <p:spPr>
          <a:xfrm>
            <a:off x="6144768" y="4425696"/>
            <a:ext cx="5486400" cy="7772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19088" y="4718304"/>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93408" y="4517136"/>
            <a:ext cx="4754880" cy="365760"/>
          </a:xfrm>
          <a:prstGeom prst="rect">
            <a:avLst/>
          </a:prstGeom>
          <a:noFill/>
        </p:spPr>
        <p:txBody>
          <a:bodyPr wrap="square" lIns="0" rIns="0" tIns="0" bIns="0" anchor="t">
            <a:spAutoFit/>
          </a:bodyPr>
          <a:lstStyle/>
          <a:p>
            <a:pPr algn="l"/>
            <a:r>
              <a:rPr sz="1300" b="1">
                <a:solidFill>
                  <a:srgbClr val="2B2A26"/>
                </a:solidFill>
                <a:latin typeface="Calibri"/>
              </a:rPr>
              <a:t>Motivation tags</a:t>
            </a:r>
          </a:p>
        </p:txBody>
      </p:sp>
      <p:sp>
        <p:nvSpPr>
          <p:cNvPr id="30" name="TextBox 29"/>
          <p:cNvSpPr txBox="1"/>
          <p:nvPr/>
        </p:nvSpPr>
        <p:spPr>
          <a:xfrm>
            <a:off x="6693408" y="4809744"/>
            <a:ext cx="4754880" cy="365760"/>
          </a:xfrm>
          <a:prstGeom prst="rect">
            <a:avLst/>
          </a:prstGeom>
          <a:noFill/>
        </p:spPr>
        <p:txBody>
          <a:bodyPr wrap="square" lIns="0" rIns="0" tIns="0" bIns="0" anchor="t">
            <a:spAutoFit/>
          </a:bodyPr>
          <a:lstStyle/>
          <a:p>
            <a:pPr algn="l"/>
            <a:r>
              <a:rPr sz="1100" b="0">
                <a:solidFill>
                  <a:srgbClr val="888379"/>
                </a:solidFill>
                <a:latin typeface="Calibri"/>
              </a:rPr>
              <a:t>sustainability / capsule / travel / lifetime-design.</a:t>
            </a:r>
          </a:p>
        </p:txBody>
      </p:sp>
      <p:sp>
        <p:nvSpPr>
          <p:cNvPr id="31" name="Rounded Rectangle 30"/>
          <p:cNvSpPr/>
          <p:nvPr/>
        </p:nvSpPr>
        <p:spPr>
          <a:xfrm>
            <a:off x="548640" y="5312664"/>
            <a:ext cx="5486400" cy="7772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2960" y="5605272"/>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404104"/>
            <a:ext cx="4754880" cy="365760"/>
          </a:xfrm>
          <a:prstGeom prst="rect">
            <a:avLst/>
          </a:prstGeom>
          <a:noFill/>
        </p:spPr>
        <p:txBody>
          <a:bodyPr wrap="square" lIns="0" rIns="0" tIns="0" bIns="0" anchor="t">
            <a:spAutoFit/>
          </a:bodyPr>
          <a:lstStyle/>
          <a:p>
            <a:pPr algn="l"/>
            <a:r>
              <a:rPr sz="1300" b="1">
                <a:solidFill>
                  <a:srgbClr val="2B2A26"/>
                </a:solidFill>
                <a:latin typeface="Calibri"/>
              </a:rPr>
              <a:t>Engagement</a:t>
            </a:r>
          </a:p>
        </p:txBody>
      </p:sp>
      <p:sp>
        <p:nvSpPr>
          <p:cNvPr id="34" name="TextBox 33"/>
          <p:cNvSpPr txBox="1"/>
          <p:nvPr/>
        </p:nvSpPr>
        <p:spPr>
          <a:xfrm>
            <a:off x="1097280" y="5696712"/>
            <a:ext cx="4754880" cy="365760"/>
          </a:xfrm>
          <a:prstGeom prst="rect">
            <a:avLst/>
          </a:prstGeom>
          <a:noFill/>
        </p:spPr>
        <p:txBody>
          <a:bodyPr wrap="square" lIns="0" rIns="0" tIns="0" bIns="0" anchor="t">
            <a:spAutoFit/>
          </a:bodyPr>
          <a:lstStyle/>
          <a:p>
            <a:pPr algn="l"/>
            <a:r>
              <a:rPr sz="1100" b="0">
                <a:solidFill>
                  <a:srgbClr val="888379"/>
                </a:solidFill>
                <a:latin typeface="Calibri"/>
              </a:rPr>
              <a:t>views, wishlists, push response.</a:t>
            </a:r>
          </a:p>
        </p:txBody>
      </p:sp>
      <p:sp>
        <p:nvSpPr>
          <p:cNvPr id="35" name="Rounded Rectangle 34"/>
          <p:cNvSpPr/>
          <p:nvPr/>
        </p:nvSpPr>
        <p:spPr>
          <a:xfrm>
            <a:off x="6144768" y="5312664"/>
            <a:ext cx="5486400" cy="7772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419088" y="5605272"/>
            <a:ext cx="164592" cy="164592"/>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93408" y="5404104"/>
            <a:ext cx="4754880" cy="365760"/>
          </a:xfrm>
          <a:prstGeom prst="rect">
            <a:avLst/>
          </a:prstGeom>
          <a:noFill/>
        </p:spPr>
        <p:txBody>
          <a:bodyPr wrap="square" lIns="0" rIns="0" tIns="0" bIns="0" anchor="t">
            <a:spAutoFit/>
          </a:bodyPr>
          <a:lstStyle/>
          <a:p>
            <a:pPr algn="l"/>
            <a:r>
              <a:rPr sz="1300" b="1">
                <a:solidFill>
                  <a:srgbClr val="2B2A26"/>
                </a:solidFill>
                <a:latin typeface="Calibri"/>
              </a:rPr>
              <a:t>Channel of origin</a:t>
            </a:r>
          </a:p>
        </p:txBody>
      </p:sp>
      <p:sp>
        <p:nvSpPr>
          <p:cNvPr id="38" name="TextBox 37"/>
          <p:cNvSpPr txBox="1"/>
          <p:nvPr/>
        </p:nvSpPr>
        <p:spPr>
          <a:xfrm>
            <a:off x="6693408" y="5696712"/>
            <a:ext cx="4754880" cy="365760"/>
          </a:xfrm>
          <a:prstGeom prst="rect">
            <a:avLst/>
          </a:prstGeom>
          <a:noFill/>
        </p:spPr>
        <p:txBody>
          <a:bodyPr wrap="square" lIns="0" rIns="0" tIns="0" bIns="0" anchor="t">
            <a:spAutoFit/>
          </a:bodyPr>
          <a:lstStyle/>
          <a:p>
            <a:pPr algn="l"/>
            <a:r>
              <a:rPr sz="1100" b="0">
                <a:solidFill>
                  <a:srgbClr val="888379"/>
                </a:solidFill>
                <a:latin typeface="Calibri"/>
              </a:rPr>
              <a:t>online / Toronto studio / referral.</a:t>
            </a:r>
          </a:p>
        </p:txBody>
      </p:sp>
      <p:sp>
        <p:nvSpPr>
          <p:cNvPr id="39" name="Rounded Rectangle 38"/>
          <p:cNvSpPr/>
          <p:nvPr/>
        </p:nvSpPr>
        <p:spPr>
          <a:xfrm>
            <a:off x="548640" y="6080760"/>
            <a:ext cx="11064240" cy="45720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6126480"/>
            <a:ext cx="10789920" cy="365760"/>
          </a:xfrm>
          <a:prstGeom prst="rect">
            <a:avLst/>
          </a:prstGeom>
          <a:noFill/>
        </p:spPr>
        <p:txBody>
          <a:bodyPr wrap="square" lIns="0" rIns="0" tIns="0" bIns="0" anchor="ctr">
            <a:spAutoFit/>
          </a:bodyPr>
          <a:lstStyle/>
          <a:p>
            <a:pPr algn="l"/>
            <a:r>
              <a:rPr sz="1100" b="1">
                <a:solidFill>
                  <a:srgbClr val="FFFFFF"/>
                </a:solidFill>
                <a:latin typeface="Calibri"/>
              </a:rPr>
              <a:t>WE DO NOT COLLECT  ·  weight or BMI  ·  precise GPS  ·  contacts  ·  social-graph imports  ·  third-party ad-tracking IDs</a:t>
            </a:r>
          </a:p>
        </p:txBody>
      </p:sp>
      <p:sp>
        <p:nvSpPr>
          <p:cNvPr id="41" name="TextBox 40"/>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42" name="TextBox 41"/>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HOW IT'S BUILT</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A modern stack — boring where it should be, sharp where it counts.</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286000"/>
            <a:ext cx="2743200" cy="36576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286000"/>
            <a:ext cx="2743200" cy="64008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77440"/>
            <a:ext cx="2194560" cy="502920"/>
          </a:xfrm>
          <a:prstGeom prst="rect">
            <a:avLst/>
          </a:prstGeom>
          <a:noFill/>
        </p:spPr>
        <p:txBody>
          <a:bodyPr wrap="square" lIns="0" rIns="0" tIns="0" bIns="0" anchor="ctr">
            <a:spAutoFit/>
          </a:bodyPr>
          <a:lstStyle/>
          <a:p>
            <a:pPr algn="l"/>
            <a:r>
              <a:rPr sz="1800" b="0">
                <a:solidFill>
                  <a:srgbClr val="FFFFFF"/>
                </a:solidFill>
                <a:latin typeface="Georgia"/>
              </a:rPr>
              <a:t>Mobile</a:t>
            </a:r>
          </a:p>
        </p:txBody>
      </p:sp>
      <p:sp>
        <p:nvSpPr>
          <p:cNvPr id="9" name="TextBox 8"/>
          <p:cNvSpPr txBox="1"/>
          <p:nvPr/>
        </p:nvSpPr>
        <p:spPr>
          <a:xfrm>
            <a:off x="777240" y="3154680"/>
            <a:ext cx="2377440" cy="320040"/>
          </a:xfrm>
          <a:prstGeom prst="rect">
            <a:avLst/>
          </a:prstGeom>
          <a:noFill/>
        </p:spPr>
        <p:txBody>
          <a:bodyPr wrap="square" lIns="0" rIns="0" tIns="0" bIns="0" anchor="t">
            <a:spAutoFit/>
          </a:bodyPr>
          <a:lstStyle/>
          <a:p>
            <a:pPr algn="l"/>
            <a:r>
              <a:rPr sz="1100" b="0">
                <a:solidFill>
                  <a:srgbClr val="2B2A26"/>
                </a:solidFill>
                <a:latin typeface="Calibri"/>
              </a:rPr>
              <a:t>•  React Native + Expo (iOS &amp; Android)</a:t>
            </a:r>
          </a:p>
        </p:txBody>
      </p:sp>
      <p:sp>
        <p:nvSpPr>
          <p:cNvPr id="10" name="TextBox 9"/>
          <p:cNvSpPr txBox="1"/>
          <p:nvPr/>
        </p:nvSpPr>
        <p:spPr>
          <a:xfrm>
            <a:off x="777240" y="3566160"/>
            <a:ext cx="2377440" cy="320040"/>
          </a:xfrm>
          <a:prstGeom prst="rect">
            <a:avLst/>
          </a:prstGeom>
          <a:noFill/>
        </p:spPr>
        <p:txBody>
          <a:bodyPr wrap="square" lIns="0" rIns="0" tIns="0" bIns="0" anchor="t">
            <a:spAutoFit/>
          </a:bodyPr>
          <a:lstStyle/>
          <a:p>
            <a:pPr algn="l"/>
            <a:r>
              <a:rPr sz="1100" b="0">
                <a:solidFill>
                  <a:srgbClr val="2B2A26"/>
                </a:solidFill>
                <a:latin typeface="Calibri"/>
              </a:rPr>
              <a:t>•  OTA updates for drop cadence</a:t>
            </a:r>
          </a:p>
        </p:txBody>
      </p:sp>
      <p:sp>
        <p:nvSpPr>
          <p:cNvPr id="11" name="TextBox 10"/>
          <p:cNvSpPr txBox="1"/>
          <p:nvPr/>
        </p:nvSpPr>
        <p:spPr>
          <a:xfrm>
            <a:off x="777240" y="3977640"/>
            <a:ext cx="2377440" cy="320040"/>
          </a:xfrm>
          <a:prstGeom prst="rect">
            <a:avLst/>
          </a:prstGeom>
          <a:noFill/>
        </p:spPr>
        <p:txBody>
          <a:bodyPr wrap="square" lIns="0" rIns="0" tIns="0" bIns="0" anchor="t">
            <a:spAutoFit/>
          </a:bodyPr>
          <a:lstStyle/>
          <a:p>
            <a:pPr algn="l"/>
            <a:r>
              <a:rPr sz="1100" b="0">
                <a:solidFill>
                  <a:srgbClr val="2B2A26"/>
                </a:solidFill>
                <a:latin typeface="Calibri"/>
              </a:rPr>
              <a:t>•  Apple / Google sign-in</a:t>
            </a:r>
          </a:p>
        </p:txBody>
      </p:sp>
      <p:sp>
        <p:nvSpPr>
          <p:cNvPr id="12" name="Rounded Rectangle 11"/>
          <p:cNvSpPr/>
          <p:nvPr/>
        </p:nvSpPr>
        <p:spPr>
          <a:xfrm>
            <a:off x="3429000" y="2286000"/>
            <a:ext cx="2743200" cy="36576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29000" y="2286000"/>
            <a:ext cx="2743200" cy="64008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03320" y="2377440"/>
            <a:ext cx="2194560" cy="502920"/>
          </a:xfrm>
          <a:prstGeom prst="rect">
            <a:avLst/>
          </a:prstGeom>
          <a:noFill/>
        </p:spPr>
        <p:txBody>
          <a:bodyPr wrap="square" lIns="0" rIns="0" tIns="0" bIns="0" anchor="ctr">
            <a:spAutoFit/>
          </a:bodyPr>
          <a:lstStyle/>
          <a:p>
            <a:pPr algn="l"/>
            <a:r>
              <a:rPr sz="1800" b="0">
                <a:solidFill>
                  <a:srgbClr val="FFFFFF"/>
                </a:solidFill>
                <a:latin typeface="Georgia"/>
              </a:rPr>
              <a:t>Commerce</a:t>
            </a:r>
          </a:p>
        </p:txBody>
      </p:sp>
      <p:sp>
        <p:nvSpPr>
          <p:cNvPr id="15" name="TextBox 14"/>
          <p:cNvSpPr txBox="1"/>
          <p:nvPr/>
        </p:nvSpPr>
        <p:spPr>
          <a:xfrm>
            <a:off x="3657600" y="3154680"/>
            <a:ext cx="2377440" cy="320040"/>
          </a:xfrm>
          <a:prstGeom prst="rect">
            <a:avLst/>
          </a:prstGeom>
          <a:noFill/>
        </p:spPr>
        <p:txBody>
          <a:bodyPr wrap="square" lIns="0" rIns="0" tIns="0" bIns="0" anchor="t">
            <a:spAutoFit/>
          </a:bodyPr>
          <a:lstStyle/>
          <a:p>
            <a:pPr algn="l"/>
            <a:r>
              <a:rPr sz="1100" b="0">
                <a:solidFill>
                  <a:srgbClr val="2B2A26"/>
                </a:solidFill>
                <a:latin typeface="Calibri"/>
              </a:rPr>
              <a:t>•  Shopify storefront API</a:t>
            </a:r>
          </a:p>
        </p:txBody>
      </p:sp>
      <p:sp>
        <p:nvSpPr>
          <p:cNvPr id="16" name="TextBox 15"/>
          <p:cNvSpPr txBox="1"/>
          <p:nvPr/>
        </p:nvSpPr>
        <p:spPr>
          <a:xfrm>
            <a:off x="3657600" y="3566160"/>
            <a:ext cx="2377440" cy="320040"/>
          </a:xfrm>
          <a:prstGeom prst="rect">
            <a:avLst/>
          </a:prstGeom>
          <a:noFill/>
        </p:spPr>
        <p:txBody>
          <a:bodyPr wrap="square" lIns="0" rIns="0" tIns="0" bIns="0" anchor="t">
            <a:spAutoFit/>
          </a:bodyPr>
          <a:lstStyle/>
          <a:p>
            <a:pPr algn="l"/>
            <a:r>
              <a:rPr sz="1100" b="0">
                <a:solidFill>
                  <a:srgbClr val="2B2A26"/>
                </a:solidFill>
                <a:latin typeface="Calibri"/>
              </a:rPr>
              <a:t>•  Multi-currency CAD/USD/intl</a:t>
            </a:r>
          </a:p>
        </p:txBody>
      </p:sp>
      <p:sp>
        <p:nvSpPr>
          <p:cNvPr id="17" name="TextBox 16"/>
          <p:cNvSpPr txBox="1"/>
          <p:nvPr/>
        </p:nvSpPr>
        <p:spPr>
          <a:xfrm>
            <a:off x="3657600" y="3977640"/>
            <a:ext cx="2377440" cy="320040"/>
          </a:xfrm>
          <a:prstGeom prst="rect">
            <a:avLst/>
          </a:prstGeom>
          <a:noFill/>
        </p:spPr>
        <p:txBody>
          <a:bodyPr wrap="square" lIns="0" rIns="0" tIns="0" bIns="0" anchor="t">
            <a:spAutoFit/>
          </a:bodyPr>
          <a:lstStyle/>
          <a:p>
            <a:pPr algn="l"/>
            <a:r>
              <a:rPr sz="1100" b="0">
                <a:solidFill>
                  <a:srgbClr val="2B2A26"/>
                </a:solidFill>
                <a:latin typeface="Calibri"/>
              </a:rPr>
              <a:t>•  RevenueCat for any subscriptions</a:t>
            </a:r>
          </a:p>
        </p:txBody>
      </p:sp>
      <p:sp>
        <p:nvSpPr>
          <p:cNvPr id="18" name="Rounded Rectangle 17"/>
          <p:cNvSpPr/>
          <p:nvPr/>
        </p:nvSpPr>
        <p:spPr>
          <a:xfrm>
            <a:off x="6309360" y="2286000"/>
            <a:ext cx="2743200" cy="36576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09360" y="2286000"/>
            <a:ext cx="2743200" cy="64008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377440"/>
            <a:ext cx="2194560" cy="502920"/>
          </a:xfrm>
          <a:prstGeom prst="rect">
            <a:avLst/>
          </a:prstGeom>
          <a:noFill/>
        </p:spPr>
        <p:txBody>
          <a:bodyPr wrap="square" lIns="0" rIns="0" tIns="0" bIns="0" anchor="ctr">
            <a:spAutoFit/>
          </a:bodyPr>
          <a:lstStyle/>
          <a:p>
            <a:pPr algn="l"/>
            <a:r>
              <a:rPr sz="1800" b="0">
                <a:solidFill>
                  <a:srgbClr val="FFFFFF"/>
                </a:solidFill>
                <a:latin typeface="Georgia"/>
              </a:rPr>
              <a:t>Multi-way + repair backend</a:t>
            </a:r>
          </a:p>
        </p:txBody>
      </p:sp>
      <p:sp>
        <p:nvSpPr>
          <p:cNvPr id="21" name="TextBox 20"/>
          <p:cNvSpPr txBox="1"/>
          <p:nvPr/>
        </p:nvSpPr>
        <p:spPr>
          <a:xfrm>
            <a:off x="6537960" y="3154680"/>
            <a:ext cx="2377440" cy="320040"/>
          </a:xfrm>
          <a:prstGeom prst="rect">
            <a:avLst/>
          </a:prstGeom>
          <a:noFill/>
        </p:spPr>
        <p:txBody>
          <a:bodyPr wrap="square" lIns="0" rIns="0" tIns="0" bIns="0" anchor="t">
            <a:spAutoFit/>
          </a:bodyPr>
          <a:lstStyle/>
          <a:p>
            <a:pPr algn="l"/>
            <a:r>
              <a:rPr sz="1100" b="0">
                <a:solidFill>
                  <a:srgbClr val="2B2A26"/>
                </a:solidFill>
                <a:latin typeface="Calibri"/>
              </a:rPr>
              <a:t>•  Node + TypeScript API</a:t>
            </a:r>
          </a:p>
        </p:txBody>
      </p:sp>
      <p:sp>
        <p:nvSpPr>
          <p:cNvPr id="22" name="TextBox 21"/>
          <p:cNvSpPr txBox="1"/>
          <p:nvPr/>
        </p:nvSpPr>
        <p:spPr>
          <a:xfrm>
            <a:off x="6537960" y="3566160"/>
            <a:ext cx="2377440" cy="320040"/>
          </a:xfrm>
          <a:prstGeom prst="rect">
            <a:avLst/>
          </a:prstGeom>
          <a:noFill/>
        </p:spPr>
        <p:txBody>
          <a:bodyPr wrap="square" lIns="0" rIns="0" tIns="0" bIns="0" anchor="t">
            <a:spAutoFit/>
          </a:bodyPr>
          <a:lstStyle/>
          <a:p>
            <a:pPr algn="l"/>
            <a:r>
              <a:rPr sz="1100" b="0">
                <a:solidFill>
                  <a:srgbClr val="2B2A26"/>
                </a:solidFill>
                <a:latin typeface="Calibri"/>
              </a:rPr>
              <a:t>•  Postgres + pgvector</a:t>
            </a:r>
          </a:p>
        </p:txBody>
      </p:sp>
      <p:sp>
        <p:nvSpPr>
          <p:cNvPr id="23" name="TextBox 22"/>
          <p:cNvSpPr txBox="1"/>
          <p:nvPr/>
        </p:nvSpPr>
        <p:spPr>
          <a:xfrm>
            <a:off x="6537960" y="3977640"/>
            <a:ext cx="2377440" cy="320040"/>
          </a:xfrm>
          <a:prstGeom prst="rect">
            <a:avLst/>
          </a:prstGeom>
          <a:noFill/>
        </p:spPr>
        <p:txBody>
          <a:bodyPr wrap="square" lIns="0" rIns="0" tIns="0" bIns="0" anchor="t">
            <a:spAutoFit/>
          </a:bodyPr>
          <a:lstStyle/>
          <a:p>
            <a:pPr algn="l"/>
            <a:r>
              <a:rPr sz="1100" b="0">
                <a:solidFill>
                  <a:srgbClr val="2B2A26"/>
                </a:solidFill>
                <a:latin typeface="Calibri"/>
              </a:rPr>
              <a:t>•  Multi-way library, repair queue, capsule store</a:t>
            </a:r>
          </a:p>
        </p:txBody>
      </p:sp>
      <p:sp>
        <p:nvSpPr>
          <p:cNvPr id="24" name="Rounded Rectangle 23"/>
          <p:cNvSpPr/>
          <p:nvPr/>
        </p:nvSpPr>
        <p:spPr>
          <a:xfrm>
            <a:off x="9189720" y="2286000"/>
            <a:ext cx="2743200" cy="36576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720" y="2286000"/>
            <a:ext cx="2743200" cy="64008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64040" y="2377440"/>
            <a:ext cx="2194560" cy="502920"/>
          </a:xfrm>
          <a:prstGeom prst="rect">
            <a:avLst/>
          </a:prstGeom>
          <a:noFill/>
        </p:spPr>
        <p:txBody>
          <a:bodyPr wrap="square" lIns="0" rIns="0" tIns="0" bIns="0" anchor="ctr">
            <a:spAutoFit/>
          </a:bodyPr>
          <a:lstStyle/>
          <a:p>
            <a:pPr algn="l"/>
            <a:r>
              <a:rPr sz="1800" b="0">
                <a:solidFill>
                  <a:srgbClr val="FFFFFF"/>
                </a:solidFill>
                <a:latin typeface="Georgia"/>
              </a:rPr>
              <a:t>Intelligence</a:t>
            </a:r>
          </a:p>
        </p:txBody>
      </p:sp>
      <p:sp>
        <p:nvSpPr>
          <p:cNvPr id="27" name="TextBox 26"/>
          <p:cNvSpPr txBox="1"/>
          <p:nvPr/>
        </p:nvSpPr>
        <p:spPr>
          <a:xfrm>
            <a:off x="9418320" y="3154680"/>
            <a:ext cx="2377440" cy="320040"/>
          </a:xfrm>
          <a:prstGeom prst="rect">
            <a:avLst/>
          </a:prstGeom>
          <a:noFill/>
        </p:spPr>
        <p:txBody>
          <a:bodyPr wrap="square" lIns="0" rIns="0" tIns="0" bIns="0" anchor="t">
            <a:spAutoFit/>
          </a:bodyPr>
          <a:lstStyle/>
          <a:p>
            <a:pPr algn="l"/>
            <a:r>
              <a:rPr sz="1100" b="0">
                <a:solidFill>
                  <a:srgbClr val="2B2A26"/>
                </a:solidFill>
                <a:latin typeface="Calibri"/>
              </a:rPr>
              <a:t>•  Claude (Sonnet 4.6 chat, Haiku 4.5 batch)</a:t>
            </a:r>
          </a:p>
        </p:txBody>
      </p:sp>
      <p:sp>
        <p:nvSpPr>
          <p:cNvPr id="28" name="TextBox 27"/>
          <p:cNvSpPr txBox="1"/>
          <p:nvPr/>
        </p:nvSpPr>
        <p:spPr>
          <a:xfrm>
            <a:off x="9418320" y="3566160"/>
            <a:ext cx="2377440" cy="320040"/>
          </a:xfrm>
          <a:prstGeom prst="rect">
            <a:avLst/>
          </a:prstGeom>
          <a:noFill/>
        </p:spPr>
        <p:txBody>
          <a:bodyPr wrap="square" lIns="0" rIns="0" tIns="0" bIns="0" anchor="t">
            <a:spAutoFit/>
          </a:bodyPr>
          <a:lstStyle/>
          <a:p>
            <a:pPr algn="l"/>
            <a:r>
              <a:rPr sz="1100" b="0">
                <a:solidFill>
                  <a:srgbClr val="2B2A26"/>
                </a:solidFill>
                <a:latin typeface="Calibri"/>
              </a:rPr>
              <a:t>•  Embeddings for visual search</a:t>
            </a:r>
          </a:p>
        </p:txBody>
      </p:sp>
      <p:sp>
        <p:nvSpPr>
          <p:cNvPr id="29" name="TextBox 28"/>
          <p:cNvSpPr txBox="1"/>
          <p:nvPr/>
        </p:nvSpPr>
        <p:spPr>
          <a:xfrm>
            <a:off x="9418320" y="3977640"/>
            <a:ext cx="2377440" cy="320040"/>
          </a:xfrm>
          <a:prstGeom prst="rect">
            <a:avLst/>
          </a:prstGeom>
          <a:noFill/>
        </p:spPr>
        <p:txBody>
          <a:bodyPr wrap="square" lIns="0" rIns="0" tIns="0" bIns="0" anchor="t">
            <a:spAutoFit/>
          </a:bodyPr>
          <a:lstStyle/>
          <a:p>
            <a:pPr algn="l"/>
            <a:r>
              <a:rPr sz="1100" b="0">
                <a:solidFill>
                  <a:srgbClr val="2B2A26"/>
                </a:solidFill>
                <a:latin typeface="Calibri"/>
              </a:rPr>
              <a:t>•  PostHog analytics, Sentry errors</a:t>
            </a:r>
          </a:p>
        </p:txBody>
      </p:sp>
      <p:sp>
        <p:nvSpPr>
          <p:cNvPr id="30" name="TextBox 29"/>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31" name="TextBox 30"/>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THE STUDIO · WEB ADMIN PORTAL</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The internal twin of the mobile app.</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972800" cy="731520"/>
          </a:xfrm>
          <a:prstGeom prst="rect">
            <a:avLst/>
          </a:prstGeom>
          <a:noFill/>
        </p:spPr>
        <p:txBody>
          <a:bodyPr wrap="square" lIns="0" rIns="0" tIns="0" bIns="0" anchor="t">
            <a:spAutoFit/>
          </a:bodyPr>
          <a:lstStyle/>
          <a:p>
            <a:pPr algn="l"/>
            <a:r>
              <a:rPr sz="1400" b="0">
                <a:solidFill>
                  <a:srgbClr val="888379"/>
                </a:solidFill>
                <a:latin typeface="Calibri"/>
              </a:rPr>
              <a:t>Customers use the mobile app. Your team uses The Studio. Same backend, same brand language — different surface for different users.</a:t>
            </a:r>
          </a:p>
        </p:txBody>
      </p:sp>
      <p:sp>
        <p:nvSpPr>
          <p:cNvPr id="7" name="Rounded Rectangle 6"/>
          <p:cNvSpPr/>
          <p:nvPr/>
        </p:nvSpPr>
        <p:spPr>
          <a:xfrm>
            <a:off x="4114800" y="2743200"/>
            <a:ext cx="3931920" cy="7772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0" y="2788920"/>
            <a:ext cx="3566160" cy="365760"/>
          </a:xfrm>
          <a:prstGeom prst="rect">
            <a:avLst/>
          </a:prstGeom>
          <a:noFill/>
        </p:spPr>
        <p:txBody>
          <a:bodyPr wrap="square" lIns="0" rIns="0" tIns="0" bIns="0" anchor="t">
            <a:spAutoFit/>
          </a:bodyPr>
          <a:lstStyle/>
          <a:p>
            <a:pPr algn="l"/>
            <a:r>
              <a:rPr sz="1000" b="1">
                <a:solidFill>
                  <a:srgbClr val="5D6E54"/>
                </a:solidFill>
                <a:latin typeface="Calibri"/>
              </a:rPr>
              <a:t>SHOPIFY</a:t>
            </a:r>
          </a:p>
        </p:txBody>
      </p:sp>
      <p:sp>
        <p:nvSpPr>
          <p:cNvPr id="9" name="TextBox 8"/>
          <p:cNvSpPr txBox="1"/>
          <p:nvPr/>
        </p:nvSpPr>
        <p:spPr>
          <a:xfrm>
            <a:off x="4297680" y="3108960"/>
            <a:ext cx="3566160" cy="365760"/>
          </a:xfrm>
          <a:prstGeom prst="rect">
            <a:avLst/>
          </a:prstGeom>
          <a:noFill/>
        </p:spPr>
        <p:txBody>
          <a:bodyPr wrap="square" lIns="0" rIns="0" tIns="0" bIns="0" anchor="t">
            <a:spAutoFit/>
          </a:bodyPr>
          <a:lstStyle/>
          <a:p>
            <a:pPr algn="l"/>
            <a:r>
              <a:rPr sz="1100" b="0">
                <a:solidFill>
                  <a:srgbClr val="888379"/>
                </a:solidFill>
                <a:latin typeface="Calibri"/>
              </a:rPr>
              <a:t>Catalog · orders · payments — unchanged</a:t>
            </a:r>
          </a:p>
        </p:txBody>
      </p:sp>
      <p:sp>
        <p:nvSpPr>
          <p:cNvPr id="10" name="Rounded Rectangle 9"/>
          <p:cNvSpPr/>
          <p:nvPr/>
        </p:nvSpPr>
        <p:spPr>
          <a:xfrm>
            <a:off x="548640" y="3840480"/>
            <a:ext cx="11064240" cy="640080"/>
          </a:xfrm>
          <a:prstGeom prst="roundRect">
            <a:avLst>
              <a:gd name="adj" fmla="val 12000"/>
            </a:avLst>
          </a:prstGeom>
          <a:solidFill>
            <a:srgbClr val="DF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904487"/>
            <a:ext cx="10607040" cy="365760"/>
          </a:xfrm>
          <a:prstGeom prst="rect">
            <a:avLst/>
          </a:prstGeom>
          <a:noFill/>
        </p:spPr>
        <p:txBody>
          <a:bodyPr wrap="square" lIns="0" rIns="0" tIns="0" bIns="0" anchor="ctr">
            <a:spAutoFit/>
          </a:bodyPr>
          <a:lstStyle/>
          <a:p>
            <a:pPr algn="l"/>
            <a:r>
              <a:rPr sz="1100" b="1">
                <a:solidFill>
                  <a:srgbClr val="5D6E54"/>
                </a:solidFill>
                <a:latin typeface="Calibri"/>
              </a:rPr>
              <a:t>SHARED API · Postgres · Auth · AI gateway · Multi-way library · Repair ops · Capsule store</a:t>
            </a:r>
          </a:p>
        </p:txBody>
      </p:sp>
      <p:sp>
        <p:nvSpPr>
          <p:cNvPr id="12" name="Rounded Rectangle 11"/>
          <p:cNvSpPr/>
          <p:nvPr/>
        </p:nvSpPr>
        <p:spPr>
          <a:xfrm>
            <a:off x="548640" y="4754880"/>
            <a:ext cx="5440680" cy="14630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4754880"/>
            <a:ext cx="5440680" cy="36576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773168"/>
            <a:ext cx="4983480" cy="365760"/>
          </a:xfrm>
          <a:prstGeom prst="rect">
            <a:avLst/>
          </a:prstGeom>
          <a:noFill/>
        </p:spPr>
        <p:txBody>
          <a:bodyPr wrap="square" lIns="0" rIns="0" tIns="0" bIns="0" anchor="ctr">
            <a:spAutoFit/>
          </a:bodyPr>
          <a:lstStyle/>
          <a:p>
            <a:pPr algn="l"/>
            <a:r>
              <a:rPr sz="1000" b="1">
                <a:solidFill>
                  <a:srgbClr val="FFFFFF"/>
                </a:solidFill>
                <a:latin typeface="Calibri"/>
              </a:rPr>
              <a:t>MOBILE APP — IOS &amp; ANDROID</a:t>
            </a:r>
          </a:p>
        </p:txBody>
      </p:sp>
      <p:sp>
        <p:nvSpPr>
          <p:cNvPr id="15" name="TextBox 14"/>
          <p:cNvSpPr txBox="1"/>
          <p:nvPr/>
        </p:nvSpPr>
        <p:spPr>
          <a:xfrm>
            <a:off x="777240" y="5212080"/>
            <a:ext cx="4983480" cy="914400"/>
          </a:xfrm>
          <a:prstGeom prst="rect">
            <a:avLst/>
          </a:prstGeom>
          <a:noFill/>
        </p:spPr>
        <p:txBody>
          <a:bodyPr wrap="square" lIns="0" rIns="0" tIns="0" bIns="0" anchor="t">
            <a:spAutoFit/>
          </a:bodyPr>
          <a:lstStyle/>
          <a:p>
            <a:pPr algn="l"/>
            <a:r>
              <a:rPr sz="1100" b="0">
                <a:solidFill>
                  <a:srgbClr val="2B2A26"/>
                </a:solidFill>
                <a:latin typeface="Calibri"/>
              </a:rPr>
              <a:t>Customer-facing · The Many · Capsule · Atelier · Wardrobe · Shop · Loops</a:t>
            </a:r>
          </a:p>
        </p:txBody>
      </p:sp>
      <p:sp>
        <p:nvSpPr>
          <p:cNvPr id="16" name="Rounded Rectangle 15"/>
          <p:cNvSpPr/>
          <p:nvPr/>
        </p:nvSpPr>
        <p:spPr>
          <a:xfrm>
            <a:off x="6172200" y="4754880"/>
            <a:ext cx="5440680" cy="14630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72200" y="4754880"/>
            <a:ext cx="5440680" cy="365760"/>
          </a:xfrm>
          <a:prstGeom prst="roundRect">
            <a:avLst>
              <a:gd name="adj" fmla="val 12000"/>
            </a:avLst>
          </a:prstGeom>
          <a:solidFill>
            <a:srgbClr val="2B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773168"/>
            <a:ext cx="4983480" cy="365760"/>
          </a:xfrm>
          <a:prstGeom prst="rect">
            <a:avLst/>
          </a:prstGeom>
          <a:noFill/>
        </p:spPr>
        <p:txBody>
          <a:bodyPr wrap="square" lIns="0" rIns="0" tIns="0" bIns="0" anchor="ctr">
            <a:spAutoFit/>
          </a:bodyPr>
          <a:lstStyle/>
          <a:p>
            <a:pPr algn="l"/>
            <a:r>
              <a:rPr sz="1000" b="1">
                <a:solidFill>
                  <a:srgbClr val="FFFFFF"/>
                </a:solidFill>
                <a:latin typeface="Calibri"/>
              </a:rPr>
              <a:t>THE STUDIO — WEB ADMIN PORTAL</a:t>
            </a:r>
          </a:p>
        </p:txBody>
      </p:sp>
      <p:sp>
        <p:nvSpPr>
          <p:cNvPr id="19" name="TextBox 18"/>
          <p:cNvSpPr txBox="1"/>
          <p:nvPr/>
        </p:nvSpPr>
        <p:spPr>
          <a:xfrm>
            <a:off x="6400800" y="5212080"/>
            <a:ext cx="4983480" cy="914400"/>
          </a:xfrm>
          <a:prstGeom prst="rect">
            <a:avLst/>
          </a:prstGeom>
          <a:noFill/>
        </p:spPr>
        <p:txBody>
          <a:bodyPr wrap="square" lIns="0" rIns="0" tIns="0" bIns="0" anchor="t">
            <a:spAutoFit/>
          </a:bodyPr>
          <a:lstStyle/>
          <a:p>
            <a:pPr algn="l"/>
            <a:r>
              <a:rPr sz="1100" b="0">
                <a:solidFill>
                  <a:srgbClr val="2B2A26"/>
                </a:solidFill>
                <a:latin typeface="Calibri"/>
              </a:rPr>
              <a:t>Internal · Multi-way library editor · repair queue · capsule templates · concierge · drop scheduler · analytics</a:t>
            </a:r>
          </a:p>
        </p:txBody>
      </p:sp>
      <p:sp>
        <p:nvSpPr>
          <p:cNvPr id="20" name="TextBox 19"/>
          <p:cNvSpPr txBox="1"/>
          <p:nvPr/>
        </p:nvSpPr>
        <p:spPr>
          <a:xfrm>
            <a:off x="548640" y="6400800"/>
            <a:ext cx="10972800" cy="365760"/>
          </a:xfrm>
          <a:prstGeom prst="rect">
            <a:avLst/>
          </a:prstGeom>
          <a:noFill/>
        </p:spPr>
        <p:txBody>
          <a:bodyPr wrap="square" lIns="0" rIns="0" tIns="0" bIns="0" anchor="t">
            <a:spAutoFit/>
          </a:bodyPr>
          <a:lstStyle/>
          <a:p>
            <a:pPr algn="l"/>
            <a:r>
              <a:rPr sz="1000" b="1">
                <a:solidFill>
                  <a:srgbClr val="5D6E54"/>
                </a:solidFill>
                <a:latin typeface="Calibri"/>
              </a:rPr>
              <a:t>BUILT FOR YOUR TEAM   —   editors, repair ops, founder, concierge. Bilingual EN/FR. Brand-palette UI.</a:t>
            </a:r>
          </a:p>
        </p:txBody>
      </p:sp>
      <p:sp>
        <p:nvSpPr>
          <p:cNvPr id="21" name="TextBox 20"/>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22" name="TextBox 21"/>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HOW WE'LL DELIVER</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Roadmap — first nine months.</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743200"/>
            <a:ext cx="11064240" cy="25400"/>
          </a:xfrm>
          <a:prstGeom prst="rect">
            <a:avLst/>
          </a:prstGeom>
          <a:solidFill>
            <a:srgbClr val="E6DF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828800" y="2651760"/>
            <a:ext cx="182880" cy="18288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3063240"/>
            <a:ext cx="2743200" cy="32918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200400"/>
            <a:ext cx="2194560" cy="365760"/>
          </a:xfrm>
          <a:prstGeom prst="rect">
            <a:avLst/>
          </a:prstGeom>
          <a:noFill/>
        </p:spPr>
        <p:txBody>
          <a:bodyPr wrap="square" lIns="0" rIns="0" tIns="0" bIns="0" anchor="t">
            <a:spAutoFit/>
          </a:bodyPr>
          <a:lstStyle/>
          <a:p>
            <a:pPr algn="l"/>
            <a:r>
              <a:rPr sz="1000" b="1">
                <a:solidFill>
                  <a:srgbClr val="5D6E54"/>
                </a:solidFill>
                <a:latin typeface="Calibri"/>
              </a:rPr>
              <a:t>Weeks 1–2</a:t>
            </a:r>
          </a:p>
        </p:txBody>
      </p:sp>
      <p:sp>
        <p:nvSpPr>
          <p:cNvPr id="10" name="TextBox 9"/>
          <p:cNvSpPr txBox="1"/>
          <p:nvPr/>
        </p:nvSpPr>
        <p:spPr>
          <a:xfrm>
            <a:off x="822960" y="3566160"/>
            <a:ext cx="2194560" cy="548640"/>
          </a:xfrm>
          <a:prstGeom prst="rect">
            <a:avLst/>
          </a:prstGeom>
          <a:noFill/>
        </p:spPr>
        <p:txBody>
          <a:bodyPr wrap="square" lIns="0" rIns="0" tIns="0" bIns="0" anchor="t">
            <a:spAutoFit/>
          </a:bodyPr>
          <a:lstStyle/>
          <a:p>
            <a:pPr algn="l"/>
            <a:r>
              <a:rPr sz="2200" b="0">
                <a:solidFill>
                  <a:srgbClr val="2B2A26"/>
                </a:solidFill>
                <a:latin typeface="Georgia"/>
              </a:rPr>
              <a:t>Discovery</a:t>
            </a:r>
          </a:p>
        </p:txBody>
      </p:sp>
      <p:sp>
        <p:nvSpPr>
          <p:cNvPr id="11" name="TextBox 10"/>
          <p:cNvSpPr txBox="1"/>
          <p:nvPr/>
        </p:nvSpPr>
        <p:spPr>
          <a:xfrm>
            <a:off x="822960" y="4389120"/>
            <a:ext cx="2194560" cy="1828800"/>
          </a:xfrm>
          <a:prstGeom prst="rect">
            <a:avLst/>
          </a:prstGeom>
          <a:noFill/>
        </p:spPr>
        <p:txBody>
          <a:bodyPr wrap="square" lIns="0" rIns="0" tIns="0" bIns="0" anchor="t">
            <a:spAutoFit/>
          </a:bodyPr>
          <a:lstStyle/>
          <a:p>
            <a:pPr algn="l"/>
            <a:r>
              <a:rPr sz="1100" b="0">
                <a:solidFill>
                  <a:srgbClr val="888379"/>
                </a:solidFill>
                <a:latin typeface="Calibri"/>
              </a:rPr>
              <a:t>Customer interviews (Toronto local, US frequent-traveller, long-time owner, repair customer, new buyer). Audit existing repair + multi-way data. Lock Phase 1 scope.</a:t>
            </a:r>
          </a:p>
        </p:txBody>
      </p:sp>
      <p:sp>
        <p:nvSpPr>
          <p:cNvPr id="12" name="Rounded Rectangle 11"/>
          <p:cNvSpPr/>
          <p:nvPr/>
        </p:nvSpPr>
        <p:spPr>
          <a:xfrm>
            <a:off x="4617720" y="2651760"/>
            <a:ext cx="182880" cy="18288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37560" y="3063240"/>
            <a:ext cx="2743200" cy="32918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3200400"/>
            <a:ext cx="2194560" cy="365760"/>
          </a:xfrm>
          <a:prstGeom prst="rect">
            <a:avLst/>
          </a:prstGeom>
          <a:noFill/>
        </p:spPr>
        <p:txBody>
          <a:bodyPr wrap="square" lIns="0" rIns="0" tIns="0" bIns="0" anchor="t">
            <a:spAutoFit/>
          </a:bodyPr>
          <a:lstStyle/>
          <a:p>
            <a:pPr algn="l"/>
            <a:r>
              <a:rPr sz="1000" b="1">
                <a:solidFill>
                  <a:srgbClr val="5D6E54"/>
                </a:solidFill>
                <a:latin typeface="Calibri"/>
              </a:rPr>
              <a:t>Weeks 3–16</a:t>
            </a:r>
          </a:p>
        </p:txBody>
      </p:sp>
      <p:sp>
        <p:nvSpPr>
          <p:cNvPr id="15" name="TextBox 14"/>
          <p:cNvSpPr txBox="1"/>
          <p:nvPr/>
        </p:nvSpPr>
        <p:spPr>
          <a:xfrm>
            <a:off x="3611880" y="3566160"/>
            <a:ext cx="2194560" cy="548640"/>
          </a:xfrm>
          <a:prstGeom prst="rect">
            <a:avLst/>
          </a:prstGeom>
          <a:noFill/>
        </p:spPr>
        <p:txBody>
          <a:bodyPr wrap="square" lIns="0" rIns="0" tIns="0" bIns="0" anchor="t">
            <a:spAutoFit/>
          </a:bodyPr>
          <a:lstStyle/>
          <a:p>
            <a:pPr algn="l"/>
            <a:r>
              <a:rPr sz="2200" b="0">
                <a:solidFill>
                  <a:srgbClr val="2B2A26"/>
                </a:solidFill>
                <a:latin typeface="Georgia"/>
              </a:rPr>
              <a:t>Phase 1 build</a:t>
            </a:r>
          </a:p>
        </p:txBody>
      </p:sp>
      <p:sp>
        <p:nvSpPr>
          <p:cNvPr id="16" name="TextBox 15"/>
          <p:cNvSpPr txBox="1"/>
          <p:nvPr/>
        </p:nvSpPr>
        <p:spPr>
          <a:xfrm>
            <a:off x="3611880" y="4389120"/>
            <a:ext cx="2194560" cy="1828800"/>
          </a:xfrm>
          <a:prstGeom prst="rect">
            <a:avLst/>
          </a:prstGeom>
          <a:noFill/>
        </p:spPr>
        <p:txBody>
          <a:bodyPr wrap="square" lIns="0" rIns="0" tIns="0" bIns="0" anchor="t">
            <a:spAutoFit/>
          </a:bodyPr>
          <a:lstStyle/>
          <a:p>
            <a:pPr algn="l"/>
            <a:r>
              <a:rPr sz="1100" b="0">
                <a:solidFill>
                  <a:srgbClr val="888379"/>
                </a:solidFill>
                <a:latin typeface="Calibri"/>
              </a:rPr>
              <a:t>The Many, Capsule, Atelier, Wardrobe, Shop, Loops, Tier 1 AI, The Studio. EN/FR at launch.</a:t>
            </a:r>
          </a:p>
        </p:txBody>
      </p:sp>
      <p:sp>
        <p:nvSpPr>
          <p:cNvPr id="17" name="Rounded Rectangle 16"/>
          <p:cNvSpPr/>
          <p:nvPr/>
        </p:nvSpPr>
        <p:spPr>
          <a:xfrm>
            <a:off x="7406640" y="2651760"/>
            <a:ext cx="182880" cy="18288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26480" y="3063240"/>
            <a:ext cx="2743200" cy="32918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200400"/>
            <a:ext cx="2194560" cy="365760"/>
          </a:xfrm>
          <a:prstGeom prst="rect">
            <a:avLst/>
          </a:prstGeom>
          <a:noFill/>
        </p:spPr>
        <p:txBody>
          <a:bodyPr wrap="square" lIns="0" rIns="0" tIns="0" bIns="0" anchor="t">
            <a:spAutoFit/>
          </a:bodyPr>
          <a:lstStyle/>
          <a:p>
            <a:pPr algn="l"/>
            <a:r>
              <a:rPr sz="1000" b="1">
                <a:solidFill>
                  <a:srgbClr val="5D6E54"/>
                </a:solidFill>
                <a:latin typeface="Calibri"/>
              </a:rPr>
              <a:t>Weeks 17–32</a:t>
            </a:r>
          </a:p>
        </p:txBody>
      </p:sp>
      <p:sp>
        <p:nvSpPr>
          <p:cNvPr id="20" name="TextBox 19"/>
          <p:cNvSpPr txBox="1"/>
          <p:nvPr/>
        </p:nvSpPr>
        <p:spPr>
          <a:xfrm>
            <a:off x="6400800" y="3566160"/>
            <a:ext cx="2194560" cy="548640"/>
          </a:xfrm>
          <a:prstGeom prst="rect">
            <a:avLst/>
          </a:prstGeom>
          <a:noFill/>
        </p:spPr>
        <p:txBody>
          <a:bodyPr wrap="square" lIns="0" rIns="0" tIns="0" bIns="0" anchor="t">
            <a:spAutoFit/>
          </a:bodyPr>
          <a:lstStyle/>
          <a:p>
            <a:pPr algn="l"/>
            <a:r>
              <a:rPr sz="2200" b="0">
                <a:solidFill>
                  <a:srgbClr val="2B2A26"/>
                </a:solidFill>
                <a:latin typeface="Georgia"/>
              </a:rPr>
              <a:t>Phase 2 build</a:t>
            </a:r>
          </a:p>
        </p:txBody>
      </p:sp>
      <p:sp>
        <p:nvSpPr>
          <p:cNvPr id="21" name="TextBox 20"/>
          <p:cNvSpPr txBox="1"/>
          <p:nvPr/>
        </p:nvSpPr>
        <p:spPr>
          <a:xfrm>
            <a:off x="6400800" y="4389120"/>
            <a:ext cx="2194560" cy="1828800"/>
          </a:xfrm>
          <a:prstGeom prst="rect">
            <a:avLst/>
          </a:prstGeom>
          <a:noFill/>
        </p:spPr>
        <p:txBody>
          <a:bodyPr wrap="square" lIns="0" rIns="0" tIns="0" bIns="0" anchor="t">
            <a:spAutoFit/>
          </a:bodyPr>
          <a:lstStyle/>
          <a:p>
            <a:pPr algn="l"/>
            <a:r>
              <a:rPr sz="1100" b="0">
                <a:solidFill>
                  <a:srgbClr val="888379"/>
                </a:solidFill>
                <a:latin typeface="Calibri"/>
              </a:rPr>
              <a:t>AR multi-way, vision fit-check, advanced repair triage, wholesale portal.</a:t>
            </a:r>
          </a:p>
        </p:txBody>
      </p:sp>
      <p:sp>
        <p:nvSpPr>
          <p:cNvPr id="22" name="Rounded Rectangle 21"/>
          <p:cNvSpPr/>
          <p:nvPr/>
        </p:nvSpPr>
        <p:spPr>
          <a:xfrm>
            <a:off x="10195560" y="2651760"/>
            <a:ext cx="182880" cy="182880"/>
          </a:xfrm>
          <a:prstGeom prst="roundRect">
            <a:avLst>
              <a:gd name="adj" fmla="val 12000"/>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915400" y="3063240"/>
            <a:ext cx="2743200" cy="329184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89720" y="3200400"/>
            <a:ext cx="2194560" cy="365760"/>
          </a:xfrm>
          <a:prstGeom prst="rect">
            <a:avLst/>
          </a:prstGeom>
          <a:noFill/>
        </p:spPr>
        <p:txBody>
          <a:bodyPr wrap="square" lIns="0" rIns="0" tIns="0" bIns="0" anchor="t">
            <a:spAutoFit/>
          </a:bodyPr>
          <a:lstStyle/>
          <a:p>
            <a:pPr algn="l"/>
            <a:r>
              <a:rPr sz="1000" b="1">
                <a:solidFill>
                  <a:srgbClr val="5D6E54"/>
                </a:solidFill>
                <a:latin typeface="Calibri"/>
              </a:rPr>
              <a:t>Weeks 33–40+</a:t>
            </a:r>
          </a:p>
        </p:txBody>
      </p:sp>
      <p:sp>
        <p:nvSpPr>
          <p:cNvPr id="25" name="TextBox 24"/>
          <p:cNvSpPr txBox="1"/>
          <p:nvPr/>
        </p:nvSpPr>
        <p:spPr>
          <a:xfrm>
            <a:off x="9189720" y="3566160"/>
            <a:ext cx="2194560" cy="548640"/>
          </a:xfrm>
          <a:prstGeom prst="rect">
            <a:avLst/>
          </a:prstGeom>
          <a:noFill/>
        </p:spPr>
        <p:txBody>
          <a:bodyPr wrap="square" lIns="0" rIns="0" tIns="0" bIns="0" anchor="t">
            <a:spAutoFit/>
          </a:bodyPr>
          <a:lstStyle/>
          <a:p>
            <a:pPr algn="l"/>
            <a:r>
              <a:rPr sz="2200" b="0">
                <a:solidFill>
                  <a:srgbClr val="2B2A26"/>
                </a:solidFill>
                <a:latin typeface="Georgia"/>
              </a:rPr>
              <a:t>Phase 3 build</a:t>
            </a:r>
          </a:p>
        </p:txBody>
      </p:sp>
      <p:sp>
        <p:nvSpPr>
          <p:cNvPr id="26" name="TextBox 25"/>
          <p:cNvSpPr txBox="1"/>
          <p:nvPr/>
        </p:nvSpPr>
        <p:spPr>
          <a:xfrm>
            <a:off x="9189720" y="4389120"/>
            <a:ext cx="2194560" cy="1828800"/>
          </a:xfrm>
          <a:prstGeom prst="rect">
            <a:avLst/>
          </a:prstGeom>
          <a:noFill/>
        </p:spPr>
        <p:txBody>
          <a:bodyPr wrap="square" lIns="0" rIns="0" tIns="0" bIns="0" anchor="t">
            <a:spAutoFit/>
          </a:bodyPr>
          <a:lstStyle/>
          <a:p>
            <a:pPr algn="l"/>
            <a:r>
              <a:rPr sz="1100" b="0">
                <a:solidFill>
                  <a:srgbClr val="888379"/>
                </a:solidFill>
                <a:latin typeface="Calibri"/>
              </a:rPr>
              <a:t>Editorial, VOICES films, content-scaling AI, demand-sensing, counterfeit detection.</a:t>
            </a:r>
          </a:p>
        </p:txBody>
      </p:sp>
      <p:sp>
        <p:nvSpPr>
          <p:cNvPr id="27" name="TextBox 26"/>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28" name="TextBox 27"/>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HOW WE'LL KNOW IT'S WORKING</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The metrics that matter.</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560320"/>
            <a:ext cx="3657600" cy="18288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3108960" cy="365760"/>
          </a:xfrm>
          <a:prstGeom prst="rect">
            <a:avLst/>
          </a:prstGeom>
          <a:noFill/>
        </p:spPr>
        <p:txBody>
          <a:bodyPr wrap="square" lIns="0" rIns="0" tIns="0" bIns="0" anchor="t">
            <a:spAutoFit/>
          </a:bodyPr>
          <a:lstStyle/>
          <a:p>
            <a:pPr algn="l"/>
            <a:r>
              <a:rPr sz="1400" b="1">
                <a:solidFill>
                  <a:srgbClr val="5D6E54"/>
                </a:solidFill>
                <a:latin typeface="Calibri"/>
              </a:rPr>
              <a:t>Multi-way unlock rate</a:t>
            </a:r>
          </a:p>
        </p:txBody>
      </p:sp>
      <p:sp>
        <p:nvSpPr>
          <p:cNvPr id="8" name="TextBox 7"/>
          <p:cNvSpPr txBox="1"/>
          <p:nvPr/>
        </p:nvSpPr>
        <p:spPr>
          <a:xfrm>
            <a:off x="822960" y="3154680"/>
            <a:ext cx="3108960" cy="822960"/>
          </a:xfrm>
          <a:prstGeom prst="rect">
            <a:avLst/>
          </a:prstGeom>
          <a:noFill/>
        </p:spPr>
        <p:txBody>
          <a:bodyPr wrap="square" lIns="0" rIns="0" tIns="0" bIns="0" anchor="t">
            <a:spAutoFit/>
          </a:bodyPr>
          <a:lstStyle/>
          <a:p>
            <a:pPr algn="l"/>
            <a:r>
              <a:rPr sz="1100" b="0">
                <a:solidFill>
                  <a:srgbClr val="888379"/>
                </a:solidFill>
                <a:latin typeface="Calibri"/>
              </a:rPr>
              <a:t>Average styles unlocked per piece (vs 8 documented)</a:t>
            </a:r>
          </a:p>
        </p:txBody>
      </p:sp>
      <p:sp>
        <p:nvSpPr>
          <p:cNvPr id="9" name="TextBox 8"/>
          <p:cNvSpPr txBox="1"/>
          <p:nvPr/>
        </p:nvSpPr>
        <p:spPr>
          <a:xfrm>
            <a:off x="822960" y="3931920"/>
            <a:ext cx="3108960" cy="365760"/>
          </a:xfrm>
          <a:prstGeom prst="rect">
            <a:avLst/>
          </a:prstGeom>
          <a:noFill/>
        </p:spPr>
        <p:txBody>
          <a:bodyPr wrap="square" lIns="0" rIns="0" tIns="0" bIns="0" anchor="t">
            <a:spAutoFit/>
          </a:bodyPr>
          <a:lstStyle/>
          <a:p>
            <a:pPr algn="l"/>
            <a:r>
              <a:rPr sz="1400" b="0">
                <a:solidFill>
                  <a:srgbClr val="2B2A26"/>
                </a:solidFill>
                <a:latin typeface="Georgia"/>
              </a:rPr>
              <a:t>Target ≥ 5 of 8 by month 12</a:t>
            </a:r>
          </a:p>
        </p:txBody>
      </p:sp>
      <p:sp>
        <p:nvSpPr>
          <p:cNvPr id="10" name="Rounded Rectangle 9"/>
          <p:cNvSpPr/>
          <p:nvPr/>
        </p:nvSpPr>
        <p:spPr>
          <a:xfrm>
            <a:off x="4297680" y="2560320"/>
            <a:ext cx="3657600" cy="18288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743200"/>
            <a:ext cx="3108960" cy="365760"/>
          </a:xfrm>
          <a:prstGeom prst="rect">
            <a:avLst/>
          </a:prstGeom>
          <a:noFill/>
        </p:spPr>
        <p:txBody>
          <a:bodyPr wrap="square" lIns="0" rIns="0" tIns="0" bIns="0" anchor="t">
            <a:spAutoFit/>
          </a:bodyPr>
          <a:lstStyle/>
          <a:p>
            <a:pPr algn="l"/>
            <a:r>
              <a:rPr sz="1400" b="1">
                <a:solidFill>
                  <a:srgbClr val="5D6E54"/>
                </a:solidFill>
                <a:latin typeface="Calibri"/>
              </a:rPr>
              <a:t>Repair conversion</a:t>
            </a:r>
          </a:p>
        </p:txBody>
      </p:sp>
      <p:sp>
        <p:nvSpPr>
          <p:cNvPr id="12" name="TextBox 11"/>
          <p:cNvSpPr txBox="1"/>
          <p:nvPr/>
        </p:nvSpPr>
        <p:spPr>
          <a:xfrm>
            <a:off x="4572000" y="3154680"/>
            <a:ext cx="3108960" cy="822960"/>
          </a:xfrm>
          <a:prstGeom prst="rect">
            <a:avLst/>
          </a:prstGeom>
          <a:noFill/>
        </p:spPr>
        <p:txBody>
          <a:bodyPr wrap="square" lIns="0" rIns="0" tIns="0" bIns="0" anchor="t">
            <a:spAutoFit/>
          </a:bodyPr>
          <a:lstStyle/>
          <a:p>
            <a:pPr algn="l"/>
            <a:r>
              <a:rPr sz="1100" b="0">
                <a:solidFill>
                  <a:srgbClr val="888379"/>
                </a:solidFill>
                <a:latin typeface="Calibri"/>
              </a:rPr>
              <a:t>% of repair-triaged tickets converted to DIY or paid repair</a:t>
            </a:r>
          </a:p>
        </p:txBody>
      </p:sp>
      <p:sp>
        <p:nvSpPr>
          <p:cNvPr id="13" name="TextBox 12"/>
          <p:cNvSpPr txBox="1"/>
          <p:nvPr/>
        </p:nvSpPr>
        <p:spPr>
          <a:xfrm>
            <a:off x="4572000" y="3931920"/>
            <a:ext cx="3108960" cy="365760"/>
          </a:xfrm>
          <a:prstGeom prst="rect">
            <a:avLst/>
          </a:prstGeom>
          <a:noFill/>
        </p:spPr>
        <p:txBody>
          <a:bodyPr wrap="square" lIns="0" rIns="0" tIns="0" bIns="0" anchor="t">
            <a:spAutoFit/>
          </a:bodyPr>
          <a:lstStyle/>
          <a:p>
            <a:pPr algn="l"/>
            <a:r>
              <a:rPr sz="1400" b="0">
                <a:solidFill>
                  <a:srgbClr val="2B2A26"/>
                </a:solidFill>
                <a:latin typeface="Georgia"/>
              </a:rPr>
              <a:t>Target ≥ 75%</a:t>
            </a:r>
          </a:p>
        </p:txBody>
      </p:sp>
      <p:sp>
        <p:nvSpPr>
          <p:cNvPr id="14" name="Rounded Rectangle 13"/>
          <p:cNvSpPr/>
          <p:nvPr/>
        </p:nvSpPr>
        <p:spPr>
          <a:xfrm>
            <a:off x="8046720" y="2560320"/>
            <a:ext cx="3657600" cy="18288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743200"/>
            <a:ext cx="3108960" cy="365760"/>
          </a:xfrm>
          <a:prstGeom prst="rect">
            <a:avLst/>
          </a:prstGeom>
          <a:noFill/>
        </p:spPr>
        <p:txBody>
          <a:bodyPr wrap="square" lIns="0" rIns="0" tIns="0" bIns="0" anchor="t">
            <a:spAutoFit/>
          </a:bodyPr>
          <a:lstStyle/>
          <a:p>
            <a:pPr algn="l"/>
            <a:r>
              <a:rPr sz="1400" b="1">
                <a:solidFill>
                  <a:srgbClr val="5D6E54"/>
                </a:solidFill>
                <a:latin typeface="Calibri"/>
              </a:rPr>
              <a:t>Capsule adoption</a:t>
            </a:r>
          </a:p>
        </p:txBody>
      </p:sp>
      <p:sp>
        <p:nvSpPr>
          <p:cNvPr id="16" name="TextBox 15"/>
          <p:cNvSpPr txBox="1"/>
          <p:nvPr/>
        </p:nvSpPr>
        <p:spPr>
          <a:xfrm>
            <a:off x="8321040" y="3154680"/>
            <a:ext cx="3108960" cy="822960"/>
          </a:xfrm>
          <a:prstGeom prst="rect">
            <a:avLst/>
          </a:prstGeom>
          <a:noFill/>
        </p:spPr>
        <p:txBody>
          <a:bodyPr wrap="square" lIns="0" rIns="0" tIns="0" bIns="0" anchor="t">
            <a:spAutoFit/>
          </a:bodyPr>
          <a:lstStyle/>
          <a:p>
            <a:pPr algn="l"/>
            <a:r>
              <a:rPr sz="1100" b="0">
                <a:solidFill>
                  <a:srgbClr val="888379"/>
                </a:solidFill>
                <a:latin typeface="Calibri"/>
              </a:rPr>
              <a:t>% of users who build a capsule in their first 90d</a:t>
            </a:r>
          </a:p>
        </p:txBody>
      </p:sp>
      <p:sp>
        <p:nvSpPr>
          <p:cNvPr id="17" name="TextBox 16"/>
          <p:cNvSpPr txBox="1"/>
          <p:nvPr/>
        </p:nvSpPr>
        <p:spPr>
          <a:xfrm>
            <a:off x="8321040" y="3931920"/>
            <a:ext cx="3108960" cy="365760"/>
          </a:xfrm>
          <a:prstGeom prst="rect">
            <a:avLst/>
          </a:prstGeom>
          <a:noFill/>
        </p:spPr>
        <p:txBody>
          <a:bodyPr wrap="square" lIns="0" rIns="0" tIns="0" bIns="0" anchor="t">
            <a:spAutoFit/>
          </a:bodyPr>
          <a:lstStyle/>
          <a:p>
            <a:pPr algn="l"/>
            <a:r>
              <a:rPr sz="1400" b="0">
                <a:solidFill>
                  <a:srgbClr val="2B2A26"/>
                </a:solidFill>
                <a:latin typeface="Georgia"/>
              </a:rPr>
              <a:t>Target ≥ 40% by month 9</a:t>
            </a:r>
          </a:p>
        </p:txBody>
      </p:sp>
      <p:sp>
        <p:nvSpPr>
          <p:cNvPr id="18" name="Rounded Rectangle 17"/>
          <p:cNvSpPr/>
          <p:nvPr/>
        </p:nvSpPr>
        <p:spPr>
          <a:xfrm>
            <a:off x="548640" y="4480560"/>
            <a:ext cx="3657600" cy="18288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663440"/>
            <a:ext cx="3108960" cy="365760"/>
          </a:xfrm>
          <a:prstGeom prst="rect">
            <a:avLst/>
          </a:prstGeom>
          <a:noFill/>
        </p:spPr>
        <p:txBody>
          <a:bodyPr wrap="square" lIns="0" rIns="0" tIns="0" bIns="0" anchor="t">
            <a:spAutoFit/>
          </a:bodyPr>
          <a:lstStyle/>
          <a:p>
            <a:pPr algn="l"/>
            <a:r>
              <a:rPr sz="1400" b="1">
                <a:solidFill>
                  <a:srgbClr val="5D6E54"/>
                </a:solidFill>
                <a:latin typeface="Calibri"/>
              </a:rPr>
              <a:t>Cost-per-wear distribution</a:t>
            </a:r>
          </a:p>
        </p:txBody>
      </p:sp>
      <p:sp>
        <p:nvSpPr>
          <p:cNvPr id="20" name="TextBox 19"/>
          <p:cNvSpPr txBox="1"/>
          <p:nvPr/>
        </p:nvSpPr>
        <p:spPr>
          <a:xfrm>
            <a:off x="822960" y="5074920"/>
            <a:ext cx="3108960" cy="822960"/>
          </a:xfrm>
          <a:prstGeom prst="rect">
            <a:avLst/>
          </a:prstGeom>
          <a:noFill/>
        </p:spPr>
        <p:txBody>
          <a:bodyPr wrap="square" lIns="0" rIns="0" tIns="0" bIns="0" anchor="t">
            <a:spAutoFit/>
          </a:bodyPr>
          <a:lstStyle/>
          <a:p>
            <a:pPr algn="l"/>
            <a:r>
              <a:rPr sz="1100" b="0">
                <a:solidFill>
                  <a:srgbClr val="888379"/>
                </a:solidFill>
                <a:latin typeface="Calibri"/>
              </a:rPr>
              <a:t>Median CPW for app users vs non-app cohort</a:t>
            </a:r>
          </a:p>
        </p:txBody>
      </p:sp>
      <p:sp>
        <p:nvSpPr>
          <p:cNvPr id="21" name="TextBox 20"/>
          <p:cNvSpPr txBox="1"/>
          <p:nvPr/>
        </p:nvSpPr>
        <p:spPr>
          <a:xfrm>
            <a:off x="822960" y="5852160"/>
            <a:ext cx="3108960" cy="365760"/>
          </a:xfrm>
          <a:prstGeom prst="rect">
            <a:avLst/>
          </a:prstGeom>
          <a:noFill/>
        </p:spPr>
        <p:txBody>
          <a:bodyPr wrap="square" lIns="0" rIns="0" tIns="0" bIns="0" anchor="t">
            <a:spAutoFit/>
          </a:bodyPr>
          <a:lstStyle/>
          <a:p>
            <a:pPr algn="l"/>
            <a:r>
              <a:rPr sz="1400" b="0">
                <a:solidFill>
                  <a:srgbClr val="2B2A26"/>
                </a:solidFill>
                <a:latin typeface="Georgia"/>
              </a:rPr>
              <a:t>Target 30% lower for app cohort</a:t>
            </a:r>
          </a:p>
        </p:txBody>
      </p:sp>
      <p:sp>
        <p:nvSpPr>
          <p:cNvPr id="22" name="Rounded Rectangle 21"/>
          <p:cNvSpPr/>
          <p:nvPr/>
        </p:nvSpPr>
        <p:spPr>
          <a:xfrm>
            <a:off x="4297680" y="4480560"/>
            <a:ext cx="3657600" cy="18288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4663440"/>
            <a:ext cx="3108960" cy="365760"/>
          </a:xfrm>
          <a:prstGeom prst="rect">
            <a:avLst/>
          </a:prstGeom>
          <a:noFill/>
        </p:spPr>
        <p:txBody>
          <a:bodyPr wrap="square" lIns="0" rIns="0" tIns="0" bIns="0" anchor="t">
            <a:spAutoFit/>
          </a:bodyPr>
          <a:lstStyle/>
          <a:p>
            <a:pPr algn="l"/>
            <a:r>
              <a:rPr sz="1400" b="1">
                <a:solidFill>
                  <a:srgbClr val="5D6E54"/>
                </a:solidFill>
                <a:latin typeface="Calibri"/>
              </a:rPr>
              <a:t>Repeat rate</a:t>
            </a:r>
          </a:p>
        </p:txBody>
      </p:sp>
      <p:sp>
        <p:nvSpPr>
          <p:cNvPr id="24" name="TextBox 23"/>
          <p:cNvSpPr txBox="1"/>
          <p:nvPr/>
        </p:nvSpPr>
        <p:spPr>
          <a:xfrm>
            <a:off x="4572000" y="5074920"/>
            <a:ext cx="3108960" cy="822960"/>
          </a:xfrm>
          <a:prstGeom prst="rect">
            <a:avLst/>
          </a:prstGeom>
          <a:noFill/>
        </p:spPr>
        <p:txBody>
          <a:bodyPr wrap="square" lIns="0" rIns="0" tIns="0" bIns="0" anchor="t">
            <a:spAutoFit/>
          </a:bodyPr>
          <a:lstStyle/>
          <a:p>
            <a:pPr algn="l"/>
            <a:r>
              <a:rPr sz="1100" b="0">
                <a:solidFill>
                  <a:srgbClr val="888379"/>
                </a:solidFill>
                <a:latin typeface="Calibri"/>
              </a:rPr>
              <a:t>% of app users placing 2nd order within 90d</a:t>
            </a:r>
          </a:p>
        </p:txBody>
      </p:sp>
      <p:sp>
        <p:nvSpPr>
          <p:cNvPr id="25" name="TextBox 24"/>
          <p:cNvSpPr txBox="1"/>
          <p:nvPr/>
        </p:nvSpPr>
        <p:spPr>
          <a:xfrm>
            <a:off x="4572000" y="5852160"/>
            <a:ext cx="3108960" cy="365760"/>
          </a:xfrm>
          <a:prstGeom prst="rect">
            <a:avLst/>
          </a:prstGeom>
          <a:noFill/>
        </p:spPr>
        <p:txBody>
          <a:bodyPr wrap="square" lIns="0" rIns="0" tIns="0" bIns="0" anchor="t">
            <a:spAutoFit/>
          </a:bodyPr>
          <a:lstStyle/>
          <a:p>
            <a:pPr algn="l"/>
            <a:r>
              <a:rPr sz="1400" b="0">
                <a:solidFill>
                  <a:srgbClr val="2B2A26"/>
                </a:solidFill>
                <a:latin typeface="Georgia"/>
              </a:rPr>
              <a:t>Target +25% vs non-app cohort</a:t>
            </a:r>
          </a:p>
        </p:txBody>
      </p:sp>
      <p:sp>
        <p:nvSpPr>
          <p:cNvPr id="26" name="Rounded Rectangle 25"/>
          <p:cNvSpPr/>
          <p:nvPr/>
        </p:nvSpPr>
        <p:spPr>
          <a:xfrm>
            <a:off x="8046720" y="4480560"/>
            <a:ext cx="3657600" cy="18288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4663440"/>
            <a:ext cx="3108960" cy="365760"/>
          </a:xfrm>
          <a:prstGeom prst="rect">
            <a:avLst/>
          </a:prstGeom>
          <a:noFill/>
        </p:spPr>
        <p:txBody>
          <a:bodyPr wrap="square" lIns="0" rIns="0" tIns="0" bIns="0" anchor="t">
            <a:spAutoFit/>
          </a:bodyPr>
          <a:lstStyle/>
          <a:p>
            <a:pPr algn="l"/>
            <a:r>
              <a:rPr sz="1400" b="1">
                <a:solidFill>
                  <a:srgbClr val="5D6E54"/>
                </a:solidFill>
                <a:latin typeface="Calibri"/>
              </a:rPr>
              <a:t>Bilingual reach</a:t>
            </a:r>
          </a:p>
        </p:txBody>
      </p:sp>
      <p:sp>
        <p:nvSpPr>
          <p:cNvPr id="28" name="TextBox 27"/>
          <p:cNvSpPr txBox="1"/>
          <p:nvPr/>
        </p:nvSpPr>
        <p:spPr>
          <a:xfrm>
            <a:off x="8321040" y="5074920"/>
            <a:ext cx="3108960" cy="822960"/>
          </a:xfrm>
          <a:prstGeom prst="rect">
            <a:avLst/>
          </a:prstGeom>
          <a:noFill/>
        </p:spPr>
        <p:txBody>
          <a:bodyPr wrap="square" lIns="0" rIns="0" tIns="0" bIns="0" anchor="t">
            <a:spAutoFit/>
          </a:bodyPr>
          <a:lstStyle/>
          <a:p>
            <a:pPr algn="l"/>
            <a:r>
              <a:rPr sz="1100" b="0">
                <a:solidFill>
                  <a:srgbClr val="888379"/>
                </a:solidFill>
                <a:latin typeface="Calibri"/>
              </a:rPr>
              <a:t>% of sessions in FR</a:t>
            </a:r>
          </a:p>
        </p:txBody>
      </p:sp>
      <p:sp>
        <p:nvSpPr>
          <p:cNvPr id="29" name="TextBox 28"/>
          <p:cNvSpPr txBox="1"/>
          <p:nvPr/>
        </p:nvSpPr>
        <p:spPr>
          <a:xfrm>
            <a:off x="8321040" y="5852160"/>
            <a:ext cx="3108960" cy="365760"/>
          </a:xfrm>
          <a:prstGeom prst="rect">
            <a:avLst/>
          </a:prstGeom>
          <a:noFill/>
        </p:spPr>
        <p:txBody>
          <a:bodyPr wrap="square" lIns="0" rIns="0" tIns="0" bIns="0" anchor="t">
            <a:spAutoFit/>
          </a:bodyPr>
          <a:lstStyle/>
          <a:p>
            <a:pPr algn="l"/>
            <a:r>
              <a:rPr sz="1400" b="0">
                <a:solidFill>
                  <a:srgbClr val="2B2A26"/>
                </a:solidFill>
                <a:latin typeface="Georgia"/>
              </a:rPr>
              <a:t>Target ≥ 18% by month 12</a:t>
            </a:r>
          </a:p>
        </p:txBody>
      </p:sp>
      <p:sp>
        <p:nvSpPr>
          <p:cNvPr id="30" name="TextBox 29"/>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31" name="TextBox 30"/>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HOW IT WILL FEEL</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Design principles.</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468880"/>
            <a:ext cx="5486400" cy="128016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651760"/>
            <a:ext cx="4937760" cy="365760"/>
          </a:xfrm>
          <a:prstGeom prst="rect">
            <a:avLst/>
          </a:prstGeom>
          <a:noFill/>
        </p:spPr>
        <p:txBody>
          <a:bodyPr wrap="square" lIns="0" rIns="0" tIns="0" bIns="0" anchor="t">
            <a:spAutoFit/>
          </a:bodyPr>
          <a:lstStyle/>
          <a:p>
            <a:pPr algn="l"/>
            <a:r>
              <a:rPr sz="1400" b="1">
                <a:solidFill>
                  <a:srgbClr val="5D6E54"/>
                </a:solidFill>
                <a:latin typeface="Calibri"/>
              </a:rPr>
              <a:t>Calm, not loud</a:t>
            </a:r>
          </a:p>
        </p:txBody>
      </p:sp>
      <p:sp>
        <p:nvSpPr>
          <p:cNvPr id="8" name="TextBox 7"/>
          <p:cNvSpPr txBox="1"/>
          <p:nvPr/>
        </p:nvSpPr>
        <p:spPr>
          <a:xfrm>
            <a:off x="822960" y="3063240"/>
            <a:ext cx="4937760" cy="914400"/>
          </a:xfrm>
          <a:prstGeom prst="rect">
            <a:avLst/>
          </a:prstGeom>
          <a:noFill/>
        </p:spPr>
        <p:txBody>
          <a:bodyPr wrap="square" lIns="0" rIns="0" tIns="0" bIns="0" anchor="t">
            <a:spAutoFit/>
          </a:bodyPr>
          <a:lstStyle/>
          <a:p>
            <a:pPr algn="l"/>
            <a:r>
              <a:rPr sz="1100" b="0">
                <a:solidFill>
                  <a:srgbClr val="888379"/>
                </a:solidFill>
                <a:latin typeface="Calibri"/>
              </a:rPr>
              <a:t>Slow fashion deserves a slow interface. No streaks, no FOMO, no urgency design.</a:t>
            </a:r>
          </a:p>
        </p:txBody>
      </p:sp>
      <p:sp>
        <p:nvSpPr>
          <p:cNvPr id="9" name="Rounded Rectangle 8"/>
          <p:cNvSpPr/>
          <p:nvPr/>
        </p:nvSpPr>
        <p:spPr>
          <a:xfrm>
            <a:off x="6172200" y="2468880"/>
            <a:ext cx="5486400" cy="128016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651760"/>
            <a:ext cx="4937760" cy="365760"/>
          </a:xfrm>
          <a:prstGeom prst="rect">
            <a:avLst/>
          </a:prstGeom>
          <a:noFill/>
        </p:spPr>
        <p:txBody>
          <a:bodyPr wrap="square" lIns="0" rIns="0" tIns="0" bIns="0" anchor="t">
            <a:spAutoFit/>
          </a:bodyPr>
          <a:lstStyle/>
          <a:p>
            <a:pPr algn="l"/>
            <a:r>
              <a:rPr sz="1400" b="1">
                <a:solidFill>
                  <a:srgbClr val="5D6E54"/>
                </a:solidFill>
                <a:latin typeface="Calibri"/>
              </a:rPr>
              <a:t>Body data is opt-in</a:t>
            </a:r>
          </a:p>
        </p:txBody>
      </p:sp>
      <p:sp>
        <p:nvSpPr>
          <p:cNvPr id="11" name="TextBox 10"/>
          <p:cNvSpPr txBox="1"/>
          <p:nvPr/>
        </p:nvSpPr>
        <p:spPr>
          <a:xfrm>
            <a:off x="6446520" y="3063240"/>
            <a:ext cx="4937760" cy="914400"/>
          </a:xfrm>
          <a:prstGeom prst="rect">
            <a:avLst/>
          </a:prstGeom>
          <a:noFill/>
        </p:spPr>
        <p:txBody>
          <a:bodyPr wrap="square" lIns="0" rIns="0" tIns="0" bIns="0" anchor="t">
            <a:spAutoFit/>
          </a:bodyPr>
          <a:lstStyle/>
          <a:p>
            <a:pPr algn="l"/>
            <a:r>
              <a:rPr sz="1100" b="0">
                <a:solidFill>
                  <a:srgbClr val="888379"/>
                </a:solidFill>
                <a:latin typeface="Calibri"/>
              </a:rPr>
              <a:t>Never weight or BMI. Body shape only with explicit consent.</a:t>
            </a:r>
          </a:p>
        </p:txBody>
      </p:sp>
      <p:sp>
        <p:nvSpPr>
          <p:cNvPr id="12" name="Rounded Rectangle 11"/>
          <p:cNvSpPr/>
          <p:nvPr/>
        </p:nvSpPr>
        <p:spPr>
          <a:xfrm>
            <a:off x="548640" y="3886200"/>
            <a:ext cx="5486400" cy="128016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069080"/>
            <a:ext cx="4937760" cy="365760"/>
          </a:xfrm>
          <a:prstGeom prst="rect">
            <a:avLst/>
          </a:prstGeom>
          <a:noFill/>
        </p:spPr>
        <p:txBody>
          <a:bodyPr wrap="square" lIns="0" rIns="0" tIns="0" bIns="0" anchor="t">
            <a:spAutoFit/>
          </a:bodyPr>
          <a:lstStyle/>
          <a:p>
            <a:pPr algn="l"/>
            <a:r>
              <a:rPr sz="1400" b="1">
                <a:solidFill>
                  <a:srgbClr val="5D6E54"/>
                </a:solidFill>
                <a:latin typeface="Calibri"/>
              </a:rPr>
              <a:t>Multi-way is the brand</a:t>
            </a:r>
          </a:p>
        </p:txBody>
      </p:sp>
      <p:sp>
        <p:nvSpPr>
          <p:cNvPr id="14" name="TextBox 13"/>
          <p:cNvSpPr txBox="1"/>
          <p:nvPr/>
        </p:nvSpPr>
        <p:spPr>
          <a:xfrm>
            <a:off x="822960" y="4480560"/>
            <a:ext cx="4937760" cy="914400"/>
          </a:xfrm>
          <a:prstGeom prst="rect">
            <a:avLst/>
          </a:prstGeom>
          <a:noFill/>
        </p:spPr>
        <p:txBody>
          <a:bodyPr wrap="square" lIns="0" rIns="0" tIns="0" bIns="0" anchor="t">
            <a:spAutoFit/>
          </a:bodyPr>
          <a:lstStyle/>
          <a:p>
            <a:pPr algn="l"/>
            <a:r>
              <a:rPr sz="1100" b="0">
                <a:solidFill>
                  <a:srgbClr val="888379"/>
                </a:solidFill>
                <a:latin typeface="Calibri"/>
              </a:rPr>
              <a:t>AI never invents new styles for live pieces — only proposes for human review.</a:t>
            </a:r>
          </a:p>
        </p:txBody>
      </p:sp>
      <p:sp>
        <p:nvSpPr>
          <p:cNvPr id="15" name="Rounded Rectangle 14"/>
          <p:cNvSpPr/>
          <p:nvPr/>
        </p:nvSpPr>
        <p:spPr>
          <a:xfrm>
            <a:off x="6172200" y="3886200"/>
            <a:ext cx="5486400" cy="128016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069080"/>
            <a:ext cx="4937760" cy="365760"/>
          </a:xfrm>
          <a:prstGeom prst="rect">
            <a:avLst/>
          </a:prstGeom>
          <a:noFill/>
        </p:spPr>
        <p:txBody>
          <a:bodyPr wrap="square" lIns="0" rIns="0" tIns="0" bIns="0" anchor="t">
            <a:spAutoFit/>
          </a:bodyPr>
          <a:lstStyle/>
          <a:p>
            <a:pPr algn="l"/>
            <a:r>
              <a:rPr sz="1400" b="1">
                <a:solidFill>
                  <a:srgbClr val="5D6E54"/>
                </a:solidFill>
                <a:latin typeface="Calibri"/>
              </a:rPr>
              <a:t>Lifetime repair is one tap</a:t>
            </a:r>
          </a:p>
        </p:txBody>
      </p:sp>
      <p:sp>
        <p:nvSpPr>
          <p:cNvPr id="17" name="TextBox 16"/>
          <p:cNvSpPr txBox="1"/>
          <p:nvPr/>
        </p:nvSpPr>
        <p:spPr>
          <a:xfrm>
            <a:off x="6446520" y="4480560"/>
            <a:ext cx="4937760" cy="914400"/>
          </a:xfrm>
          <a:prstGeom prst="rect">
            <a:avLst/>
          </a:prstGeom>
          <a:noFill/>
        </p:spPr>
        <p:txBody>
          <a:bodyPr wrap="square" lIns="0" rIns="0" tIns="0" bIns="0" anchor="t">
            <a:spAutoFit/>
          </a:bodyPr>
          <a:lstStyle/>
          <a:p>
            <a:pPr algn="l"/>
            <a:r>
              <a:rPr sz="1100" b="0">
                <a:solidFill>
                  <a:srgbClr val="888379"/>
                </a:solidFill>
                <a:latin typeface="Calibri"/>
              </a:rPr>
              <a:t>If it takes more than four screens to request a repair, we've failed.</a:t>
            </a:r>
          </a:p>
        </p:txBody>
      </p:sp>
      <p:sp>
        <p:nvSpPr>
          <p:cNvPr id="18" name="Rounded Rectangle 17"/>
          <p:cNvSpPr/>
          <p:nvPr/>
        </p:nvSpPr>
        <p:spPr>
          <a:xfrm>
            <a:off x="548640" y="5303520"/>
            <a:ext cx="5486400" cy="128016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486400"/>
            <a:ext cx="4937760" cy="365760"/>
          </a:xfrm>
          <a:prstGeom prst="rect">
            <a:avLst/>
          </a:prstGeom>
          <a:noFill/>
        </p:spPr>
        <p:txBody>
          <a:bodyPr wrap="square" lIns="0" rIns="0" tIns="0" bIns="0" anchor="t">
            <a:spAutoFit/>
          </a:bodyPr>
          <a:lstStyle/>
          <a:p>
            <a:pPr algn="l"/>
            <a:r>
              <a:rPr sz="1400" b="1">
                <a:solidFill>
                  <a:srgbClr val="5D6E54"/>
                </a:solidFill>
                <a:latin typeface="Calibri"/>
              </a:rPr>
              <a:t>Recognition over discounts</a:t>
            </a:r>
          </a:p>
        </p:txBody>
      </p:sp>
      <p:sp>
        <p:nvSpPr>
          <p:cNvPr id="20" name="TextBox 19"/>
          <p:cNvSpPr txBox="1"/>
          <p:nvPr/>
        </p:nvSpPr>
        <p:spPr>
          <a:xfrm>
            <a:off x="822960" y="5897880"/>
            <a:ext cx="4937760" cy="914400"/>
          </a:xfrm>
          <a:prstGeom prst="rect">
            <a:avLst/>
          </a:prstGeom>
          <a:noFill/>
        </p:spPr>
        <p:txBody>
          <a:bodyPr wrap="square" lIns="0" rIns="0" tIns="0" bIns="0" anchor="t">
            <a:spAutoFit/>
          </a:bodyPr>
          <a:lstStyle/>
          <a:p>
            <a:pPr algn="l"/>
            <a:r>
              <a:rPr sz="1100" b="0">
                <a:solidFill>
                  <a:srgbClr val="888379"/>
                </a:solidFill>
                <a:latin typeface="Calibri"/>
              </a:rPr>
              <a:t>Loops reward long-term ownership and repair use. Not bribes for new buys.</a:t>
            </a:r>
          </a:p>
        </p:txBody>
      </p:sp>
      <p:sp>
        <p:nvSpPr>
          <p:cNvPr id="21" name="Rounded Rectangle 20"/>
          <p:cNvSpPr/>
          <p:nvPr/>
        </p:nvSpPr>
        <p:spPr>
          <a:xfrm>
            <a:off x="6172200" y="5303520"/>
            <a:ext cx="5486400" cy="128016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5486400"/>
            <a:ext cx="4937760" cy="365760"/>
          </a:xfrm>
          <a:prstGeom prst="rect">
            <a:avLst/>
          </a:prstGeom>
          <a:noFill/>
        </p:spPr>
        <p:txBody>
          <a:bodyPr wrap="square" lIns="0" rIns="0" tIns="0" bIns="0" anchor="t">
            <a:spAutoFit/>
          </a:bodyPr>
          <a:lstStyle/>
          <a:p>
            <a:pPr algn="l"/>
            <a:r>
              <a:rPr sz="1400" b="1">
                <a:solidFill>
                  <a:srgbClr val="5D6E54"/>
                </a:solidFill>
                <a:latin typeface="Calibri"/>
              </a:rPr>
              <a:t>Bilingual by default</a:t>
            </a:r>
          </a:p>
        </p:txBody>
      </p:sp>
      <p:sp>
        <p:nvSpPr>
          <p:cNvPr id="23" name="TextBox 22"/>
          <p:cNvSpPr txBox="1"/>
          <p:nvPr/>
        </p:nvSpPr>
        <p:spPr>
          <a:xfrm>
            <a:off x="6446520" y="5897880"/>
            <a:ext cx="4937760" cy="914400"/>
          </a:xfrm>
          <a:prstGeom prst="rect">
            <a:avLst/>
          </a:prstGeom>
          <a:noFill/>
        </p:spPr>
        <p:txBody>
          <a:bodyPr wrap="square" lIns="0" rIns="0" tIns="0" bIns="0" anchor="t">
            <a:spAutoFit/>
          </a:bodyPr>
          <a:lstStyle/>
          <a:p>
            <a:pPr algn="l"/>
            <a:r>
              <a:rPr sz="1100" b="0">
                <a:solidFill>
                  <a:srgbClr val="888379"/>
                </a:solidFill>
                <a:latin typeface="Calibri"/>
              </a:rPr>
              <a:t>EN and FR are equals. Translation is brand-aware, never literal.</a:t>
            </a:r>
          </a:p>
        </p:txBody>
      </p:sp>
      <p:sp>
        <p:nvSpPr>
          <p:cNvPr id="24" name="TextBox 23"/>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25" name="TextBox 24"/>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WORKING TOGETHER</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How we'd partner.</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286000"/>
            <a:ext cx="5486400" cy="18288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560320"/>
            <a:ext cx="4937760" cy="457200"/>
          </a:xfrm>
          <a:prstGeom prst="rect">
            <a:avLst/>
          </a:prstGeom>
          <a:noFill/>
        </p:spPr>
        <p:txBody>
          <a:bodyPr wrap="square" lIns="0" rIns="0" tIns="0" bIns="0" anchor="t">
            <a:spAutoFit/>
          </a:bodyPr>
          <a:lstStyle/>
          <a:p>
            <a:pPr algn="l"/>
            <a:r>
              <a:rPr sz="2000" b="0">
                <a:solidFill>
                  <a:srgbClr val="5D6E54"/>
                </a:solidFill>
                <a:latin typeface="Georgia"/>
              </a:rPr>
              <a:t>Discovery sprint</a:t>
            </a:r>
          </a:p>
        </p:txBody>
      </p:sp>
      <p:sp>
        <p:nvSpPr>
          <p:cNvPr id="8" name="TextBox 7"/>
          <p:cNvSpPr txBox="1"/>
          <p:nvPr/>
        </p:nvSpPr>
        <p:spPr>
          <a:xfrm>
            <a:off x="822960" y="3154680"/>
            <a:ext cx="4937760" cy="1005840"/>
          </a:xfrm>
          <a:prstGeom prst="rect">
            <a:avLst/>
          </a:prstGeom>
          <a:noFill/>
        </p:spPr>
        <p:txBody>
          <a:bodyPr wrap="square" lIns="0" rIns="0" tIns="0" bIns="0" anchor="t">
            <a:spAutoFit/>
          </a:bodyPr>
          <a:lstStyle/>
          <a:p>
            <a:pPr algn="l"/>
            <a:r>
              <a:rPr sz="1200" b="0">
                <a:solidFill>
                  <a:srgbClr val="888379"/>
                </a:solidFill>
                <a:latin typeface="Calibri"/>
              </a:rPr>
              <a:t>Two weeks. Customer interviews — Toronto local, US frequent-traveller, long-time owner, repair customer, new buyer. Walk away with a signed Phase 1 spec — even if you don't build with us.</a:t>
            </a:r>
          </a:p>
        </p:txBody>
      </p:sp>
      <p:sp>
        <p:nvSpPr>
          <p:cNvPr id="9" name="Rounded Rectangle 8"/>
          <p:cNvSpPr/>
          <p:nvPr/>
        </p:nvSpPr>
        <p:spPr>
          <a:xfrm>
            <a:off x="6172200" y="2286000"/>
            <a:ext cx="5486400" cy="18288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560320"/>
            <a:ext cx="4937760" cy="457200"/>
          </a:xfrm>
          <a:prstGeom prst="rect">
            <a:avLst/>
          </a:prstGeom>
          <a:noFill/>
        </p:spPr>
        <p:txBody>
          <a:bodyPr wrap="square" lIns="0" rIns="0" tIns="0" bIns="0" anchor="t">
            <a:spAutoFit/>
          </a:bodyPr>
          <a:lstStyle/>
          <a:p>
            <a:pPr algn="l"/>
            <a:r>
              <a:rPr sz="2000" b="0">
                <a:solidFill>
                  <a:srgbClr val="5D6E54"/>
                </a:solidFill>
                <a:latin typeface="Georgia"/>
              </a:rPr>
              <a:t>Embedded delivery</a:t>
            </a:r>
          </a:p>
        </p:txBody>
      </p:sp>
      <p:sp>
        <p:nvSpPr>
          <p:cNvPr id="11" name="TextBox 10"/>
          <p:cNvSpPr txBox="1"/>
          <p:nvPr/>
        </p:nvSpPr>
        <p:spPr>
          <a:xfrm>
            <a:off x="6446520" y="3154680"/>
            <a:ext cx="4937760" cy="1005840"/>
          </a:xfrm>
          <a:prstGeom prst="rect">
            <a:avLst/>
          </a:prstGeom>
          <a:noFill/>
        </p:spPr>
        <p:txBody>
          <a:bodyPr wrap="square" lIns="0" rIns="0" tIns="0" bIns="0" anchor="t">
            <a:spAutoFit/>
          </a:bodyPr>
          <a:lstStyle/>
          <a:p>
            <a:pPr algn="l"/>
            <a:r>
              <a:rPr sz="1200" b="0">
                <a:solidFill>
                  <a:srgbClr val="888379"/>
                </a:solidFill>
                <a:latin typeface="Calibri"/>
              </a:rPr>
              <a:t>A small team — lead engineer, mobile engineer, designer, bilingual QA — works as an extension of yours. Weekly demos.</a:t>
            </a:r>
          </a:p>
        </p:txBody>
      </p:sp>
      <p:sp>
        <p:nvSpPr>
          <p:cNvPr id="12" name="Rounded Rectangle 11"/>
          <p:cNvSpPr/>
          <p:nvPr/>
        </p:nvSpPr>
        <p:spPr>
          <a:xfrm>
            <a:off x="548640" y="4251960"/>
            <a:ext cx="5486400" cy="18288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526280"/>
            <a:ext cx="4937760" cy="457200"/>
          </a:xfrm>
          <a:prstGeom prst="rect">
            <a:avLst/>
          </a:prstGeom>
          <a:noFill/>
        </p:spPr>
        <p:txBody>
          <a:bodyPr wrap="square" lIns="0" rIns="0" tIns="0" bIns="0" anchor="t">
            <a:spAutoFit/>
          </a:bodyPr>
          <a:lstStyle/>
          <a:p>
            <a:pPr algn="l"/>
            <a:r>
              <a:rPr sz="2000" b="0">
                <a:solidFill>
                  <a:srgbClr val="5D6E54"/>
                </a:solidFill>
                <a:latin typeface="Georgia"/>
              </a:rPr>
              <a:t>Brand-side approval</a:t>
            </a:r>
          </a:p>
        </p:txBody>
      </p:sp>
      <p:sp>
        <p:nvSpPr>
          <p:cNvPr id="14" name="TextBox 13"/>
          <p:cNvSpPr txBox="1"/>
          <p:nvPr/>
        </p:nvSpPr>
        <p:spPr>
          <a:xfrm>
            <a:off x="822960" y="5120640"/>
            <a:ext cx="4937760" cy="1005840"/>
          </a:xfrm>
          <a:prstGeom prst="rect">
            <a:avLst/>
          </a:prstGeom>
          <a:noFill/>
        </p:spPr>
        <p:txBody>
          <a:bodyPr wrap="square" lIns="0" rIns="0" tIns="0" bIns="0" anchor="t">
            <a:spAutoFit/>
          </a:bodyPr>
          <a:lstStyle/>
          <a:p>
            <a:pPr algn="l"/>
            <a:r>
              <a:rPr sz="1200" b="0">
                <a:solidFill>
                  <a:srgbClr val="888379"/>
                </a:solidFill>
                <a:latin typeface="Calibri"/>
              </a:rPr>
              <a:t>Every customer-facing styling, care, and repair claim reviewed by your editorial team. AI generates; humans approve.</a:t>
            </a:r>
          </a:p>
        </p:txBody>
      </p:sp>
      <p:sp>
        <p:nvSpPr>
          <p:cNvPr id="15" name="Rounded Rectangle 14"/>
          <p:cNvSpPr/>
          <p:nvPr/>
        </p:nvSpPr>
        <p:spPr>
          <a:xfrm>
            <a:off x="6172200" y="4251960"/>
            <a:ext cx="5486400" cy="1828800"/>
          </a:xfrm>
          <a:prstGeom prst="roundRect">
            <a:avLst>
              <a:gd name="adj" fmla="val 12000"/>
            </a:avLst>
          </a:prstGeom>
          <a:solidFill>
            <a:srgbClr val="FFFFFF"/>
          </a:solidFill>
          <a:ln w="9525">
            <a:solidFill>
              <a:srgbClr val="E6DF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526280"/>
            <a:ext cx="4937760" cy="457200"/>
          </a:xfrm>
          <a:prstGeom prst="rect">
            <a:avLst/>
          </a:prstGeom>
          <a:noFill/>
        </p:spPr>
        <p:txBody>
          <a:bodyPr wrap="square" lIns="0" rIns="0" tIns="0" bIns="0" anchor="t">
            <a:spAutoFit/>
          </a:bodyPr>
          <a:lstStyle/>
          <a:p>
            <a:pPr algn="l"/>
            <a:r>
              <a:rPr sz="2000" b="0">
                <a:solidFill>
                  <a:srgbClr val="5D6E54"/>
                </a:solidFill>
                <a:latin typeface="Georgia"/>
              </a:rPr>
              <a:t>Always your data</a:t>
            </a:r>
          </a:p>
        </p:txBody>
      </p:sp>
      <p:sp>
        <p:nvSpPr>
          <p:cNvPr id="17" name="TextBox 16"/>
          <p:cNvSpPr txBox="1"/>
          <p:nvPr/>
        </p:nvSpPr>
        <p:spPr>
          <a:xfrm>
            <a:off x="6446520" y="5120640"/>
            <a:ext cx="4937760" cy="1005840"/>
          </a:xfrm>
          <a:prstGeom prst="rect">
            <a:avLst/>
          </a:prstGeom>
          <a:noFill/>
        </p:spPr>
        <p:txBody>
          <a:bodyPr wrap="square" lIns="0" rIns="0" tIns="0" bIns="0" anchor="t">
            <a:spAutoFit/>
          </a:bodyPr>
          <a:lstStyle/>
          <a:p>
            <a:pPr algn="l"/>
            <a:r>
              <a:rPr sz="1200" b="0">
                <a:solidFill>
                  <a:srgbClr val="888379"/>
                </a:solidFill>
                <a:latin typeface="Calibri"/>
              </a:rPr>
              <a:t>Source code, customer data, AI logs, multi-way library all live in your accounts.</a:t>
            </a:r>
          </a:p>
        </p:txBody>
      </p:sp>
      <p:sp>
        <p:nvSpPr>
          <p:cNvPr id="18" name="TextBox 17"/>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19" name="TextBox 18"/>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nchor="t">
            <a:spAutoFit/>
          </a:bodyPr>
          <a:lstStyle/>
          <a:p>
            <a:pPr algn="l"/>
            <a:r>
              <a:rPr sz="1000" b="1">
                <a:solidFill>
                  <a:srgbClr val="5D6E54"/>
                </a:solidFill>
                <a:latin typeface="Calibri"/>
              </a:rPr>
              <a:t>WHY THIS WORKS FOR ENCIRCLED</a:t>
            </a:r>
          </a:p>
        </p:txBody>
      </p:sp>
      <p:sp>
        <p:nvSpPr>
          <p:cNvPr id="4" name="TextBox 3"/>
          <p:cNvSpPr txBox="1"/>
          <p:nvPr/>
        </p:nvSpPr>
        <p:spPr>
          <a:xfrm>
            <a:off x="548640" y="777240"/>
            <a:ext cx="10972800" cy="914400"/>
          </a:xfrm>
          <a:prstGeom prst="rect">
            <a:avLst/>
          </a:prstGeom>
          <a:noFill/>
        </p:spPr>
        <p:txBody>
          <a:bodyPr wrap="square" lIns="0" rIns="0" tIns="0" bIns="0" anchor="t">
            <a:spAutoFit/>
          </a:bodyPr>
          <a:lstStyle/>
          <a:p>
            <a:pPr algn="l"/>
            <a:r>
              <a:rPr sz="3400" b="0">
                <a:solidFill>
                  <a:srgbClr val="2B2A26"/>
                </a:solidFill>
                <a:latin typeface="Georgia"/>
              </a:rPr>
              <a:t>The bet behind the build.</a:t>
            </a:r>
          </a:p>
        </p:txBody>
      </p:sp>
      <p:sp>
        <p:nvSpPr>
          <p:cNvPr id="5" name="Rectangle 4"/>
          <p:cNvSpPr/>
          <p:nvPr/>
        </p:nvSpPr>
        <p:spPr>
          <a:xfrm>
            <a:off x="548640" y="1691640"/>
            <a:ext cx="640080" cy="25400"/>
          </a:xfrm>
          <a:prstGeom prst="rect">
            <a:avLst/>
          </a:prstGeom>
          <a:solidFill>
            <a:srgbClr val="5D6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286000"/>
            <a:ext cx="73152" cy="868680"/>
          </a:xfrm>
          <a:prstGeom prst="rect">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31720"/>
            <a:ext cx="10515600" cy="365760"/>
          </a:xfrm>
          <a:prstGeom prst="rect">
            <a:avLst/>
          </a:prstGeom>
          <a:noFill/>
        </p:spPr>
        <p:txBody>
          <a:bodyPr wrap="square" lIns="0" rIns="0" tIns="0" bIns="0" anchor="t">
            <a:spAutoFit/>
          </a:bodyPr>
          <a:lstStyle/>
          <a:p>
            <a:pPr algn="l"/>
            <a:r>
              <a:rPr sz="2000" b="0">
                <a:solidFill>
                  <a:srgbClr val="2B2A26"/>
                </a:solidFill>
                <a:latin typeface="Georgia"/>
              </a:rPr>
              <a:t>Multi-way is your moat</a:t>
            </a:r>
          </a:p>
        </p:txBody>
      </p:sp>
      <p:sp>
        <p:nvSpPr>
          <p:cNvPr id="8" name="TextBox 7"/>
          <p:cNvSpPr txBox="1"/>
          <p:nvPr/>
        </p:nvSpPr>
        <p:spPr>
          <a:xfrm>
            <a:off x="868680" y="2788920"/>
            <a:ext cx="10515600" cy="365760"/>
          </a:xfrm>
          <a:prstGeom prst="rect">
            <a:avLst/>
          </a:prstGeom>
          <a:noFill/>
        </p:spPr>
        <p:txBody>
          <a:bodyPr wrap="square" lIns="0" rIns="0" tIns="0" bIns="0" anchor="t">
            <a:spAutoFit/>
          </a:bodyPr>
          <a:lstStyle/>
          <a:p>
            <a:pPr algn="l"/>
            <a:r>
              <a:rPr sz="1200" b="0">
                <a:solidFill>
                  <a:srgbClr val="888379"/>
                </a:solidFill>
                <a:latin typeface="Calibri"/>
              </a:rPr>
              <a:t>No fast-fashion brand can answer the question 'how do I wear this in 8 ways?' — and they can't fake it. The Many makes Encircled's documented IP usable.</a:t>
            </a:r>
          </a:p>
        </p:txBody>
      </p:sp>
      <p:sp>
        <p:nvSpPr>
          <p:cNvPr id="9" name="Rectangle 8"/>
          <p:cNvSpPr/>
          <p:nvPr/>
        </p:nvSpPr>
        <p:spPr>
          <a:xfrm>
            <a:off x="548640" y="3246120"/>
            <a:ext cx="73152" cy="868680"/>
          </a:xfrm>
          <a:prstGeom prst="rect">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291840"/>
            <a:ext cx="10515600" cy="365760"/>
          </a:xfrm>
          <a:prstGeom prst="rect">
            <a:avLst/>
          </a:prstGeom>
          <a:noFill/>
        </p:spPr>
        <p:txBody>
          <a:bodyPr wrap="square" lIns="0" rIns="0" tIns="0" bIns="0" anchor="t">
            <a:spAutoFit/>
          </a:bodyPr>
          <a:lstStyle/>
          <a:p>
            <a:pPr algn="l"/>
            <a:r>
              <a:rPr sz="2000" b="0">
                <a:solidFill>
                  <a:srgbClr val="2B2A26"/>
                </a:solidFill>
                <a:latin typeface="Georgia"/>
              </a:rPr>
              <a:t>Lifetime repair pays for the rest</a:t>
            </a:r>
          </a:p>
        </p:txBody>
      </p:sp>
      <p:sp>
        <p:nvSpPr>
          <p:cNvPr id="11" name="TextBox 10"/>
          <p:cNvSpPr txBox="1"/>
          <p:nvPr/>
        </p:nvSpPr>
        <p:spPr>
          <a:xfrm>
            <a:off x="868680" y="3749040"/>
            <a:ext cx="10515600" cy="365760"/>
          </a:xfrm>
          <a:prstGeom prst="rect">
            <a:avLst/>
          </a:prstGeom>
          <a:noFill/>
        </p:spPr>
        <p:txBody>
          <a:bodyPr wrap="square" lIns="0" rIns="0" tIns="0" bIns="0" anchor="t">
            <a:spAutoFit/>
          </a:bodyPr>
          <a:lstStyle/>
          <a:p>
            <a:pPr algn="l"/>
            <a:r>
              <a:rPr sz="1200" b="0">
                <a:solidFill>
                  <a:srgbClr val="888379"/>
                </a:solidFill>
                <a:latin typeface="Calibri"/>
              </a:rPr>
              <a:t>A repair workflow that customers actually use raises NPS, raises repeat rate, and gives you the longest LTV in the category. The Atelier flow is the value.</a:t>
            </a:r>
          </a:p>
        </p:txBody>
      </p:sp>
      <p:sp>
        <p:nvSpPr>
          <p:cNvPr id="12" name="Rectangle 11"/>
          <p:cNvSpPr/>
          <p:nvPr/>
        </p:nvSpPr>
        <p:spPr>
          <a:xfrm>
            <a:off x="548640" y="4206240"/>
            <a:ext cx="73152" cy="868680"/>
          </a:xfrm>
          <a:prstGeom prst="rect">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251960"/>
            <a:ext cx="10515600" cy="365760"/>
          </a:xfrm>
          <a:prstGeom prst="rect">
            <a:avLst/>
          </a:prstGeom>
          <a:noFill/>
        </p:spPr>
        <p:txBody>
          <a:bodyPr wrap="square" lIns="0" rIns="0" tIns="0" bIns="0" anchor="t">
            <a:spAutoFit/>
          </a:bodyPr>
          <a:lstStyle/>
          <a:p>
            <a:pPr algn="l"/>
            <a:r>
              <a:rPr sz="2000" b="0">
                <a:solidFill>
                  <a:srgbClr val="2B2A26"/>
                </a:solidFill>
                <a:latin typeface="Georgia"/>
              </a:rPr>
              <a:t>Capsule turns travelers into evangelists</a:t>
            </a:r>
          </a:p>
        </p:txBody>
      </p:sp>
      <p:sp>
        <p:nvSpPr>
          <p:cNvPr id="14" name="TextBox 13"/>
          <p:cNvSpPr txBox="1"/>
          <p:nvPr/>
        </p:nvSpPr>
        <p:spPr>
          <a:xfrm>
            <a:off x="868680" y="4709160"/>
            <a:ext cx="10515600" cy="365760"/>
          </a:xfrm>
          <a:prstGeom prst="rect">
            <a:avLst/>
          </a:prstGeom>
          <a:noFill/>
        </p:spPr>
        <p:txBody>
          <a:bodyPr wrap="square" lIns="0" rIns="0" tIns="0" bIns="0" anchor="t">
            <a:spAutoFit/>
          </a:bodyPr>
          <a:lstStyle/>
          <a:p>
            <a:pPr algn="l"/>
            <a:r>
              <a:rPr sz="1200" b="0">
                <a:solidFill>
                  <a:srgbClr val="888379"/>
                </a:solidFill>
                <a:latin typeface="Calibri"/>
              </a:rPr>
              <a:t>Encircled's traveler customer wants to pack light. The Capsule feature does the work for her. She tells her friends.</a:t>
            </a:r>
          </a:p>
        </p:txBody>
      </p:sp>
      <p:sp>
        <p:nvSpPr>
          <p:cNvPr id="15" name="Rectangle 14"/>
          <p:cNvSpPr/>
          <p:nvPr/>
        </p:nvSpPr>
        <p:spPr>
          <a:xfrm>
            <a:off x="548640" y="5166360"/>
            <a:ext cx="73152" cy="868680"/>
          </a:xfrm>
          <a:prstGeom prst="rect">
            <a:avLst/>
          </a:prstGeom>
          <a:solidFill>
            <a:srgbClr val="5D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212080"/>
            <a:ext cx="10515600" cy="365760"/>
          </a:xfrm>
          <a:prstGeom prst="rect">
            <a:avLst/>
          </a:prstGeom>
          <a:noFill/>
        </p:spPr>
        <p:txBody>
          <a:bodyPr wrap="square" lIns="0" rIns="0" tIns="0" bIns="0" anchor="t">
            <a:spAutoFit/>
          </a:bodyPr>
          <a:lstStyle/>
          <a:p>
            <a:pPr algn="l"/>
            <a:r>
              <a:rPr sz="2000" b="0">
                <a:solidFill>
                  <a:srgbClr val="2B2A26"/>
                </a:solidFill>
                <a:latin typeface="Georgia"/>
              </a:rPr>
              <a:t>AI in service of design, not replacement</a:t>
            </a:r>
          </a:p>
        </p:txBody>
      </p:sp>
      <p:sp>
        <p:nvSpPr>
          <p:cNvPr id="17" name="TextBox 16"/>
          <p:cNvSpPr txBox="1"/>
          <p:nvPr/>
        </p:nvSpPr>
        <p:spPr>
          <a:xfrm>
            <a:off x="868680" y="5669280"/>
            <a:ext cx="10515600" cy="365760"/>
          </a:xfrm>
          <a:prstGeom prst="rect">
            <a:avLst/>
          </a:prstGeom>
          <a:noFill/>
        </p:spPr>
        <p:txBody>
          <a:bodyPr wrap="square" lIns="0" rIns="0" tIns="0" bIns="0" anchor="t">
            <a:spAutoFit/>
          </a:bodyPr>
          <a:lstStyle/>
          <a:p>
            <a:pPr algn="l"/>
            <a:r>
              <a:rPr sz="1200" b="0">
                <a:solidFill>
                  <a:srgbClr val="888379"/>
                </a:solidFill>
                <a:latin typeface="Calibri"/>
              </a:rPr>
              <a:t>AI helps customers find the right size, the right style, the right repair. It never invents new multi-way styles for live pieces. The brand's design IP is safer for the building.</a:t>
            </a:r>
          </a:p>
        </p:txBody>
      </p:sp>
      <p:sp>
        <p:nvSpPr>
          <p:cNvPr id="18" name="TextBox 17"/>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888379"/>
                </a:solidFill>
                <a:latin typeface="Calibri"/>
              </a:rPr>
              <a:t>Encircled · Mobile App Pitch</a:t>
            </a:r>
          </a:p>
        </p:txBody>
      </p:sp>
      <p:sp>
        <p:nvSpPr>
          <p:cNvPr id="19" name="TextBox 18"/>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888379"/>
                </a:solidFill>
                <a:latin typeface="Calibri"/>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364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228600"/>
          </a:xfrm>
          <a:prstGeom prst="rect">
            <a:avLst/>
          </a:prstGeom>
          <a:solidFill>
            <a:srgbClr val="B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875520" y="1097280"/>
            <a:ext cx="365760" cy="365760"/>
          </a:xfrm>
          <a:prstGeom prst="ellipse">
            <a:avLst/>
          </a:prstGeom>
          <a:solidFill>
            <a:srgbClr val="B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10544" y="2615184"/>
            <a:ext cx="256032" cy="256032"/>
          </a:xfrm>
          <a:prstGeom prst="ellipse">
            <a:avLst/>
          </a:prstGeom>
          <a:solidFill>
            <a:srgbClr val="B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308592" y="3639312"/>
            <a:ext cx="402336" cy="402336"/>
          </a:xfrm>
          <a:prstGeom prst="ellipse">
            <a:avLst/>
          </a:prstGeom>
          <a:solidFill>
            <a:srgbClr val="B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26496" y="4974336"/>
            <a:ext cx="292608" cy="292608"/>
          </a:xfrm>
          <a:prstGeom prst="ellipse">
            <a:avLst/>
          </a:prstGeom>
          <a:solidFill>
            <a:srgbClr val="B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31552" y="5742432"/>
            <a:ext cx="219456" cy="219456"/>
          </a:xfrm>
          <a:prstGeom prst="ellipse">
            <a:avLst/>
          </a:prstGeom>
          <a:solidFill>
            <a:srgbClr val="B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02920"/>
            <a:ext cx="7315200" cy="274320"/>
          </a:xfrm>
          <a:prstGeom prst="rect">
            <a:avLst/>
          </a:prstGeom>
          <a:noFill/>
        </p:spPr>
        <p:txBody>
          <a:bodyPr wrap="square" lIns="0" rIns="0" tIns="0" bIns="0" anchor="t">
            <a:spAutoFit/>
          </a:bodyPr>
          <a:lstStyle/>
          <a:p>
            <a:pPr algn="l"/>
            <a:r>
              <a:rPr sz="1100" b="1">
                <a:solidFill>
                  <a:srgbClr val="B89968"/>
                </a:solidFill>
                <a:latin typeface="Calibri"/>
              </a:rPr>
              <a:t>NEXT STEP</a:t>
            </a:r>
          </a:p>
        </p:txBody>
      </p:sp>
      <p:sp>
        <p:nvSpPr>
          <p:cNvPr id="11" name="TextBox 10"/>
          <p:cNvSpPr txBox="1"/>
          <p:nvPr/>
        </p:nvSpPr>
        <p:spPr>
          <a:xfrm>
            <a:off x="548640" y="1005840"/>
            <a:ext cx="10058400" cy="1828800"/>
          </a:xfrm>
          <a:prstGeom prst="rect">
            <a:avLst/>
          </a:prstGeom>
          <a:noFill/>
        </p:spPr>
        <p:txBody>
          <a:bodyPr wrap="square" lIns="0" rIns="0" tIns="0" bIns="0" anchor="t">
            <a:spAutoFit/>
          </a:bodyPr>
          <a:lstStyle/>
          <a:p>
            <a:pPr algn="l"/>
            <a:r>
              <a:rPr sz="5400" b="0">
                <a:solidFill>
                  <a:srgbClr val="FFFFFF"/>
                </a:solidFill>
                <a:latin typeface="Georgia"/>
              </a:rPr>
              <a:t>A two-week paid discovery.</a:t>
            </a:r>
          </a:p>
        </p:txBody>
      </p:sp>
      <p:sp>
        <p:nvSpPr>
          <p:cNvPr id="12" name="TextBox 11"/>
          <p:cNvSpPr txBox="1"/>
          <p:nvPr/>
        </p:nvSpPr>
        <p:spPr>
          <a:xfrm>
            <a:off x="548640" y="2468880"/>
            <a:ext cx="9601200" cy="1828800"/>
          </a:xfrm>
          <a:prstGeom prst="rect">
            <a:avLst/>
          </a:prstGeom>
          <a:noFill/>
        </p:spPr>
        <p:txBody>
          <a:bodyPr wrap="square" lIns="0" rIns="0" tIns="0" bIns="0" anchor="t">
            <a:spAutoFit/>
          </a:bodyPr>
          <a:lstStyle/>
          <a:p>
            <a:pPr algn="l"/>
            <a:r>
              <a:rPr sz="1800" b="0">
                <a:solidFill>
                  <a:srgbClr val="ECDEC3"/>
                </a:solidFill>
                <a:latin typeface="Calibri"/>
              </a:rPr>
              <a:t>We sit with your team in Toronto. We talk to ten of your customers — the long-time Chrysalis owner, the frequent traveller, the repair user, the new buyer. We audit the existing multi-way library and repair-ledger feed. We come back with a lockable Phase 1 scope and a working prototype of the Multi-way and Repair flows in EN and FR.</a:t>
            </a:r>
          </a:p>
        </p:txBody>
      </p:sp>
      <p:sp>
        <p:nvSpPr>
          <p:cNvPr id="13" name="TextBox 12"/>
          <p:cNvSpPr txBox="1"/>
          <p:nvPr/>
        </p:nvSpPr>
        <p:spPr>
          <a:xfrm>
            <a:off x="548640" y="4663440"/>
            <a:ext cx="10058400" cy="457200"/>
          </a:xfrm>
          <a:prstGeom prst="rect">
            <a:avLst/>
          </a:prstGeom>
          <a:noFill/>
        </p:spPr>
        <p:txBody>
          <a:bodyPr wrap="square" lIns="0" rIns="0" tIns="0" bIns="0" anchor="t">
            <a:spAutoFit/>
          </a:bodyPr>
          <a:lstStyle/>
          <a:p>
            <a:pPr algn="l"/>
            <a:r>
              <a:rPr sz="1100" b="1">
                <a:solidFill>
                  <a:srgbClr val="B89968"/>
                </a:solidFill>
                <a:latin typeface="Calibri"/>
              </a:rPr>
              <a:t>WHAT YOU GET</a:t>
            </a:r>
          </a:p>
        </p:txBody>
      </p:sp>
      <p:sp>
        <p:nvSpPr>
          <p:cNvPr id="14" name="TextBox 13"/>
          <p:cNvSpPr txBox="1"/>
          <p:nvPr/>
        </p:nvSpPr>
        <p:spPr>
          <a:xfrm>
            <a:off x="548640" y="5029200"/>
            <a:ext cx="10058400" cy="1828800"/>
          </a:xfrm>
          <a:prstGeom prst="rect">
            <a:avLst/>
          </a:prstGeom>
          <a:noFill/>
        </p:spPr>
        <p:txBody>
          <a:bodyPr wrap="square" lIns="0" rIns="0" tIns="0" bIns="0" anchor="t">
            <a:spAutoFit/>
          </a:bodyPr>
          <a:lstStyle/>
          <a:p>
            <a:pPr algn="l"/>
            <a:r>
              <a:rPr sz="1400" b="0">
                <a:solidFill>
                  <a:srgbClr val="FFFFFF"/>
                </a:solidFill>
                <a:latin typeface="Calibri"/>
              </a:rPr>
              <a:t>•  A lockable feature scope, costed and timeboxed</a:t>
            </a:r>
          </a:p>
          <a:p>
            <a:pPr algn="l"/>
            <a:r>
              <a:rPr sz="1400" b="0">
                <a:solidFill>
                  <a:srgbClr val="FFFFFF"/>
                </a:solidFill>
                <a:latin typeface="Calibri"/>
              </a:rPr>
              <a:t>•  An interactive prototype of two core flows</a:t>
            </a:r>
          </a:p>
          <a:p>
            <a:pPr algn="l"/>
            <a:r>
              <a:rPr sz="1400" b="0">
                <a:solidFill>
                  <a:srgbClr val="FFFFFF"/>
                </a:solidFill>
                <a:latin typeface="Calibri"/>
              </a:rPr>
              <a:t>•  A summary of customer interviews and what we heard</a:t>
            </a:r>
          </a:p>
          <a:p>
            <a:pPr algn="l"/>
            <a:r>
              <a:rPr sz="1400" b="0">
                <a:solidFill>
                  <a:srgbClr val="FFFFFF"/>
                </a:solidFill>
                <a:latin typeface="Calibri"/>
              </a:rPr>
              <a:t>•  A go / no-go recommendation. Yours either way.</a:t>
            </a:r>
          </a:p>
        </p:txBody>
      </p:sp>
      <p:sp>
        <p:nvSpPr>
          <p:cNvPr id="15" name="TextBox 14"/>
          <p:cNvSpPr txBox="1"/>
          <p:nvPr/>
        </p:nvSpPr>
        <p:spPr>
          <a:xfrm>
            <a:off x="548640" y="6446520"/>
            <a:ext cx="5486400" cy="274320"/>
          </a:xfrm>
          <a:prstGeom prst="rect">
            <a:avLst/>
          </a:prstGeom>
          <a:noFill/>
        </p:spPr>
        <p:txBody>
          <a:bodyPr wrap="square" lIns="0" rIns="0" tIns="0" bIns="0" anchor="t">
            <a:spAutoFit/>
          </a:bodyPr>
          <a:lstStyle/>
          <a:p>
            <a:pPr algn="l"/>
            <a:r>
              <a:rPr sz="900" b="0">
                <a:solidFill>
                  <a:srgbClr val="ECDEC3"/>
                </a:solidFill>
                <a:latin typeface="Calibri"/>
              </a:rPr>
              <a:t>Encircled · Mobile App Pitch</a:t>
            </a:r>
          </a:p>
        </p:txBody>
      </p:sp>
      <p:sp>
        <p:nvSpPr>
          <p:cNvPr id="16" name="TextBox 15"/>
          <p:cNvSpPr txBox="1"/>
          <p:nvPr/>
        </p:nvSpPr>
        <p:spPr>
          <a:xfrm>
            <a:off x="10698480" y="6446520"/>
            <a:ext cx="914400" cy="274320"/>
          </a:xfrm>
          <a:prstGeom prst="rect">
            <a:avLst/>
          </a:prstGeom>
          <a:noFill/>
        </p:spPr>
        <p:txBody>
          <a:bodyPr wrap="square" lIns="0" rIns="0" tIns="0" bIns="0" anchor="t">
            <a:spAutoFit/>
          </a:bodyPr>
          <a:lstStyle/>
          <a:p>
            <a:pPr algn="r"/>
            <a:r>
              <a:rPr sz="900" b="0">
                <a:solidFill>
                  <a:srgbClr val="ECDEC3"/>
                </a:solidFill>
                <a:latin typeface="Calibr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