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0"/>
            <a:ext cx="4419295" cy="6858000"/>
          </a:xfrm>
          <a:prstGeom prst="rect">
            <a:avLst/>
          </a:prstGeom>
          <a:solidFill>
            <a:srgbClr val="3E4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9295" cy="1828800"/>
          </a:xfrm>
          <a:prstGeom prst="rect">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0"/>
            <a:ext cx="4419295" cy="457200"/>
          </a:xfrm>
          <a:prstGeom prst="rect">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0" y="1097280"/>
            <a:ext cx="365760" cy="365760"/>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20272" y="2633472"/>
            <a:ext cx="219456" cy="219456"/>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45168" y="3675888"/>
            <a:ext cx="329184" cy="329184"/>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44784" y="4992624"/>
            <a:ext cx="256032" cy="256032"/>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0" y="6035040"/>
            <a:ext cx="182880" cy="182880"/>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914400"/>
            <a:ext cx="73152" cy="2194560"/>
          </a:xfrm>
          <a:prstGeom prst="rect">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914400"/>
            <a:ext cx="6400800" cy="365760"/>
          </a:xfrm>
          <a:prstGeom prst="rect">
            <a:avLst/>
          </a:prstGeom>
          <a:noFill/>
        </p:spPr>
        <p:txBody>
          <a:bodyPr wrap="square" lIns="0" rIns="0" tIns="0" bIns="0" anchor="t">
            <a:spAutoFit/>
          </a:bodyPr>
          <a:lstStyle/>
          <a:p>
            <a:pPr algn="l"/>
            <a:r>
              <a:rPr sz="1100" b="1">
                <a:solidFill>
                  <a:srgbClr val="3E4F3B"/>
                </a:solidFill>
                <a:latin typeface="Calibri"/>
              </a:rPr>
              <a:t>MOBILE APP · PITCH</a:t>
            </a:r>
          </a:p>
        </p:txBody>
      </p:sp>
      <p:sp>
        <p:nvSpPr>
          <p:cNvPr id="13" name="TextBox 12"/>
          <p:cNvSpPr txBox="1"/>
          <p:nvPr/>
        </p:nvSpPr>
        <p:spPr>
          <a:xfrm>
            <a:off x="777240" y="1325880"/>
            <a:ext cx="7315200" cy="1828800"/>
          </a:xfrm>
          <a:prstGeom prst="rect">
            <a:avLst/>
          </a:prstGeom>
          <a:noFill/>
        </p:spPr>
        <p:txBody>
          <a:bodyPr wrap="square" lIns="0" rIns="0" tIns="0" bIns="0" anchor="t">
            <a:spAutoFit/>
          </a:bodyPr>
          <a:lstStyle/>
          <a:p>
            <a:pPr algn="l"/>
            <a:r>
              <a:rPr sz="6600" b="0">
                <a:solidFill>
                  <a:srgbClr val="2C3A2E"/>
                </a:solidFill>
                <a:latin typeface="Georgia"/>
              </a:rPr>
              <a:t>Cocokind.</a:t>
            </a:r>
          </a:p>
        </p:txBody>
      </p:sp>
      <p:sp>
        <p:nvSpPr>
          <p:cNvPr id="14" name="TextBox 13"/>
          <p:cNvSpPr txBox="1"/>
          <p:nvPr/>
        </p:nvSpPr>
        <p:spPr>
          <a:xfrm>
            <a:off x="777240" y="2468880"/>
            <a:ext cx="6858000" cy="1463040"/>
          </a:xfrm>
          <a:prstGeom prst="rect">
            <a:avLst/>
          </a:prstGeom>
          <a:noFill/>
        </p:spPr>
        <p:txBody>
          <a:bodyPr wrap="square" lIns="0" rIns="0" tIns="0" bIns="0" anchor="t">
            <a:spAutoFit/>
          </a:bodyPr>
          <a:lstStyle/>
          <a:p>
            <a:pPr algn="l"/>
            <a:r>
              <a:rPr sz="2800" b="0">
                <a:solidFill>
                  <a:srgbClr val="3E4F3B"/>
                </a:solidFill>
                <a:latin typeface="Georgia"/>
              </a:rPr>
              <a:t>Skincare you can</a:t>
            </a:r>
          </a:p>
          <a:p>
            <a:pPr algn="l"/>
            <a:r>
              <a:rPr sz="2800" b="0">
                <a:solidFill>
                  <a:srgbClr val="3E4F3B"/>
                </a:solidFill>
                <a:latin typeface="Georgia"/>
              </a:rPr>
              <a:t>read in full.</a:t>
            </a:r>
          </a:p>
        </p:txBody>
      </p:sp>
      <p:sp>
        <p:nvSpPr>
          <p:cNvPr id="15" name="TextBox 14"/>
          <p:cNvSpPr txBox="1"/>
          <p:nvPr/>
        </p:nvSpPr>
        <p:spPr>
          <a:xfrm>
            <a:off x="777240" y="5120640"/>
            <a:ext cx="6858000" cy="365760"/>
          </a:xfrm>
          <a:prstGeom prst="rect">
            <a:avLst/>
          </a:prstGeom>
          <a:noFill/>
        </p:spPr>
        <p:txBody>
          <a:bodyPr wrap="square" lIns="0" rIns="0" tIns="0" bIns="0" anchor="t">
            <a:spAutoFit/>
          </a:bodyPr>
          <a:lstStyle/>
          <a:p>
            <a:pPr algn="l"/>
            <a:r>
              <a:rPr sz="1400" b="0">
                <a:solidFill>
                  <a:srgbClr val="8A9085"/>
                </a:solidFill>
                <a:latin typeface="Calibri"/>
              </a:rPr>
              <a:t>Sustainability Facts in your customer's pocket.</a:t>
            </a:r>
          </a:p>
        </p:txBody>
      </p:sp>
      <p:sp>
        <p:nvSpPr>
          <p:cNvPr id="16" name="TextBox 15"/>
          <p:cNvSpPr txBox="1"/>
          <p:nvPr/>
        </p:nvSpPr>
        <p:spPr>
          <a:xfrm>
            <a:off x="777240" y="5486400"/>
            <a:ext cx="6858000" cy="274320"/>
          </a:xfrm>
          <a:prstGeom prst="rect">
            <a:avLst/>
          </a:prstGeom>
          <a:noFill/>
        </p:spPr>
        <p:txBody>
          <a:bodyPr wrap="square" lIns="0" rIns="0" tIns="0" bIns="0" anchor="t">
            <a:spAutoFit/>
          </a:bodyPr>
          <a:lstStyle/>
          <a:p>
            <a:pPr algn="l"/>
            <a:r>
              <a:rPr sz="1100" b="0">
                <a:solidFill>
                  <a:srgbClr val="8A9085"/>
                </a:solidFill>
                <a:latin typeface="Calibri"/>
              </a:rPr>
              <a:t>Prepared for the Cocokind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WHY NOW</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Cocokind already publishes Sustainability Facts. The mobile app makes them readable.</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194560"/>
            <a:ext cx="3657600" cy="36576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26080" cy="1280160"/>
          </a:xfrm>
          <a:prstGeom prst="rect">
            <a:avLst/>
          </a:prstGeom>
          <a:noFill/>
        </p:spPr>
        <p:txBody>
          <a:bodyPr wrap="square" lIns="0" rIns="0" tIns="0" bIns="0" anchor="t">
            <a:spAutoFit/>
          </a:bodyPr>
          <a:lstStyle/>
          <a:p>
            <a:pPr algn="l"/>
            <a:r>
              <a:rPr sz="5800" b="0">
                <a:solidFill>
                  <a:srgbClr val="3E4F3B"/>
                </a:solidFill>
                <a:latin typeface="Georgia"/>
              </a:rPr>
              <a:t>9</a:t>
            </a:r>
          </a:p>
        </p:txBody>
      </p:sp>
      <p:sp>
        <p:nvSpPr>
          <p:cNvPr id="8" name="TextBox 7"/>
          <p:cNvSpPr txBox="1"/>
          <p:nvPr/>
        </p:nvSpPr>
        <p:spPr>
          <a:xfrm>
            <a:off x="914400" y="3749040"/>
            <a:ext cx="2926080" cy="914400"/>
          </a:xfrm>
          <a:prstGeom prst="rect">
            <a:avLst/>
          </a:prstGeom>
          <a:noFill/>
        </p:spPr>
        <p:txBody>
          <a:bodyPr wrap="square" lIns="0" rIns="0" tIns="0" bIns="0" anchor="t">
            <a:spAutoFit/>
          </a:bodyPr>
          <a:lstStyle/>
          <a:p>
            <a:pPr algn="l"/>
            <a:r>
              <a:rPr sz="1400" b="1">
                <a:solidFill>
                  <a:srgbClr val="2C3A2E"/>
                </a:solidFill>
                <a:latin typeface="Calibri"/>
              </a:rPr>
              <a:t>ingredients in the Vitamin C serum —</a:t>
            </a:r>
          </a:p>
          <a:p>
            <a:pPr algn="l"/>
            <a:r>
              <a:rPr sz="1400" b="1">
                <a:solidFill>
                  <a:srgbClr val="2C3A2E"/>
                </a:solidFill>
                <a:latin typeface="Calibri"/>
              </a:rPr>
              <a:t>every one citation-linked</a:t>
            </a:r>
          </a:p>
        </p:txBody>
      </p:sp>
      <p:sp>
        <p:nvSpPr>
          <p:cNvPr id="9" name="TextBox 8"/>
          <p:cNvSpPr txBox="1"/>
          <p:nvPr/>
        </p:nvSpPr>
        <p:spPr>
          <a:xfrm>
            <a:off x="914400" y="4846320"/>
            <a:ext cx="2926080" cy="914400"/>
          </a:xfrm>
          <a:prstGeom prst="rect">
            <a:avLst/>
          </a:prstGeom>
          <a:noFill/>
        </p:spPr>
        <p:txBody>
          <a:bodyPr wrap="square" lIns="0" rIns="0" tIns="0" bIns="0" anchor="t">
            <a:spAutoFit/>
          </a:bodyPr>
          <a:lstStyle/>
          <a:p>
            <a:pPr algn="l"/>
            <a:r>
              <a:rPr sz="1200" b="0">
                <a:solidFill>
                  <a:srgbClr val="8A9085"/>
                </a:solidFill>
                <a:latin typeface="Calibri"/>
              </a:rPr>
              <a:t>The brand has done the science. The customer just doesn't see it.</a:t>
            </a:r>
          </a:p>
        </p:txBody>
      </p:sp>
      <p:sp>
        <p:nvSpPr>
          <p:cNvPr id="10" name="Rounded Rectangle 9"/>
          <p:cNvSpPr/>
          <p:nvPr/>
        </p:nvSpPr>
        <p:spPr>
          <a:xfrm>
            <a:off x="4389120" y="2194560"/>
            <a:ext cx="3657600" cy="36576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2560320"/>
            <a:ext cx="2926080" cy="1280160"/>
          </a:xfrm>
          <a:prstGeom prst="rect">
            <a:avLst/>
          </a:prstGeom>
          <a:noFill/>
        </p:spPr>
        <p:txBody>
          <a:bodyPr wrap="square" lIns="0" rIns="0" tIns="0" bIns="0" anchor="t">
            <a:spAutoFit/>
          </a:bodyPr>
          <a:lstStyle/>
          <a:p>
            <a:pPr algn="l"/>
            <a:r>
              <a:rPr sz="5800" b="0">
                <a:solidFill>
                  <a:srgbClr val="3E4F3B"/>
                </a:solidFill>
                <a:latin typeface="Georgia"/>
              </a:rPr>
              <a:t>0.014</a:t>
            </a:r>
          </a:p>
        </p:txBody>
      </p:sp>
      <p:sp>
        <p:nvSpPr>
          <p:cNvPr id="12" name="TextBox 11"/>
          <p:cNvSpPr txBox="1"/>
          <p:nvPr/>
        </p:nvSpPr>
        <p:spPr>
          <a:xfrm>
            <a:off x="4754880" y="3749040"/>
            <a:ext cx="2926080" cy="914400"/>
          </a:xfrm>
          <a:prstGeom prst="rect">
            <a:avLst/>
          </a:prstGeom>
          <a:noFill/>
        </p:spPr>
        <p:txBody>
          <a:bodyPr wrap="square" lIns="0" rIns="0" tIns="0" bIns="0" anchor="t">
            <a:spAutoFit/>
          </a:bodyPr>
          <a:lstStyle/>
          <a:p>
            <a:pPr algn="l"/>
            <a:r>
              <a:rPr sz="1400" b="1">
                <a:solidFill>
                  <a:srgbClr val="2C3A2E"/>
                </a:solidFill>
                <a:latin typeface="Calibri"/>
              </a:rPr>
              <a:t>kg CO₂e per use — published.</a:t>
            </a:r>
          </a:p>
          <a:p>
            <a:pPr algn="l"/>
            <a:r>
              <a:rPr sz="1400" b="1">
                <a:solidFill>
                  <a:srgbClr val="2C3A2E"/>
                </a:solidFill>
                <a:latin typeface="Calibri"/>
              </a:rPr>
              <a:t>Competitors won't say.</a:t>
            </a:r>
          </a:p>
        </p:txBody>
      </p:sp>
      <p:sp>
        <p:nvSpPr>
          <p:cNvPr id="13" name="TextBox 12"/>
          <p:cNvSpPr txBox="1"/>
          <p:nvPr/>
        </p:nvSpPr>
        <p:spPr>
          <a:xfrm>
            <a:off x="4754880" y="4846320"/>
            <a:ext cx="2926080" cy="914400"/>
          </a:xfrm>
          <a:prstGeom prst="rect">
            <a:avLst/>
          </a:prstGeom>
          <a:noFill/>
        </p:spPr>
        <p:txBody>
          <a:bodyPr wrap="square" lIns="0" rIns="0" tIns="0" bIns="0" anchor="t">
            <a:spAutoFit/>
          </a:bodyPr>
          <a:lstStyle/>
          <a:p>
            <a:pPr algn="l"/>
            <a:r>
              <a:rPr sz="1200" b="0">
                <a:solidFill>
                  <a:srgbClr val="8A9085"/>
                </a:solidFill>
                <a:latin typeface="Calibri"/>
              </a:rPr>
              <a:t>Transparency is the moat. The app is the loudspeaker.</a:t>
            </a:r>
          </a:p>
        </p:txBody>
      </p:sp>
      <p:sp>
        <p:nvSpPr>
          <p:cNvPr id="14" name="Rounded Rectangle 13"/>
          <p:cNvSpPr/>
          <p:nvPr/>
        </p:nvSpPr>
        <p:spPr>
          <a:xfrm>
            <a:off x="8229600" y="2194560"/>
            <a:ext cx="3657600" cy="36576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2560320"/>
            <a:ext cx="2926080" cy="1280160"/>
          </a:xfrm>
          <a:prstGeom prst="rect">
            <a:avLst/>
          </a:prstGeom>
          <a:noFill/>
        </p:spPr>
        <p:txBody>
          <a:bodyPr wrap="square" lIns="0" rIns="0" tIns="0" bIns="0" anchor="t">
            <a:spAutoFit/>
          </a:bodyPr>
          <a:lstStyle/>
          <a:p>
            <a:pPr algn="l"/>
            <a:r>
              <a:rPr sz="5800" b="0">
                <a:solidFill>
                  <a:srgbClr val="3E4F3B"/>
                </a:solidFill>
                <a:latin typeface="Georgia"/>
              </a:rPr>
              <a:t>150+</a:t>
            </a:r>
          </a:p>
        </p:txBody>
      </p:sp>
      <p:sp>
        <p:nvSpPr>
          <p:cNvPr id="16" name="TextBox 15"/>
          <p:cNvSpPr txBox="1"/>
          <p:nvPr/>
        </p:nvSpPr>
        <p:spPr>
          <a:xfrm>
            <a:off x="8595360" y="3749040"/>
            <a:ext cx="2926080" cy="914400"/>
          </a:xfrm>
          <a:prstGeom prst="rect">
            <a:avLst/>
          </a:prstGeom>
          <a:noFill/>
        </p:spPr>
        <p:txBody>
          <a:bodyPr wrap="square" lIns="0" rIns="0" tIns="0" bIns="0" anchor="t">
            <a:spAutoFit/>
          </a:bodyPr>
          <a:lstStyle/>
          <a:p>
            <a:pPr algn="l"/>
            <a:r>
              <a:rPr sz="1400" b="1">
                <a:solidFill>
                  <a:srgbClr val="2C3A2E"/>
                </a:solidFill>
                <a:latin typeface="Calibri"/>
              </a:rPr>
              <a:t>Target locations + Whole Foods</a:t>
            </a:r>
          </a:p>
          <a:p>
            <a:pPr algn="l"/>
            <a:r>
              <a:rPr sz="1400" b="1">
                <a:solidFill>
                  <a:srgbClr val="2C3A2E"/>
                </a:solidFill>
                <a:latin typeface="Calibri"/>
              </a:rPr>
              <a:t>+ DTC + international</a:t>
            </a:r>
          </a:p>
        </p:txBody>
      </p:sp>
      <p:sp>
        <p:nvSpPr>
          <p:cNvPr id="17" name="TextBox 16"/>
          <p:cNvSpPr txBox="1"/>
          <p:nvPr/>
        </p:nvSpPr>
        <p:spPr>
          <a:xfrm>
            <a:off x="8595360" y="4846320"/>
            <a:ext cx="2926080" cy="914400"/>
          </a:xfrm>
          <a:prstGeom prst="rect">
            <a:avLst/>
          </a:prstGeom>
          <a:noFill/>
        </p:spPr>
        <p:txBody>
          <a:bodyPr wrap="square" lIns="0" rIns="0" tIns="0" bIns="0" anchor="t">
            <a:spAutoFit/>
          </a:bodyPr>
          <a:lstStyle/>
          <a:p>
            <a:pPr algn="l"/>
            <a:r>
              <a:rPr sz="1200" b="0">
                <a:solidFill>
                  <a:srgbClr val="8A9085"/>
                </a:solidFill>
                <a:latin typeface="Calibri"/>
              </a:rPr>
              <a:t>An app gives the omnichannel customer one routine across all of them.</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19" name="TextBox 18"/>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THE VISION</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Not another store — a transparency engine.</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10972800" cy="2286000"/>
          </a:xfrm>
          <a:prstGeom prst="rect">
            <a:avLst/>
          </a:prstGeom>
          <a:noFill/>
        </p:spPr>
        <p:txBody>
          <a:bodyPr wrap="square" lIns="0" rIns="0" tIns="0" bIns="0" anchor="t">
            <a:spAutoFit/>
          </a:bodyPr>
          <a:lstStyle/>
          <a:p>
            <a:pPr algn="l"/>
            <a:r>
              <a:rPr sz="2000" b="0">
                <a:solidFill>
                  <a:srgbClr val="2C3A2E"/>
                </a:solidFill>
                <a:latin typeface="Georgia"/>
              </a:rPr>
              <a:t>Priscilla pioneered Sustainability Facts labels — the first skincare brand to publish per-product carbon-per-use, full ingredient sourcing, and end-of-life packaging detail. She also publicly stopped calling Cocokind "clean" or "sustainable" because those words have lost meaning.</a:t>
            </a:r>
          </a:p>
          <a:p>
            <a:pPr algn="l"/>
            <a:r>
              <a:rPr sz="2000" b="0">
                <a:solidFill>
                  <a:srgbClr val="2C3A2E"/>
                </a:solidFill>
                <a:latin typeface="Georgia"/>
              </a:rPr>
              <a:t/>
            </a:r>
          </a:p>
          <a:p>
            <a:pPr algn="l"/>
            <a:r>
              <a:rPr sz="2000" b="0">
                <a:solidFill>
                  <a:srgbClr val="2C3A2E"/>
                </a:solidFill>
                <a:latin typeface="Georgia"/>
              </a:rPr>
              <a:t>The app is the natural home for that stance. A digital Facts label every customer can verify, a Routine builder from the existing catalog without invented claims, and an Ingredient library where every component cites real evidence. The customer is informed, sceptical, and rewarded by depth.</a:t>
            </a:r>
          </a:p>
        </p:txBody>
      </p:sp>
      <p:sp>
        <p:nvSpPr>
          <p:cNvPr id="7" name="TextBox 6"/>
          <p:cNvSpPr txBox="1"/>
          <p:nvPr/>
        </p:nvSpPr>
        <p:spPr>
          <a:xfrm>
            <a:off x="548640" y="5303520"/>
            <a:ext cx="10972800" cy="365760"/>
          </a:xfrm>
          <a:prstGeom prst="rect">
            <a:avLst/>
          </a:prstGeom>
          <a:noFill/>
        </p:spPr>
        <p:txBody>
          <a:bodyPr wrap="square" lIns="0" rIns="0" tIns="0" bIns="0" anchor="t">
            <a:spAutoFit/>
          </a:bodyPr>
          <a:lstStyle/>
          <a:p>
            <a:pPr algn="l"/>
            <a:r>
              <a:rPr sz="1000" b="1">
                <a:solidFill>
                  <a:srgbClr val="3E4F3B"/>
                </a:solidFill>
                <a:latin typeface="Calibri"/>
              </a:rPr>
              <a:t>WHY IT MATTERS</a:t>
            </a:r>
          </a:p>
        </p:txBody>
      </p:sp>
      <p:sp>
        <p:nvSpPr>
          <p:cNvPr id="8" name="TextBox 7"/>
          <p:cNvSpPr txBox="1"/>
          <p:nvPr/>
        </p:nvSpPr>
        <p:spPr>
          <a:xfrm>
            <a:off x="548640" y="5577840"/>
            <a:ext cx="10972800" cy="1371600"/>
          </a:xfrm>
          <a:prstGeom prst="rect">
            <a:avLst/>
          </a:prstGeom>
          <a:noFill/>
        </p:spPr>
        <p:txBody>
          <a:bodyPr wrap="square" lIns="0" rIns="0" tIns="0" bIns="0" anchor="t">
            <a:spAutoFit/>
          </a:bodyPr>
          <a:lstStyle/>
          <a:p>
            <a:pPr algn="l"/>
            <a:r>
              <a:rPr sz="1300" b="0">
                <a:solidFill>
                  <a:srgbClr val="2C3A2E"/>
                </a:solidFill>
                <a:latin typeface="Calibri"/>
              </a:rPr>
              <a:t>• Brings the brand's existing transparency work into the customer's daily routine</a:t>
            </a:r>
          </a:p>
          <a:p>
            <a:pPr algn="l"/>
            <a:r>
              <a:rPr sz="1300" b="0">
                <a:solidFill>
                  <a:srgbClr val="2C3A2E"/>
                </a:solidFill>
                <a:latin typeface="Calibri"/>
              </a:rPr>
              <a:t>• Turns a one-time purchase into a routine practice — the highest-LTV shape in skincare</a:t>
            </a:r>
          </a:p>
          <a:p>
            <a:pPr algn="l"/>
            <a:r>
              <a:rPr sz="1300" b="0">
                <a:solidFill>
                  <a:srgbClr val="2C3A2E"/>
                </a:solidFill>
                <a:latin typeface="Calibri"/>
              </a:rPr>
              <a:t>• Closes the packaging loop with refill mechanics that respect the brand's ethic</a:t>
            </a:r>
          </a:p>
        </p:txBody>
      </p:sp>
      <p:sp>
        <p:nvSpPr>
          <p:cNvPr id="9" name="TextBox 8"/>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10" name="TextBox 9"/>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PRODUCT OVERVIEW</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Six pillars — five customer-facing, one internal.</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194560"/>
            <a:ext cx="3657600" cy="2057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194560"/>
            <a:ext cx="91440" cy="205740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3108960" cy="365760"/>
          </a:xfrm>
          <a:prstGeom prst="rect">
            <a:avLst/>
          </a:prstGeom>
          <a:noFill/>
        </p:spPr>
        <p:txBody>
          <a:bodyPr wrap="square" lIns="0" rIns="0" tIns="0" bIns="0" anchor="t">
            <a:spAutoFit/>
          </a:bodyPr>
          <a:lstStyle/>
          <a:p>
            <a:pPr algn="l"/>
            <a:r>
              <a:rPr sz="2000" b="1">
                <a:solidFill>
                  <a:srgbClr val="6E8B6A"/>
                </a:solidFill>
                <a:latin typeface="Georgia"/>
              </a:rPr>
              <a:t>1</a:t>
            </a:r>
          </a:p>
        </p:txBody>
      </p:sp>
      <p:sp>
        <p:nvSpPr>
          <p:cNvPr id="9" name="TextBox 8"/>
          <p:cNvSpPr txBox="1"/>
          <p:nvPr/>
        </p:nvSpPr>
        <p:spPr>
          <a:xfrm>
            <a:off x="822960" y="2834640"/>
            <a:ext cx="3108960" cy="457200"/>
          </a:xfrm>
          <a:prstGeom prst="rect">
            <a:avLst/>
          </a:prstGeom>
          <a:noFill/>
        </p:spPr>
        <p:txBody>
          <a:bodyPr wrap="square" lIns="0" rIns="0" tIns="0" bIns="0" anchor="t">
            <a:spAutoFit/>
          </a:bodyPr>
          <a:lstStyle/>
          <a:p>
            <a:pPr algn="l"/>
            <a:r>
              <a:rPr sz="2000" b="0">
                <a:solidFill>
                  <a:srgbClr val="2C3A2E"/>
                </a:solidFill>
                <a:latin typeface="Georgia"/>
              </a:rPr>
              <a:t>The Routine</a:t>
            </a:r>
          </a:p>
        </p:txBody>
      </p:sp>
      <p:sp>
        <p:nvSpPr>
          <p:cNvPr id="10" name="TextBox 9"/>
          <p:cNvSpPr txBox="1"/>
          <p:nvPr/>
        </p:nvSpPr>
        <p:spPr>
          <a:xfrm>
            <a:off x="822960" y="3337560"/>
            <a:ext cx="3108960" cy="914400"/>
          </a:xfrm>
          <a:prstGeom prst="rect">
            <a:avLst/>
          </a:prstGeom>
          <a:noFill/>
        </p:spPr>
        <p:txBody>
          <a:bodyPr wrap="square" lIns="0" rIns="0" tIns="0" bIns="0" anchor="t">
            <a:spAutoFit/>
          </a:bodyPr>
          <a:lstStyle/>
          <a:p>
            <a:pPr algn="l"/>
            <a:r>
              <a:rPr sz="1100" b="0">
                <a:solidFill>
                  <a:srgbClr val="8A9085"/>
                </a:solidFill>
                <a:latin typeface="Calibri"/>
              </a:rPr>
              <a:t>Daily AM + PM step-by-step — calm reminders, no streaks.</a:t>
            </a:r>
          </a:p>
        </p:txBody>
      </p:sp>
      <p:sp>
        <p:nvSpPr>
          <p:cNvPr id="11" name="Rounded Rectangle 10"/>
          <p:cNvSpPr/>
          <p:nvPr/>
        </p:nvSpPr>
        <p:spPr>
          <a:xfrm>
            <a:off x="4343400" y="2194560"/>
            <a:ext cx="3657600" cy="2057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2194560"/>
            <a:ext cx="91440" cy="2057400"/>
          </a:xfrm>
          <a:prstGeom prst="roundRect">
            <a:avLst>
              <a:gd name="adj" fmla="val 12000"/>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108960" cy="365760"/>
          </a:xfrm>
          <a:prstGeom prst="rect">
            <a:avLst/>
          </a:prstGeom>
          <a:noFill/>
        </p:spPr>
        <p:txBody>
          <a:bodyPr wrap="square" lIns="0" rIns="0" tIns="0" bIns="0" anchor="t">
            <a:spAutoFit/>
          </a:bodyPr>
          <a:lstStyle/>
          <a:p>
            <a:pPr algn="l"/>
            <a:r>
              <a:rPr sz="2000" b="1">
                <a:solidFill>
                  <a:srgbClr val="C9A85E"/>
                </a:solidFill>
                <a:latin typeface="Georgia"/>
              </a:rPr>
              <a:t>2</a:t>
            </a:r>
          </a:p>
        </p:txBody>
      </p:sp>
      <p:sp>
        <p:nvSpPr>
          <p:cNvPr id="14" name="TextBox 13"/>
          <p:cNvSpPr txBox="1"/>
          <p:nvPr/>
        </p:nvSpPr>
        <p:spPr>
          <a:xfrm>
            <a:off x="4617720" y="2834640"/>
            <a:ext cx="3108960" cy="457200"/>
          </a:xfrm>
          <a:prstGeom prst="rect">
            <a:avLst/>
          </a:prstGeom>
          <a:noFill/>
        </p:spPr>
        <p:txBody>
          <a:bodyPr wrap="square" lIns="0" rIns="0" tIns="0" bIns="0" anchor="t">
            <a:spAutoFit/>
          </a:bodyPr>
          <a:lstStyle/>
          <a:p>
            <a:pPr algn="l"/>
            <a:r>
              <a:rPr sz="2000" b="0">
                <a:solidFill>
                  <a:srgbClr val="2C3A2E"/>
                </a:solidFill>
                <a:latin typeface="Georgia"/>
              </a:rPr>
              <a:t>The Facts</a:t>
            </a:r>
          </a:p>
        </p:txBody>
      </p:sp>
      <p:sp>
        <p:nvSpPr>
          <p:cNvPr id="15" name="TextBox 14"/>
          <p:cNvSpPr txBox="1"/>
          <p:nvPr/>
        </p:nvSpPr>
        <p:spPr>
          <a:xfrm>
            <a:off x="4617720" y="3337560"/>
            <a:ext cx="3108960" cy="914400"/>
          </a:xfrm>
          <a:prstGeom prst="rect">
            <a:avLst/>
          </a:prstGeom>
          <a:noFill/>
        </p:spPr>
        <p:txBody>
          <a:bodyPr wrap="square" lIns="0" rIns="0" tIns="0" bIns="0" anchor="t">
            <a:spAutoFit/>
          </a:bodyPr>
          <a:lstStyle/>
          <a:p>
            <a:pPr algn="l"/>
            <a:r>
              <a:rPr sz="1100" b="0">
                <a:solidFill>
                  <a:srgbClr val="8A9085"/>
                </a:solidFill>
                <a:latin typeface="Calibri"/>
              </a:rPr>
              <a:t>Per-product Sustainability Facts: carbon, packaging, ingredients, citations.</a:t>
            </a:r>
          </a:p>
        </p:txBody>
      </p:sp>
      <p:sp>
        <p:nvSpPr>
          <p:cNvPr id="16" name="Rounded Rectangle 15"/>
          <p:cNvSpPr/>
          <p:nvPr/>
        </p:nvSpPr>
        <p:spPr>
          <a:xfrm>
            <a:off x="8138160" y="2194560"/>
            <a:ext cx="3657600" cy="2057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38160" y="2194560"/>
            <a:ext cx="91440" cy="2057400"/>
          </a:xfrm>
          <a:prstGeom prst="roundRect">
            <a:avLst>
              <a:gd name="adj" fmla="val 12000"/>
            </a:avLst>
          </a:prstGeom>
          <a:solidFill>
            <a:srgbClr val="D8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377440"/>
            <a:ext cx="3108960" cy="365760"/>
          </a:xfrm>
          <a:prstGeom prst="rect">
            <a:avLst/>
          </a:prstGeom>
          <a:noFill/>
        </p:spPr>
        <p:txBody>
          <a:bodyPr wrap="square" lIns="0" rIns="0" tIns="0" bIns="0" anchor="t">
            <a:spAutoFit/>
          </a:bodyPr>
          <a:lstStyle/>
          <a:p>
            <a:pPr algn="l"/>
            <a:r>
              <a:rPr sz="2000" b="1">
                <a:solidFill>
                  <a:srgbClr val="D8A594"/>
                </a:solidFill>
                <a:latin typeface="Georgia"/>
              </a:rPr>
              <a:t>3</a:t>
            </a:r>
          </a:p>
        </p:txBody>
      </p:sp>
      <p:sp>
        <p:nvSpPr>
          <p:cNvPr id="19" name="TextBox 18"/>
          <p:cNvSpPr txBox="1"/>
          <p:nvPr/>
        </p:nvSpPr>
        <p:spPr>
          <a:xfrm>
            <a:off x="8412480" y="2834640"/>
            <a:ext cx="3108960" cy="457200"/>
          </a:xfrm>
          <a:prstGeom prst="rect">
            <a:avLst/>
          </a:prstGeom>
          <a:noFill/>
        </p:spPr>
        <p:txBody>
          <a:bodyPr wrap="square" lIns="0" rIns="0" tIns="0" bIns="0" anchor="t">
            <a:spAutoFit/>
          </a:bodyPr>
          <a:lstStyle/>
          <a:p>
            <a:pPr algn="l"/>
            <a:r>
              <a:rPr sz="2000" b="0">
                <a:solidFill>
                  <a:srgbClr val="2C3A2E"/>
                </a:solidFill>
                <a:latin typeface="Georgia"/>
              </a:rPr>
              <a:t>The Match</a:t>
            </a:r>
          </a:p>
        </p:txBody>
      </p:sp>
      <p:sp>
        <p:nvSpPr>
          <p:cNvPr id="20" name="TextBox 19"/>
          <p:cNvSpPr txBox="1"/>
          <p:nvPr/>
        </p:nvSpPr>
        <p:spPr>
          <a:xfrm>
            <a:off x="8412480" y="3337560"/>
            <a:ext cx="3108960" cy="914400"/>
          </a:xfrm>
          <a:prstGeom prst="rect">
            <a:avLst/>
          </a:prstGeom>
          <a:noFill/>
        </p:spPr>
        <p:txBody>
          <a:bodyPr wrap="square" lIns="0" rIns="0" tIns="0" bIns="0" anchor="t">
            <a:spAutoFit/>
          </a:bodyPr>
          <a:lstStyle/>
          <a:p>
            <a:pPr algn="l"/>
            <a:r>
              <a:rPr sz="1100" b="0">
                <a:solidFill>
                  <a:srgbClr val="8A9085"/>
                </a:solidFill>
                <a:latin typeface="Calibri"/>
              </a:rPr>
              <a:t>Pick goals — hydration, glow, barrier, acne, age — get a routine from the catalog.</a:t>
            </a:r>
          </a:p>
        </p:txBody>
      </p:sp>
      <p:sp>
        <p:nvSpPr>
          <p:cNvPr id="21" name="Rounded Rectangle 20"/>
          <p:cNvSpPr/>
          <p:nvPr/>
        </p:nvSpPr>
        <p:spPr>
          <a:xfrm>
            <a:off x="548640" y="4416552"/>
            <a:ext cx="3657600" cy="2057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4416552"/>
            <a:ext cx="91440" cy="2057400"/>
          </a:xfrm>
          <a:prstGeom prst="roundRect">
            <a:avLst>
              <a:gd name="adj" fmla="val 12000"/>
            </a:avLst>
          </a:prstGeom>
          <a:solidFill>
            <a:srgbClr val="7D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599432"/>
            <a:ext cx="3108960" cy="365760"/>
          </a:xfrm>
          <a:prstGeom prst="rect">
            <a:avLst/>
          </a:prstGeom>
          <a:noFill/>
        </p:spPr>
        <p:txBody>
          <a:bodyPr wrap="square" lIns="0" rIns="0" tIns="0" bIns="0" anchor="t">
            <a:spAutoFit/>
          </a:bodyPr>
          <a:lstStyle/>
          <a:p>
            <a:pPr algn="l"/>
            <a:r>
              <a:rPr sz="2000" b="1">
                <a:solidFill>
                  <a:srgbClr val="7D97A7"/>
                </a:solidFill>
                <a:latin typeface="Georgia"/>
              </a:rPr>
              <a:t>4</a:t>
            </a:r>
          </a:p>
        </p:txBody>
      </p:sp>
      <p:sp>
        <p:nvSpPr>
          <p:cNvPr id="24" name="TextBox 23"/>
          <p:cNvSpPr txBox="1"/>
          <p:nvPr/>
        </p:nvSpPr>
        <p:spPr>
          <a:xfrm>
            <a:off x="822960" y="5056632"/>
            <a:ext cx="3108960" cy="457200"/>
          </a:xfrm>
          <a:prstGeom prst="rect">
            <a:avLst/>
          </a:prstGeom>
          <a:noFill/>
        </p:spPr>
        <p:txBody>
          <a:bodyPr wrap="square" lIns="0" rIns="0" tIns="0" bIns="0" anchor="t">
            <a:spAutoFit/>
          </a:bodyPr>
          <a:lstStyle/>
          <a:p>
            <a:pPr algn="l"/>
            <a:r>
              <a:rPr sz="2000" b="0">
                <a:solidFill>
                  <a:srgbClr val="2C3A2E"/>
                </a:solidFill>
                <a:latin typeface="Georgia"/>
              </a:rPr>
              <a:t>The Refill</a:t>
            </a:r>
          </a:p>
        </p:txBody>
      </p:sp>
      <p:sp>
        <p:nvSpPr>
          <p:cNvPr id="25" name="TextBox 24"/>
          <p:cNvSpPr txBox="1"/>
          <p:nvPr/>
        </p:nvSpPr>
        <p:spPr>
          <a:xfrm>
            <a:off x="822960" y="5559552"/>
            <a:ext cx="3108960" cy="914400"/>
          </a:xfrm>
          <a:prstGeom prst="rect">
            <a:avLst/>
          </a:prstGeom>
          <a:noFill/>
        </p:spPr>
        <p:txBody>
          <a:bodyPr wrap="square" lIns="0" rIns="0" tIns="0" bIns="0" anchor="t">
            <a:spAutoFit/>
          </a:bodyPr>
          <a:lstStyle/>
          <a:p>
            <a:pPr algn="l"/>
            <a:r>
              <a:rPr sz="1100" b="0">
                <a:solidFill>
                  <a:srgbClr val="8A9085"/>
                </a:solidFill>
                <a:latin typeface="Calibri"/>
              </a:rPr>
              <a:t>Calm subscription management — skip, pause, bottle returns + credit.</a:t>
            </a:r>
          </a:p>
        </p:txBody>
      </p:sp>
      <p:sp>
        <p:nvSpPr>
          <p:cNvPr id="26" name="Rounded Rectangle 25"/>
          <p:cNvSpPr/>
          <p:nvPr/>
        </p:nvSpPr>
        <p:spPr>
          <a:xfrm>
            <a:off x="4343400" y="4416552"/>
            <a:ext cx="3657600" cy="2057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343400" y="4416552"/>
            <a:ext cx="91440" cy="2057400"/>
          </a:xfrm>
          <a:prstGeom prst="roundRect">
            <a:avLst>
              <a:gd name="adj" fmla="val 12000"/>
            </a:avLst>
          </a:prstGeom>
          <a:solidFill>
            <a:srgbClr val="3E4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4599432"/>
            <a:ext cx="3108960" cy="365760"/>
          </a:xfrm>
          <a:prstGeom prst="rect">
            <a:avLst/>
          </a:prstGeom>
          <a:noFill/>
        </p:spPr>
        <p:txBody>
          <a:bodyPr wrap="square" lIns="0" rIns="0" tIns="0" bIns="0" anchor="t">
            <a:spAutoFit/>
          </a:bodyPr>
          <a:lstStyle/>
          <a:p>
            <a:pPr algn="l"/>
            <a:r>
              <a:rPr sz="2000" b="1">
                <a:solidFill>
                  <a:srgbClr val="3E4F3B"/>
                </a:solidFill>
                <a:latin typeface="Georgia"/>
              </a:rPr>
              <a:t>5</a:t>
            </a:r>
          </a:p>
        </p:txBody>
      </p:sp>
      <p:sp>
        <p:nvSpPr>
          <p:cNvPr id="29" name="TextBox 28"/>
          <p:cNvSpPr txBox="1"/>
          <p:nvPr/>
        </p:nvSpPr>
        <p:spPr>
          <a:xfrm>
            <a:off x="4617720" y="5056632"/>
            <a:ext cx="3108960" cy="457200"/>
          </a:xfrm>
          <a:prstGeom prst="rect">
            <a:avLst/>
          </a:prstGeom>
          <a:noFill/>
        </p:spPr>
        <p:txBody>
          <a:bodyPr wrap="square" lIns="0" rIns="0" tIns="0" bIns="0" anchor="t">
            <a:spAutoFit/>
          </a:bodyPr>
          <a:lstStyle/>
          <a:p>
            <a:pPr algn="l"/>
            <a:r>
              <a:rPr sz="2000" b="0">
                <a:solidFill>
                  <a:srgbClr val="2C3A2E"/>
                </a:solidFill>
                <a:latin typeface="Georgia"/>
              </a:rPr>
              <a:t>The Shop</a:t>
            </a:r>
          </a:p>
        </p:txBody>
      </p:sp>
      <p:sp>
        <p:nvSpPr>
          <p:cNvPr id="30" name="TextBox 29"/>
          <p:cNvSpPr txBox="1"/>
          <p:nvPr/>
        </p:nvSpPr>
        <p:spPr>
          <a:xfrm>
            <a:off x="4617720" y="5559552"/>
            <a:ext cx="3108960" cy="914400"/>
          </a:xfrm>
          <a:prstGeom prst="rect">
            <a:avLst/>
          </a:prstGeom>
          <a:noFill/>
        </p:spPr>
        <p:txBody>
          <a:bodyPr wrap="square" lIns="0" rIns="0" tIns="0" bIns="0" anchor="t">
            <a:spAutoFit/>
          </a:bodyPr>
          <a:lstStyle/>
          <a:p>
            <a:pPr algn="l"/>
            <a:r>
              <a:rPr sz="1100" b="0">
                <a:solidFill>
                  <a:srgbClr val="8A9085"/>
                </a:solidFill>
                <a:latin typeface="Calibri"/>
              </a:rPr>
              <a:t>DTC + Target / Whole Foods finder; multi-currency.</a:t>
            </a:r>
          </a:p>
        </p:txBody>
      </p:sp>
      <p:sp>
        <p:nvSpPr>
          <p:cNvPr id="31" name="Rounded Rectangle 30"/>
          <p:cNvSpPr/>
          <p:nvPr/>
        </p:nvSpPr>
        <p:spPr>
          <a:xfrm>
            <a:off x="8138160" y="4416552"/>
            <a:ext cx="3657600" cy="2057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38160" y="4416552"/>
            <a:ext cx="91440" cy="20574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599432"/>
            <a:ext cx="3108960" cy="365760"/>
          </a:xfrm>
          <a:prstGeom prst="rect">
            <a:avLst/>
          </a:prstGeom>
          <a:noFill/>
        </p:spPr>
        <p:txBody>
          <a:bodyPr wrap="square" lIns="0" rIns="0" tIns="0" bIns="0" anchor="t">
            <a:spAutoFit/>
          </a:bodyPr>
          <a:lstStyle/>
          <a:p>
            <a:pPr algn="l"/>
            <a:r>
              <a:rPr sz="2000" b="1">
                <a:solidFill>
                  <a:srgbClr val="2C3A2E"/>
                </a:solidFill>
                <a:latin typeface="Georgia"/>
              </a:rPr>
              <a:t>6</a:t>
            </a:r>
          </a:p>
        </p:txBody>
      </p:sp>
      <p:sp>
        <p:nvSpPr>
          <p:cNvPr id="34" name="TextBox 33"/>
          <p:cNvSpPr txBox="1"/>
          <p:nvPr/>
        </p:nvSpPr>
        <p:spPr>
          <a:xfrm>
            <a:off x="8412480" y="5056632"/>
            <a:ext cx="3108960" cy="457200"/>
          </a:xfrm>
          <a:prstGeom prst="rect">
            <a:avLst/>
          </a:prstGeom>
          <a:noFill/>
        </p:spPr>
        <p:txBody>
          <a:bodyPr wrap="square" lIns="0" rIns="0" tIns="0" bIns="0" anchor="t">
            <a:spAutoFit/>
          </a:bodyPr>
          <a:lstStyle/>
          <a:p>
            <a:pPr algn="l"/>
            <a:r>
              <a:rPr sz="2000" b="0">
                <a:solidFill>
                  <a:srgbClr val="2C3A2E"/>
                </a:solidFill>
                <a:latin typeface="Georgia"/>
              </a:rPr>
              <a:t>The Studio</a:t>
            </a:r>
          </a:p>
        </p:txBody>
      </p:sp>
      <p:sp>
        <p:nvSpPr>
          <p:cNvPr id="35" name="TextBox 34"/>
          <p:cNvSpPr txBox="1"/>
          <p:nvPr/>
        </p:nvSpPr>
        <p:spPr>
          <a:xfrm>
            <a:off x="8412480" y="5559552"/>
            <a:ext cx="3108960" cy="914400"/>
          </a:xfrm>
          <a:prstGeom prst="rect">
            <a:avLst/>
          </a:prstGeom>
          <a:noFill/>
        </p:spPr>
        <p:txBody>
          <a:bodyPr wrap="square" lIns="0" rIns="0" tIns="0" bIns="0" anchor="t">
            <a:spAutoFit/>
          </a:bodyPr>
          <a:lstStyle/>
          <a:p>
            <a:pPr algn="l"/>
            <a:r>
              <a:rPr sz="1100" b="0">
                <a:solidFill>
                  <a:srgbClr val="8A9085"/>
                </a:solidFill>
                <a:latin typeface="Calibri"/>
              </a:rPr>
              <a:t>Internal-facing web admin portal — Facts editor, ingredient library, refill ops, compliance review.</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PHASE 1 · LAUNCH (MONTHS 0–4)</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Foundations: Routine, Facts, Match, Refill, Shop, Honest.</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548640"/>
          </a:xfrm>
          <a:prstGeom prst="rect">
            <a:avLst/>
          </a:prstGeom>
          <a:noFill/>
        </p:spPr>
        <p:txBody>
          <a:bodyPr wrap="square" lIns="0" rIns="0" tIns="0" bIns="0" anchor="t">
            <a:spAutoFit/>
          </a:bodyPr>
          <a:lstStyle/>
          <a:p>
            <a:pPr algn="l"/>
            <a:r>
              <a:rPr sz="1400" b="0">
                <a:solidFill>
                  <a:srgbClr val="8A9085"/>
                </a:solidFill>
                <a:latin typeface="Calibri"/>
              </a:rPr>
              <a:t>Everything a customer needs in their first 90 days.</a:t>
            </a:r>
          </a:p>
        </p:txBody>
      </p:sp>
      <p:sp>
        <p:nvSpPr>
          <p:cNvPr id="7" name="Rounded Rectangle 6"/>
          <p:cNvSpPr/>
          <p:nvPr/>
        </p:nvSpPr>
        <p:spPr>
          <a:xfrm>
            <a:off x="548640" y="265176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01752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61488"/>
            <a:ext cx="4754880" cy="365760"/>
          </a:xfrm>
          <a:prstGeom prst="rect">
            <a:avLst/>
          </a:prstGeom>
          <a:noFill/>
        </p:spPr>
        <p:txBody>
          <a:bodyPr wrap="square" lIns="0" rIns="0" tIns="0" bIns="0" anchor="t">
            <a:spAutoFit/>
          </a:bodyPr>
          <a:lstStyle/>
          <a:p>
            <a:pPr algn="l"/>
            <a:r>
              <a:rPr sz="1400" b="1">
                <a:solidFill>
                  <a:srgbClr val="2C3A2E"/>
                </a:solidFill>
                <a:latin typeface="Calibri"/>
              </a:rPr>
              <a:t>Multilingual onboarding</a:t>
            </a:r>
          </a:p>
        </p:txBody>
      </p:sp>
      <p:sp>
        <p:nvSpPr>
          <p:cNvPr id="10" name="TextBox 9"/>
          <p:cNvSpPr txBox="1"/>
          <p:nvPr/>
        </p:nvSpPr>
        <p:spPr>
          <a:xfrm>
            <a:off x="1097280" y="3063240"/>
            <a:ext cx="4754880" cy="457200"/>
          </a:xfrm>
          <a:prstGeom prst="rect">
            <a:avLst/>
          </a:prstGeom>
          <a:noFill/>
        </p:spPr>
        <p:txBody>
          <a:bodyPr wrap="square" lIns="0" rIns="0" tIns="0" bIns="0" anchor="t">
            <a:spAutoFit/>
          </a:bodyPr>
          <a:lstStyle/>
          <a:p>
            <a:pPr algn="l"/>
            <a:r>
              <a:rPr sz="1100" b="0">
                <a:solidFill>
                  <a:srgbClr val="8A9085"/>
                </a:solidFill>
                <a:latin typeface="Calibri"/>
              </a:rPr>
              <a:t>EN + ES at launch.</a:t>
            </a:r>
          </a:p>
        </p:txBody>
      </p:sp>
      <p:sp>
        <p:nvSpPr>
          <p:cNvPr id="11" name="Rounded Rectangle 10"/>
          <p:cNvSpPr/>
          <p:nvPr/>
        </p:nvSpPr>
        <p:spPr>
          <a:xfrm>
            <a:off x="6172200" y="265176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01752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754880" cy="365760"/>
          </a:xfrm>
          <a:prstGeom prst="rect">
            <a:avLst/>
          </a:prstGeom>
          <a:noFill/>
        </p:spPr>
        <p:txBody>
          <a:bodyPr wrap="square" lIns="0" rIns="0" tIns="0" bIns="0" anchor="t">
            <a:spAutoFit/>
          </a:bodyPr>
          <a:lstStyle/>
          <a:p>
            <a:pPr algn="l"/>
            <a:r>
              <a:rPr sz="1400" b="1">
                <a:solidFill>
                  <a:srgbClr val="2C3A2E"/>
                </a:solidFill>
                <a:latin typeface="Calibri"/>
              </a:rPr>
              <a:t>Multi-currency storefront</a:t>
            </a:r>
          </a:p>
        </p:txBody>
      </p:sp>
      <p:sp>
        <p:nvSpPr>
          <p:cNvPr id="14" name="TextBox 13"/>
          <p:cNvSpPr txBox="1"/>
          <p:nvPr/>
        </p:nvSpPr>
        <p:spPr>
          <a:xfrm>
            <a:off x="6720840" y="3063240"/>
            <a:ext cx="4754880" cy="457200"/>
          </a:xfrm>
          <a:prstGeom prst="rect">
            <a:avLst/>
          </a:prstGeom>
          <a:noFill/>
        </p:spPr>
        <p:txBody>
          <a:bodyPr wrap="square" lIns="0" rIns="0" tIns="0" bIns="0" anchor="t">
            <a:spAutoFit/>
          </a:bodyPr>
          <a:lstStyle/>
          <a:p>
            <a:pPr algn="l"/>
            <a:r>
              <a:rPr sz="1100" b="0">
                <a:solidFill>
                  <a:srgbClr val="8A9085"/>
                </a:solidFill>
                <a:latin typeface="Calibri"/>
              </a:rPr>
              <a:t>USD + CAD.</a:t>
            </a:r>
          </a:p>
        </p:txBody>
      </p:sp>
      <p:sp>
        <p:nvSpPr>
          <p:cNvPr id="15" name="Rounded Rectangle 14"/>
          <p:cNvSpPr/>
          <p:nvPr/>
        </p:nvSpPr>
        <p:spPr>
          <a:xfrm>
            <a:off x="548640" y="365760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02336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67328"/>
            <a:ext cx="4754880" cy="365760"/>
          </a:xfrm>
          <a:prstGeom prst="rect">
            <a:avLst/>
          </a:prstGeom>
          <a:noFill/>
        </p:spPr>
        <p:txBody>
          <a:bodyPr wrap="square" lIns="0" rIns="0" tIns="0" bIns="0" anchor="t">
            <a:spAutoFit/>
          </a:bodyPr>
          <a:lstStyle/>
          <a:p>
            <a:pPr algn="l"/>
            <a:r>
              <a:rPr sz="1400" b="1">
                <a:solidFill>
                  <a:srgbClr val="2C3A2E"/>
                </a:solidFill>
                <a:latin typeface="Calibri"/>
              </a:rPr>
              <a:t>AM + PM Routine cards</a:t>
            </a:r>
          </a:p>
        </p:txBody>
      </p:sp>
      <p:sp>
        <p:nvSpPr>
          <p:cNvPr id="18" name="TextBox 17"/>
          <p:cNvSpPr txBox="1"/>
          <p:nvPr/>
        </p:nvSpPr>
        <p:spPr>
          <a:xfrm>
            <a:off x="1097280" y="4069080"/>
            <a:ext cx="4754880" cy="457200"/>
          </a:xfrm>
          <a:prstGeom prst="rect">
            <a:avLst/>
          </a:prstGeom>
          <a:noFill/>
        </p:spPr>
        <p:txBody>
          <a:bodyPr wrap="square" lIns="0" rIns="0" tIns="0" bIns="0" anchor="t">
            <a:spAutoFit/>
          </a:bodyPr>
          <a:lstStyle/>
          <a:p>
            <a:pPr algn="l"/>
            <a:r>
              <a:rPr sz="1100" b="0">
                <a:solidFill>
                  <a:srgbClr val="8A9085"/>
                </a:solidFill>
                <a:latin typeface="Calibri"/>
              </a:rPr>
              <a:t>Steps with order rationale, calm reminders, no streaks.</a:t>
            </a:r>
          </a:p>
        </p:txBody>
      </p:sp>
      <p:sp>
        <p:nvSpPr>
          <p:cNvPr id="19" name="Rounded Rectangle 18"/>
          <p:cNvSpPr/>
          <p:nvPr/>
        </p:nvSpPr>
        <p:spPr>
          <a:xfrm>
            <a:off x="6172200" y="365760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402336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767328"/>
            <a:ext cx="4754880" cy="365760"/>
          </a:xfrm>
          <a:prstGeom prst="rect">
            <a:avLst/>
          </a:prstGeom>
          <a:noFill/>
        </p:spPr>
        <p:txBody>
          <a:bodyPr wrap="square" lIns="0" rIns="0" tIns="0" bIns="0" anchor="t">
            <a:spAutoFit/>
          </a:bodyPr>
          <a:lstStyle/>
          <a:p>
            <a:pPr algn="l"/>
            <a:r>
              <a:rPr sz="1400" b="1">
                <a:solidFill>
                  <a:srgbClr val="2C3A2E"/>
                </a:solidFill>
                <a:latin typeface="Calibri"/>
              </a:rPr>
              <a:t>Sustainability Facts (digital)</a:t>
            </a:r>
          </a:p>
        </p:txBody>
      </p:sp>
      <p:sp>
        <p:nvSpPr>
          <p:cNvPr id="22" name="TextBox 21"/>
          <p:cNvSpPr txBox="1"/>
          <p:nvPr/>
        </p:nvSpPr>
        <p:spPr>
          <a:xfrm>
            <a:off x="6720840" y="4069080"/>
            <a:ext cx="4754880" cy="457200"/>
          </a:xfrm>
          <a:prstGeom prst="rect">
            <a:avLst/>
          </a:prstGeom>
          <a:noFill/>
        </p:spPr>
        <p:txBody>
          <a:bodyPr wrap="square" lIns="0" rIns="0" tIns="0" bIns="0" anchor="t">
            <a:spAutoFit/>
          </a:bodyPr>
          <a:lstStyle/>
          <a:p>
            <a:pPr algn="l"/>
            <a:r>
              <a:rPr sz="1100" b="0">
                <a:solidFill>
                  <a:srgbClr val="8A9085"/>
                </a:solidFill>
                <a:latin typeface="Calibri"/>
              </a:rPr>
              <a:t>Carbon, water, energy per use; packaging breakdown; ingredient list.</a:t>
            </a:r>
          </a:p>
        </p:txBody>
      </p:sp>
      <p:sp>
        <p:nvSpPr>
          <p:cNvPr id="23" name="Rounded Rectangle 22"/>
          <p:cNvSpPr/>
          <p:nvPr/>
        </p:nvSpPr>
        <p:spPr>
          <a:xfrm>
            <a:off x="548640" y="466344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502920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773168"/>
            <a:ext cx="4754880" cy="365760"/>
          </a:xfrm>
          <a:prstGeom prst="rect">
            <a:avLst/>
          </a:prstGeom>
          <a:noFill/>
        </p:spPr>
        <p:txBody>
          <a:bodyPr wrap="square" lIns="0" rIns="0" tIns="0" bIns="0" anchor="t">
            <a:spAutoFit/>
          </a:bodyPr>
          <a:lstStyle/>
          <a:p>
            <a:pPr algn="l"/>
            <a:r>
              <a:rPr sz="1400" b="1">
                <a:solidFill>
                  <a:srgbClr val="2C3A2E"/>
                </a:solidFill>
                <a:latin typeface="Calibri"/>
              </a:rPr>
              <a:t>Per-ingredient evidence pages</a:t>
            </a:r>
          </a:p>
        </p:txBody>
      </p:sp>
      <p:sp>
        <p:nvSpPr>
          <p:cNvPr id="26" name="TextBox 25"/>
          <p:cNvSpPr txBox="1"/>
          <p:nvPr/>
        </p:nvSpPr>
        <p:spPr>
          <a:xfrm>
            <a:off x="1097280" y="5074920"/>
            <a:ext cx="4754880" cy="457200"/>
          </a:xfrm>
          <a:prstGeom prst="rect">
            <a:avLst/>
          </a:prstGeom>
          <a:noFill/>
        </p:spPr>
        <p:txBody>
          <a:bodyPr wrap="square" lIns="0" rIns="0" tIns="0" bIns="0" anchor="t">
            <a:spAutoFit/>
          </a:bodyPr>
          <a:lstStyle/>
          <a:p>
            <a:pPr algn="l"/>
            <a:r>
              <a:rPr sz="1100" b="0">
                <a:solidFill>
                  <a:srgbClr val="8A9085"/>
                </a:solidFill>
                <a:latin typeface="Calibri"/>
              </a:rPr>
              <a:t>Source, role, peer-reviewed citations.</a:t>
            </a:r>
          </a:p>
        </p:txBody>
      </p:sp>
      <p:sp>
        <p:nvSpPr>
          <p:cNvPr id="27" name="Rounded Rectangle 26"/>
          <p:cNvSpPr/>
          <p:nvPr/>
        </p:nvSpPr>
        <p:spPr>
          <a:xfrm>
            <a:off x="6172200" y="466344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46520" y="502920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773168"/>
            <a:ext cx="4754880" cy="365760"/>
          </a:xfrm>
          <a:prstGeom prst="rect">
            <a:avLst/>
          </a:prstGeom>
          <a:noFill/>
        </p:spPr>
        <p:txBody>
          <a:bodyPr wrap="square" lIns="0" rIns="0" tIns="0" bIns="0" anchor="t">
            <a:spAutoFit/>
          </a:bodyPr>
          <a:lstStyle/>
          <a:p>
            <a:pPr algn="l"/>
            <a:r>
              <a:rPr sz="1400" b="1">
                <a:solidFill>
                  <a:srgbClr val="2C3A2E"/>
                </a:solidFill>
                <a:latin typeface="Calibri"/>
              </a:rPr>
              <a:t>Match → Routine AI</a:t>
            </a:r>
          </a:p>
        </p:txBody>
      </p:sp>
      <p:sp>
        <p:nvSpPr>
          <p:cNvPr id="30" name="TextBox 29"/>
          <p:cNvSpPr txBox="1"/>
          <p:nvPr/>
        </p:nvSpPr>
        <p:spPr>
          <a:xfrm>
            <a:off x="6720840" y="5074920"/>
            <a:ext cx="4754880" cy="457200"/>
          </a:xfrm>
          <a:prstGeom prst="rect">
            <a:avLst/>
          </a:prstGeom>
          <a:noFill/>
        </p:spPr>
        <p:txBody>
          <a:bodyPr wrap="square" lIns="0" rIns="0" tIns="0" bIns="0" anchor="t">
            <a:spAutoFit/>
          </a:bodyPr>
          <a:lstStyle/>
          <a:p>
            <a:pPr algn="l"/>
            <a:r>
              <a:rPr sz="1100" b="0">
                <a:solidFill>
                  <a:srgbClr val="8A9085"/>
                </a:solidFill>
                <a:latin typeface="Calibri"/>
              </a:rPr>
              <a:t>Goal selection (hydration, glow, barrier, acne) → routine from catalog.</a:t>
            </a:r>
          </a:p>
        </p:txBody>
      </p:sp>
      <p:sp>
        <p:nvSpPr>
          <p:cNvPr id="31" name="Rounded Rectangle 30"/>
          <p:cNvSpPr/>
          <p:nvPr/>
        </p:nvSpPr>
        <p:spPr>
          <a:xfrm>
            <a:off x="548640" y="566928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603504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779008"/>
            <a:ext cx="4754880" cy="365760"/>
          </a:xfrm>
          <a:prstGeom prst="rect">
            <a:avLst/>
          </a:prstGeom>
          <a:noFill/>
        </p:spPr>
        <p:txBody>
          <a:bodyPr wrap="square" lIns="0" rIns="0" tIns="0" bIns="0" anchor="t">
            <a:spAutoFit/>
          </a:bodyPr>
          <a:lstStyle/>
          <a:p>
            <a:pPr algn="l"/>
            <a:r>
              <a:rPr sz="1400" b="1">
                <a:solidFill>
                  <a:srgbClr val="2C3A2E"/>
                </a:solidFill>
                <a:latin typeface="Calibri"/>
              </a:rPr>
              <a:t>Refill subscription mgmt</a:t>
            </a:r>
          </a:p>
        </p:txBody>
      </p:sp>
      <p:sp>
        <p:nvSpPr>
          <p:cNvPr id="34" name="TextBox 33"/>
          <p:cNvSpPr txBox="1"/>
          <p:nvPr/>
        </p:nvSpPr>
        <p:spPr>
          <a:xfrm>
            <a:off x="1097280" y="6080760"/>
            <a:ext cx="4754880" cy="457200"/>
          </a:xfrm>
          <a:prstGeom prst="rect">
            <a:avLst/>
          </a:prstGeom>
          <a:noFill/>
        </p:spPr>
        <p:txBody>
          <a:bodyPr wrap="square" lIns="0" rIns="0" tIns="0" bIns="0" anchor="t">
            <a:spAutoFit/>
          </a:bodyPr>
          <a:lstStyle/>
          <a:p>
            <a:pPr algn="l"/>
            <a:r>
              <a:rPr sz="1100" b="0">
                <a:solidFill>
                  <a:srgbClr val="8A9085"/>
                </a:solidFill>
                <a:latin typeface="Calibri"/>
              </a:rPr>
              <a:t>Skip / pause / accelerate / bundle / vacation mode.</a:t>
            </a:r>
          </a:p>
        </p:txBody>
      </p:sp>
      <p:sp>
        <p:nvSpPr>
          <p:cNvPr id="35" name="Rounded Rectangle 34"/>
          <p:cNvSpPr/>
          <p:nvPr/>
        </p:nvSpPr>
        <p:spPr>
          <a:xfrm>
            <a:off x="6172200" y="566928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46520" y="603504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5779008"/>
            <a:ext cx="4754880" cy="365760"/>
          </a:xfrm>
          <a:prstGeom prst="rect">
            <a:avLst/>
          </a:prstGeom>
          <a:noFill/>
        </p:spPr>
        <p:txBody>
          <a:bodyPr wrap="square" lIns="0" rIns="0" tIns="0" bIns="0" anchor="t">
            <a:spAutoFit/>
          </a:bodyPr>
          <a:lstStyle/>
          <a:p>
            <a:pPr algn="l"/>
            <a:r>
              <a:rPr sz="1400" b="1">
                <a:solidFill>
                  <a:srgbClr val="2C3A2E"/>
                </a:solidFill>
                <a:latin typeface="Calibri"/>
              </a:rPr>
              <a:t>Smart refill prediction</a:t>
            </a:r>
          </a:p>
        </p:txBody>
      </p:sp>
      <p:sp>
        <p:nvSpPr>
          <p:cNvPr id="38" name="TextBox 37"/>
          <p:cNvSpPr txBox="1"/>
          <p:nvPr/>
        </p:nvSpPr>
        <p:spPr>
          <a:xfrm>
            <a:off x="6720840" y="6080760"/>
            <a:ext cx="4754880" cy="457200"/>
          </a:xfrm>
          <a:prstGeom prst="rect">
            <a:avLst/>
          </a:prstGeom>
          <a:noFill/>
        </p:spPr>
        <p:txBody>
          <a:bodyPr wrap="square" lIns="0" rIns="0" tIns="0" bIns="0" anchor="t">
            <a:spAutoFit/>
          </a:bodyPr>
          <a:lstStyle/>
          <a:p>
            <a:pPr algn="l"/>
            <a:r>
              <a:rPr sz="1100" b="0">
                <a:solidFill>
                  <a:srgbClr val="8A9085"/>
                </a:solidFill>
                <a:latin typeface="Calibri"/>
              </a:rPr>
              <a:t>Usage-based — never pushy.</a:t>
            </a:r>
          </a:p>
        </p:txBody>
      </p:sp>
      <p:sp>
        <p:nvSpPr>
          <p:cNvPr id="39" name="Rounded Rectangle 38"/>
          <p:cNvSpPr/>
          <p:nvPr/>
        </p:nvSpPr>
        <p:spPr>
          <a:xfrm>
            <a:off x="548640" y="667512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2960" y="704088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6784848"/>
            <a:ext cx="4754880" cy="365760"/>
          </a:xfrm>
          <a:prstGeom prst="rect">
            <a:avLst/>
          </a:prstGeom>
          <a:noFill/>
        </p:spPr>
        <p:txBody>
          <a:bodyPr wrap="square" lIns="0" rIns="0" tIns="0" bIns="0" anchor="t">
            <a:spAutoFit/>
          </a:bodyPr>
          <a:lstStyle/>
          <a:p>
            <a:pPr algn="l"/>
            <a:r>
              <a:rPr sz="1400" b="1">
                <a:solidFill>
                  <a:srgbClr val="2C3A2E"/>
                </a:solidFill>
                <a:latin typeface="Calibri"/>
              </a:rPr>
              <a:t>Bottle returns + credit</a:t>
            </a:r>
          </a:p>
        </p:txBody>
      </p:sp>
      <p:sp>
        <p:nvSpPr>
          <p:cNvPr id="42" name="TextBox 41"/>
          <p:cNvSpPr txBox="1"/>
          <p:nvPr/>
        </p:nvSpPr>
        <p:spPr>
          <a:xfrm>
            <a:off x="1097280" y="7086600"/>
            <a:ext cx="4754880" cy="457200"/>
          </a:xfrm>
          <a:prstGeom prst="rect">
            <a:avLst/>
          </a:prstGeom>
          <a:noFill/>
        </p:spPr>
        <p:txBody>
          <a:bodyPr wrap="square" lIns="0" rIns="0" tIns="0" bIns="0" anchor="t">
            <a:spAutoFit/>
          </a:bodyPr>
          <a:lstStyle/>
          <a:p>
            <a:pPr algn="l"/>
            <a:r>
              <a:rPr sz="1100" b="0">
                <a:solidFill>
                  <a:srgbClr val="8A9085"/>
                </a:solidFill>
                <a:latin typeface="Calibri"/>
              </a:rPr>
              <a:t>Track returns, post credit at checkout.</a:t>
            </a:r>
          </a:p>
        </p:txBody>
      </p:sp>
      <p:sp>
        <p:nvSpPr>
          <p:cNvPr id="43" name="Rounded Rectangle 42"/>
          <p:cNvSpPr/>
          <p:nvPr/>
        </p:nvSpPr>
        <p:spPr>
          <a:xfrm>
            <a:off x="6172200" y="667512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446520" y="704088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20840" y="6784848"/>
            <a:ext cx="4754880" cy="365760"/>
          </a:xfrm>
          <a:prstGeom prst="rect">
            <a:avLst/>
          </a:prstGeom>
          <a:noFill/>
        </p:spPr>
        <p:txBody>
          <a:bodyPr wrap="square" lIns="0" rIns="0" tIns="0" bIns="0" anchor="t">
            <a:spAutoFit/>
          </a:bodyPr>
          <a:lstStyle/>
          <a:p>
            <a:pPr algn="l"/>
            <a:r>
              <a:rPr sz="1400" b="1">
                <a:solidFill>
                  <a:srgbClr val="2C3A2E"/>
                </a:solidFill>
                <a:latin typeface="Calibri"/>
              </a:rPr>
              <a:t>Target / Whole Foods finder</a:t>
            </a:r>
          </a:p>
        </p:txBody>
      </p:sp>
      <p:sp>
        <p:nvSpPr>
          <p:cNvPr id="46" name="TextBox 45"/>
          <p:cNvSpPr txBox="1"/>
          <p:nvPr/>
        </p:nvSpPr>
        <p:spPr>
          <a:xfrm>
            <a:off x="6720840" y="7086600"/>
            <a:ext cx="4754880" cy="457200"/>
          </a:xfrm>
          <a:prstGeom prst="rect">
            <a:avLst/>
          </a:prstGeom>
          <a:noFill/>
        </p:spPr>
        <p:txBody>
          <a:bodyPr wrap="square" lIns="0" rIns="0" tIns="0" bIns="0" anchor="t">
            <a:spAutoFit/>
          </a:bodyPr>
          <a:lstStyle/>
          <a:p>
            <a:pPr algn="l"/>
            <a:r>
              <a:rPr sz="1100" b="0">
                <a:solidFill>
                  <a:srgbClr val="8A9085"/>
                </a:solidFill>
                <a:latin typeface="Calibri"/>
              </a:rPr>
              <a:t>In-store availability with map.</a:t>
            </a:r>
          </a:p>
        </p:txBody>
      </p:sp>
      <p:sp>
        <p:nvSpPr>
          <p:cNvPr id="47" name="Rounded Rectangle 46"/>
          <p:cNvSpPr/>
          <p:nvPr/>
        </p:nvSpPr>
        <p:spPr>
          <a:xfrm>
            <a:off x="548640" y="768096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22960" y="804672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7280" y="7790688"/>
            <a:ext cx="4754880" cy="365760"/>
          </a:xfrm>
          <a:prstGeom prst="rect">
            <a:avLst/>
          </a:prstGeom>
          <a:noFill/>
        </p:spPr>
        <p:txBody>
          <a:bodyPr wrap="square" lIns="0" rIns="0" tIns="0" bIns="0" anchor="t">
            <a:spAutoFit/>
          </a:bodyPr>
          <a:lstStyle/>
          <a:p>
            <a:pPr algn="l"/>
            <a:r>
              <a:rPr sz="1400" b="1">
                <a:solidFill>
                  <a:srgbClr val="2C3A2E"/>
                </a:solidFill>
                <a:latin typeface="Calibri"/>
              </a:rPr>
              <a:t>Bundle builder</a:t>
            </a:r>
          </a:p>
        </p:txBody>
      </p:sp>
      <p:sp>
        <p:nvSpPr>
          <p:cNvPr id="50" name="TextBox 49"/>
          <p:cNvSpPr txBox="1"/>
          <p:nvPr/>
        </p:nvSpPr>
        <p:spPr>
          <a:xfrm>
            <a:off x="1097280" y="8092440"/>
            <a:ext cx="4754880" cy="457200"/>
          </a:xfrm>
          <a:prstGeom prst="rect">
            <a:avLst/>
          </a:prstGeom>
          <a:noFill/>
        </p:spPr>
        <p:txBody>
          <a:bodyPr wrap="square" lIns="0" rIns="0" tIns="0" bIns="0" anchor="t">
            <a:spAutoFit/>
          </a:bodyPr>
          <a:lstStyle/>
          <a:p>
            <a:pPr algn="l"/>
            <a:r>
              <a:rPr sz="1100" b="0">
                <a:solidFill>
                  <a:srgbClr val="8A9085"/>
                </a:solidFill>
                <a:latin typeface="Calibri"/>
              </a:rPr>
              <a:t>Routines as bundles.</a:t>
            </a:r>
          </a:p>
        </p:txBody>
      </p:sp>
      <p:sp>
        <p:nvSpPr>
          <p:cNvPr id="51" name="Rounded Rectangle 50"/>
          <p:cNvSpPr/>
          <p:nvPr/>
        </p:nvSpPr>
        <p:spPr>
          <a:xfrm>
            <a:off x="6172200" y="768096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446520" y="804672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720840" y="7790688"/>
            <a:ext cx="4754880" cy="365760"/>
          </a:xfrm>
          <a:prstGeom prst="rect">
            <a:avLst/>
          </a:prstGeom>
          <a:noFill/>
        </p:spPr>
        <p:txBody>
          <a:bodyPr wrap="square" lIns="0" rIns="0" tIns="0" bIns="0" anchor="t">
            <a:spAutoFit/>
          </a:bodyPr>
          <a:lstStyle/>
          <a:p>
            <a:pPr algn="l"/>
            <a:r>
              <a:rPr sz="1400" b="1">
                <a:solidFill>
                  <a:srgbClr val="2C3A2E"/>
                </a:solidFill>
                <a:latin typeface="Calibri"/>
              </a:rPr>
              <a:t>Honest loyalty</a:t>
            </a:r>
          </a:p>
        </p:txBody>
      </p:sp>
      <p:sp>
        <p:nvSpPr>
          <p:cNvPr id="54" name="TextBox 53"/>
          <p:cNvSpPr txBox="1"/>
          <p:nvPr/>
        </p:nvSpPr>
        <p:spPr>
          <a:xfrm>
            <a:off x="6720840" y="8092440"/>
            <a:ext cx="4754880" cy="457200"/>
          </a:xfrm>
          <a:prstGeom prst="rect">
            <a:avLst/>
          </a:prstGeom>
          <a:noFill/>
        </p:spPr>
        <p:txBody>
          <a:bodyPr wrap="square" lIns="0" rIns="0" tIns="0" bIns="0" anchor="t">
            <a:spAutoFit/>
          </a:bodyPr>
          <a:lstStyle/>
          <a:p>
            <a:pPr algn="l"/>
            <a:r>
              <a:rPr sz="1100" b="0">
                <a:solidFill>
                  <a:srgbClr val="8A9085"/>
                </a:solidFill>
                <a:latin typeface="Calibri"/>
              </a:rPr>
              <a:t>Recognition for routine completion, refill returns, reviews.</a:t>
            </a:r>
          </a:p>
        </p:txBody>
      </p:sp>
      <p:sp>
        <p:nvSpPr>
          <p:cNvPr id="55" name="Rounded Rectangle 54"/>
          <p:cNvSpPr/>
          <p:nvPr/>
        </p:nvSpPr>
        <p:spPr>
          <a:xfrm>
            <a:off x="548640" y="868680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22960" y="905256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97280" y="8796528"/>
            <a:ext cx="4754880" cy="365760"/>
          </a:xfrm>
          <a:prstGeom prst="rect">
            <a:avLst/>
          </a:prstGeom>
          <a:noFill/>
        </p:spPr>
        <p:txBody>
          <a:bodyPr wrap="square" lIns="0" rIns="0" tIns="0" bIns="0" anchor="t">
            <a:spAutoFit/>
          </a:bodyPr>
          <a:lstStyle/>
          <a:p>
            <a:pPr algn="l"/>
            <a:r>
              <a:rPr sz="1400" b="1">
                <a:solidFill>
                  <a:srgbClr val="2C3A2E"/>
                </a:solidFill>
                <a:latin typeface="Calibri"/>
              </a:rPr>
              <a:t>Studio chat (AI)</a:t>
            </a:r>
          </a:p>
        </p:txBody>
      </p:sp>
      <p:sp>
        <p:nvSpPr>
          <p:cNvPr id="58" name="TextBox 57"/>
          <p:cNvSpPr txBox="1"/>
          <p:nvPr/>
        </p:nvSpPr>
        <p:spPr>
          <a:xfrm>
            <a:off x="1097280" y="9098280"/>
            <a:ext cx="4754880" cy="457200"/>
          </a:xfrm>
          <a:prstGeom prst="rect">
            <a:avLst/>
          </a:prstGeom>
          <a:noFill/>
        </p:spPr>
        <p:txBody>
          <a:bodyPr wrap="square" lIns="0" rIns="0" tIns="0" bIns="0" anchor="t">
            <a:spAutoFit/>
          </a:bodyPr>
          <a:lstStyle/>
          <a:p>
            <a:pPr algn="l"/>
            <a:r>
              <a:rPr sz="1100" b="0">
                <a:solidFill>
                  <a:srgbClr val="8A9085"/>
                </a:solidFill>
                <a:latin typeface="Calibri"/>
              </a:rPr>
              <a:t>Multilingual ingredient + routine assistant with strict guardrails.</a:t>
            </a:r>
          </a:p>
        </p:txBody>
      </p:sp>
      <p:sp>
        <p:nvSpPr>
          <p:cNvPr id="59" name="Rounded Rectangle 58"/>
          <p:cNvSpPr/>
          <p:nvPr/>
        </p:nvSpPr>
        <p:spPr>
          <a:xfrm>
            <a:off x="6172200" y="868680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446520" y="905256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20840" y="8796528"/>
            <a:ext cx="4754880" cy="365760"/>
          </a:xfrm>
          <a:prstGeom prst="rect">
            <a:avLst/>
          </a:prstGeom>
          <a:noFill/>
        </p:spPr>
        <p:txBody>
          <a:bodyPr wrap="square" lIns="0" rIns="0" tIns="0" bIns="0" anchor="t">
            <a:spAutoFit/>
          </a:bodyPr>
          <a:lstStyle/>
          <a:p>
            <a:pPr algn="l"/>
            <a:r>
              <a:rPr sz="1400" b="1">
                <a:solidFill>
                  <a:srgbClr val="2C3A2E"/>
                </a:solidFill>
                <a:latin typeface="Calibri"/>
              </a:rPr>
              <a:t>Multilingual translation</a:t>
            </a:r>
          </a:p>
        </p:txBody>
      </p:sp>
      <p:sp>
        <p:nvSpPr>
          <p:cNvPr id="62" name="TextBox 61"/>
          <p:cNvSpPr txBox="1"/>
          <p:nvPr/>
        </p:nvSpPr>
        <p:spPr>
          <a:xfrm>
            <a:off x="6720840" y="9098280"/>
            <a:ext cx="4754880" cy="457200"/>
          </a:xfrm>
          <a:prstGeom prst="rect">
            <a:avLst/>
          </a:prstGeom>
          <a:noFill/>
        </p:spPr>
        <p:txBody>
          <a:bodyPr wrap="square" lIns="0" rIns="0" tIns="0" bIns="0" anchor="t">
            <a:spAutoFit/>
          </a:bodyPr>
          <a:lstStyle/>
          <a:p>
            <a:pPr algn="l"/>
            <a:r>
              <a:rPr sz="1100" b="0">
                <a:solidFill>
                  <a:srgbClr val="8A9085"/>
                </a:solidFill>
                <a:latin typeface="Calibri"/>
              </a:rPr>
              <a:t>Brand-voice EN→ES drafts via Claude.</a:t>
            </a:r>
          </a:p>
        </p:txBody>
      </p:sp>
      <p:sp>
        <p:nvSpPr>
          <p:cNvPr id="63" name="Rounded Rectangle 62"/>
          <p:cNvSpPr/>
          <p:nvPr/>
        </p:nvSpPr>
        <p:spPr>
          <a:xfrm>
            <a:off x="548640" y="969264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22960" y="1005840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97280" y="9802368"/>
            <a:ext cx="4754880" cy="365760"/>
          </a:xfrm>
          <a:prstGeom prst="rect">
            <a:avLst/>
          </a:prstGeom>
          <a:noFill/>
        </p:spPr>
        <p:txBody>
          <a:bodyPr wrap="square" lIns="0" rIns="0" tIns="0" bIns="0" anchor="t">
            <a:spAutoFit/>
          </a:bodyPr>
          <a:lstStyle/>
          <a:p>
            <a:pPr algn="l"/>
            <a:r>
              <a:rPr sz="1400" b="1">
                <a:solidFill>
                  <a:srgbClr val="2C3A2E"/>
                </a:solidFill>
                <a:latin typeface="Calibri"/>
              </a:rPr>
              <a:t>Visual search</a:t>
            </a:r>
          </a:p>
        </p:txBody>
      </p:sp>
      <p:sp>
        <p:nvSpPr>
          <p:cNvPr id="66" name="TextBox 65"/>
          <p:cNvSpPr txBox="1"/>
          <p:nvPr/>
        </p:nvSpPr>
        <p:spPr>
          <a:xfrm>
            <a:off x="1097280" y="10104120"/>
            <a:ext cx="4754880" cy="457200"/>
          </a:xfrm>
          <a:prstGeom prst="rect">
            <a:avLst/>
          </a:prstGeom>
          <a:noFill/>
        </p:spPr>
        <p:txBody>
          <a:bodyPr wrap="square" lIns="0" rIns="0" tIns="0" bIns="0" anchor="t">
            <a:spAutoFit/>
          </a:bodyPr>
          <a:lstStyle/>
          <a:p>
            <a:pPr algn="l"/>
            <a:r>
              <a:rPr sz="1100" b="0">
                <a:solidFill>
                  <a:srgbClr val="8A9085"/>
                </a:solidFill>
                <a:latin typeface="Calibri"/>
              </a:rPr>
              <a:t>Photograph a product, find it.</a:t>
            </a:r>
          </a:p>
        </p:txBody>
      </p:sp>
      <p:sp>
        <p:nvSpPr>
          <p:cNvPr id="67" name="Rounded Rectangle 66"/>
          <p:cNvSpPr/>
          <p:nvPr/>
        </p:nvSpPr>
        <p:spPr>
          <a:xfrm>
            <a:off x="6172200" y="969264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6446520" y="1005840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20840" y="9802368"/>
            <a:ext cx="4754880" cy="365760"/>
          </a:xfrm>
          <a:prstGeom prst="rect">
            <a:avLst/>
          </a:prstGeom>
          <a:noFill/>
        </p:spPr>
        <p:txBody>
          <a:bodyPr wrap="square" lIns="0" rIns="0" tIns="0" bIns="0" anchor="t">
            <a:spAutoFit/>
          </a:bodyPr>
          <a:lstStyle/>
          <a:p>
            <a:pPr algn="l"/>
            <a:r>
              <a:rPr sz="1400" b="1">
                <a:solidFill>
                  <a:srgbClr val="2C3A2E"/>
                </a:solidFill>
                <a:latin typeface="Calibri"/>
              </a:rPr>
              <a:t>The Studio (web admin)</a:t>
            </a:r>
          </a:p>
        </p:txBody>
      </p:sp>
      <p:sp>
        <p:nvSpPr>
          <p:cNvPr id="70" name="TextBox 69"/>
          <p:cNvSpPr txBox="1"/>
          <p:nvPr/>
        </p:nvSpPr>
        <p:spPr>
          <a:xfrm>
            <a:off x="6720840" y="10104120"/>
            <a:ext cx="4754880" cy="457200"/>
          </a:xfrm>
          <a:prstGeom prst="rect">
            <a:avLst/>
          </a:prstGeom>
          <a:noFill/>
        </p:spPr>
        <p:txBody>
          <a:bodyPr wrap="square" lIns="0" rIns="0" tIns="0" bIns="0" anchor="t">
            <a:spAutoFit/>
          </a:bodyPr>
          <a:lstStyle/>
          <a:p>
            <a:pPr algn="l"/>
            <a:r>
              <a:rPr sz="1100" b="0">
                <a:solidFill>
                  <a:srgbClr val="8A9085"/>
                </a:solidFill>
                <a:latin typeface="Calibri"/>
              </a:rPr>
              <a:t>Facts editor, ingredient library, refill ops, compliance review, concierge.</a:t>
            </a:r>
          </a:p>
        </p:txBody>
      </p:sp>
      <p:sp>
        <p:nvSpPr>
          <p:cNvPr id="71" name="TextBox 70"/>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72" name="TextBox 71"/>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PHASE 2 · DEPTH (MONTHS 5–9)</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AR try-on, photo skin analysis, esthetician portal.</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548640"/>
          </a:xfrm>
          <a:prstGeom prst="rect">
            <a:avLst/>
          </a:prstGeom>
          <a:noFill/>
        </p:spPr>
        <p:txBody>
          <a:bodyPr wrap="square" lIns="0" rIns="0" tIns="0" bIns="0" anchor="t">
            <a:spAutoFit/>
          </a:bodyPr>
          <a:lstStyle/>
          <a:p>
            <a:pPr algn="l"/>
            <a:r>
              <a:rPr sz="1400" b="0">
                <a:solidFill>
                  <a:srgbClr val="8A9085"/>
                </a:solidFill>
                <a:latin typeface="Calibri"/>
              </a:rPr>
              <a:t>Features that turn launch into a category-defining transparency platform.</a:t>
            </a:r>
          </a:p>
        </p:txBody>
      </p:sp>
      <p:sp>
        <p:nvSpPr>
          <p:cNvPr id="7" name="Rounded Rectangle 6"/>
          <p:cNvSpPr/>
          <p:nvPr/>
        </p:nvSpPr>
        <p:spPr>
          <a:xfrm>
            <a:off x="548640" y="265176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01752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61488"/>
            <a:ext cx="4754880" cy="365760"/>
          </a:xfrm>
          <a:prstGeom prst="rect">
            <a:avLst/>
          </a:prstGeom>
          <a:noFill/>
        </p:spPr>
        <p:txBody>
          <a:bodyPr wrap="square" lIns="0" rIns="0" tIns="0" bIns="0" anchor="t">
            <a:spAutoFit/>
          </a:bodyPr>
          <a:lstStyle/>
          <a:p>
            <a:pPr algn="l"/>
            <a:r>
              <a:rPr sz="1400" b="1">
                <a:solidFill>
                  <a:srgbClr val="2C3A2E"/>
                </a:solidFill>
                <a:latin typeface="Calibri"/>
              </a:rPr>
              <a:t>AR product try-on</a:t>
            </a:r>
          </a:p>
        </p:txBody>
      </p:sp>
      <p:sp>
        <p:nvSpPr>
          <p:cNvPr id="10" name="TextBox 9"/>
          <p:cNvSpPr txBox="1"/>
          <p:nvPr/>
        </p:nvSpPr>
        <p:spPr>
          <a:xfrm>
            <a:off x="1097280" y="3063240"/>
            <a:ext cx="4754880" cy="457200"/>
          </a:xfrm>
          <a:prstGeom prst="rect">
            <a:avLst/>
          </a:prstGeom>
          <a:noFill/>
        </p:spPr>
        <p:txBody>
          <a:bodyPr wrap="square" lIns="0" rIns="0" tIns="0" bIns="0" anchor="t">
            <a:spAutoFit/>
          </a:bodyPr>
          <a:lstStyle/>
          <a:p>
            <a:pPr algn="l"/>
            <a:r>
              <a:rPr sz="1100" b="0">
                <a:solidFill>
                  <a:srgbClr val="8A9085"/>
                </a:solidFill>
                <a:latin typeface="Calibri"/>
              </a:rPr>
              <a:t>Texture and finish for makeup-adjacent items.</a:t>
            </a:r>
          </a:p>
        </p:txBody>
      </p:sp>
      <p:sp>
        <p:nvSpPr>
          <p:cNvPr id="11" name="Rounded Rectangle 10"/>
          <p:cNvSpPr/>
          <p:nvPr/>
        </p:nvSpPr>
        <p:spPr>
          <a:xfrm>
            <a:off x="6172200" y="265176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01752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754880" cy="365760"/>
          </a:xfrm>
          <a:prstGeom prst="rect">
            <a:avLst/>
          </a:prstGeom>
          <a:noFill/>
        </p:spPr>
        <p:txBody>
          <a:bodyPr wrap="square" lIns="0" rIns="0" tIns="0" bIns="0" anchor="t">
            <a:spAutoFit/>
          </a:bodyPr>
          <a:lstStyle/>
          <a:p>
            <a:pPr algn="l"/>
            <a:r>
              <a:rPr sz="1400" b="1">
                <a:solidFill>
                  <a:srgbClr val="2C3A2E"/>
                </a:solidFill>
                <a:latin typeface="Calibri"/>
              </a:rPr>
              <a:t>Photo skin analysis (cautious)</a:t>
            </a:r>
          </a:p>
        </p:txBody>
      </p:sp>
      <p:sp>
        <p:nvSpPr>
          <p:cNvPr id="14" name="TextBox 13"/>
          <p:cNvSpPr txBox="1"/>
          <p:nvPr/>
        </p:nvSpPr>
        <p:spPr>
          <a:xfrm>
            <a:off x="6720840" y="3063240"/>
            <a:ext cx="4754880" cy="457200"/>
          </a:xfrm>
          <a:prstGeom prst="rect">
            <a:avLst/>
          </a:prstGeom>
          <a:noFill/>
        </p:spPr>
        <p:txBody>
          <a:bodyPr wrap="square" lIns="0" rIns="0" tIns="0" bIns="0" anchor="t">
            <a:spAutoFit/>
          </a:bodyPr>
          <a:lstStyle/>
          <a:p>
            <a:pPr algn="l"/>
            <a:r>
              <a:rPr sz="1100" b="0">
                <a:solidFill>
                  <a:srgbClr val="8A9085"/>
                </a:solidFill>
                <a:latin typeface="Calibri"/>
              </a:rPr>
              <a:t>Opt-in, never diagnostic, surfaces routine adjustments.</a:t>
            </a:r>
          </a:p>
        </p:txBody>
      </p:sp>
      <p:sp>
        <p:nvSpPr>
          <p:cNvPr id="15" name="Rounded Rectangle 14"/>
          <p:cNvSpPr/>
          <p:nvPr/>
        </p:nvSpPr>
        <p:spPr>
          <a:xfrm>
            <a:off x="548640" y="365760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02336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67328"/>
            <a:ext cx="4754880" cy="365760"/>
          </a:xfrm>
          <a:prstGeom prst="rect">
            <a:avLst/>
          </a:prstGeom>
          <a:noFill/>
        </p:spPr>
        <p:txBody>
          <a:bodyPr wrap="square" lIns="0" rIns="0" tIns="0" bIns="0" anchor="t">
            <a:spAutoFit/>
          </a:bodyPr>
          <a:lstStyle/>
          <a:p>
            <a:pPr algn="l"/>
            <a:r>
              <a:rPr sz="1400" b="1">
                <a:solidFill>
                  <a:srgbClr val="2C3A2E"/>
                </a:solidFill>
                <a:latin typeface="Calibri"/>
              </a:rPr>
              <a:t>Esthetician B2B portal</a:t>
            </a:r>
          </a:p>
        </p:txBody>
      </p:sp>
      <p:sp>
        <p:nvSpPr>
          <p:cNvPr id="18" name="TextBox 17"/>
          <p:cNvSpPr txBox="1"/>
          <p:nvPr/>
        </p:nvSpPr>
        <p:spPr>
          <a:xfrm>
            <a:off x="1097280" y="4069080"/>
            <a:ext cx="4754880" cy="457200"/>
          </a:xfrm>
          <a:prstGeom prst="rect">
            <a:avLst/>
          </a:prstGeom>
          <a:noFill/>
        </p:spPr>
        <p:txBody>
          <a:bodyPr wrap="square" lIns="0" rIns="0" tIns="0" bIns="0" anchor="t">
            <a:spAutoFit/>
          </a:bodyPr>
          <a:lstStyle/>
          <a:p>
            <a:pPr algn="l"/>
            <a:r>
              <a:rPr sz="1100" b="0">
                <a:solidFill>
                  <a:srgbClr val="8A9085"/>
                </a:solidFill>
                <a:latin typeface="Calibri"/>
              </a:rPr>
              <a:t>Partnered estheticians with white-label client tracking.</a:t>
            </a:r>
          </a:p>
        </p:txBody>
      </p:sp>
      <p:sp>
        <p:nvSpPr>
          <p:cNvPr id="19" name="Rounded Rectangle 18"/>
          <p:cNvSpPr/>
          <p:nvPr/>
        </p:nvSpPr>
        <p:spPr>
          <a:xfrm>
            <a:off x="6172200" y="365760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402336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767328"/>
            <a:ext cx="4754880" cy="365760"/>
          </a:xfrm>
          <a:prstGeom prst="rect">
            <a:avLst/>
          </a:prstGeom>
          <a:noFill/>
        </p:spPr>
        <p:txBody>
          <a:bodyPr wrap="square" lIns="0" rIns="0" tIns="0" bIns="0" anchor="t">
            <a:spAutoFit/>
          </a:bodyPr>
          <a:lstStyle/>
          <a:p>
            <a:pPr algn="l"/>
            <a:r>
              <a:rPr sz="1400" b="1">
                <a:solidFill>
                  <a:srgbClr val="2C3A2E"/>
                </a:solidFill>
                <a:latin typeface="Calibri"/>
              </a:rPr>
              <a:t>Cocokind Impact Foundation in-app</a:t>
            </a:r>
          </a:p>
        </p:txBody>
      </p:sp>
      <p:sp>
        <p:nvSpPr>
          <p:cNvPr id="22" name="TextBox 21"/>
          <p:cNvSpPr txBox="1"/>
          <p:nvPr/>
        </p:nvSpPr>
        <p:spPr>
          <a:xfrm>
            <a:off x="6720840" y="4069080"/>
            <a:ext cx="4754880" cy="457200"/>
          </a:xfrm>
          <a:prstGeom prst="rect">
            <a:avLst/>
          </a:prstGeom>
          <a:noFill/>
        </p:spPr>
        <p:txBody>
          <a:bodyPr wrap="square" lIns="0" rIns="0" tIns="0" bIns="0" anchor="t">
            <a:spAutoFit/>
          </a:bodyPr>
          <a:lstStyle/>
          <a:p>
            <a:pPr algn="l"/>
            <a:r>
              <a:rPr sz="1100" b="0">
                <a:solidFill>
                  <a:srgbClr val="8A9085"/>
                </a:solidFill>
                <a:latin typeface="Calibri"/>
              </a:rPr>
              <a:t>Featured grantees, donation flow at checkout.</a:t>
            </a:r>
          </a:p>
        </p:txBody>
      </p:sp>
      <p:sp>
        <p:nvSpPr>
          <p:cNvPr id="23" name="Rounded Rectangle 22"/>
          <p:cNvSpPr/>
          <p:nvPr/>
        </p:nvSpPr>
        <p:spPr>
          <a:xfrm>
            <a:off x="548640" y="466344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502920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773168"/>
            <a:ext cx="4754880" cy="365760"/>
          </a:xfrm>
          <a:prstGeom prst="rect">
            <a:avLst/>
          </a:prstGeom>
          <a:noFill/>
        </p:spPr>
        <p:txBody>
          <a:bodyPr wrap="square" lIns="0" rIns="0" tIns="0" bIns="0" anchor="t">
            <a:spAutoFit/>
          </a:bodyPr>
          <a:lstStyle/>
          <a:p>
            <a:pPr algn="l"/>
            <a:r>
              <a:rPr sz="1400" b="1">
                <a:solidFill>
                  <a:srgbClr val="2C3A2E"/>
                </a:solidFill>
                <a:latin typeface="Calibri"/>
              </a:rPr>
              <a:t>Live Q&amp;A with Priscilla</a:t>
            </a:r>
          </a:p>
        </p:txBody>
      </p:sp>
      <p:sp>
        <p:nvSpPr>
          <p:cNvPr id="26" name="TextBox 25"/>
          <p:cNvSpPr txBox="1"/>
          <p:nvPr/>
        </p:nvSpPr>
        <p:spPr>
          <a:xfrm>
            <a:off x="1097280" y="5074920"/>
            <a:ext cx="4754880" cy="457200"/>
          </a:xfrm>
          <a:prstGeom prst="rect">
            <a:avLst/>
          </a:prstGeom>
          <a:noFill/>
        </p:spPr>
        <p:txBody>
          <a:bodyPr wrap="square" lIns="0" rIns="0" tIns="0" bIns="0" anchor="t">
            <a:spAutoFit/>
          </a:bodyPr>
          <a:lstStyle/>
          <a:p>
            <a:pPr algn="l"/>
            <a:r>
              <a:rPr sz="1100" b="0">
                <a:solidFill>
                  <a:srgbClr val="8A9085"/>
                </a:solidFill>
                <a:latin typeface="Calibri"/>
              </a:rPr>
              <a:t>Quarterly with founder + dermatologists.</a:t>
            </a:r>
          </a:p>
        </p:txBody>
      </p:sp>
      <p:sp>
        <p:nvSpPr>
          <p:cNvPr id="27" name="Rounded Rectangle 26"/>
          <p:cNvSpPr/>
          <p:nvPr/>
        </p:nvSpPr>
        <p:spPr>
          <a:xfrm>
            <a:off x="6172200" y="466344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46520" y="502920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773168"/>
            <a:ext cx="4754880" cy="365760"/>
          </a:xfrm>
          <a:prstGeom prst="rect">
            <a:avLst/>
          </a:prstGeom>
          <a:noFill/>
        </p:spPr>
        <p:txBody>
          <a:bodyPr wrap="square" lIns="0" rIns="0" tIns="0" bIns="0" anchor="t">
            <a:spAutoFit/>
          </a:bodyPr>
          <a:lstStyle/>
          <a:p>
            <a:pPr algn="l"/>
            <a:r>
              <a:rPr sz="1400" b="1">
                <a:solidFill>
                  <a:srgbClr val="2C3A2E"/>
                </a:solidFill>
                <a:latin typeface="Calibri"/>
              </a:rPr>
              <a:t>Heritage / archive sale</a:t>
            </a:r>
          </a:p>
        </p:txBody>
      </p:sp>
      <p:sp>
        <p:nvSpPr>
          <p:cNvPr id="30" name="TextBox 29"/>
          <p:cNvSpPr txBox="1"/>
          <p:nvPr/>
        </p:nvSpPr>
        <p:spPr>
          <a:xfrm>
            <a:off x="6720840" y="5074920"/>
            <a:ext cx="4754880" cy="457200"/>
          </a:xfrm>
          <a:prstGeom prst="rect">
            <a:avLst/>
          </a:prstGeom>
          <a:noFill/>
        </p:spPr>
        <p:txBody>
          <a:bodyPr wrap="square" lIns="0" rIns="0" tIns="0" bIns="0" anchor="t">
            <a:spAutoFit/>
          </a:bodyPr>
          <a:lstStyle/>
          <a:p>
            <a:pPr algn="l"/>
            <a:r>
              <a:rPr sz="1100" b="0">
                <a:solidFill>
                  <a:srgbClr val="8A9085"/>
                </a:solidFill>
                <a:latin typeface="Calibri"/>
              </a:rPr>
              <a:t>Past favourites re-released with Facts intact.</a:t>
            </a:r>
          </a:p>
        </p:txBody>
      </p:sp>
      <p:sp>
        <p:nvSpPr>
          <p:cNvPr id="31" name="Rounded Rectangle 30"/>
          <p:cNvSpPr/>
          <p:nvPr/>
        </p:nvSpPr>
        <p:spPr>
          <a:xfrm>
            <a:off x="548640" y="566928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603504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779008"/>
            <a:ext cx="4754880" cy="365760"/>
          </a:xfrm>
          <a:prstGeom prst="rect">
            <a:avLst/>
          </a:prstGeom>
          <a:noFill/>
        </p:spPr>
        <p:txBody>
          <a:bodyPr wrap="square" lIns="0" rIns="0" tIns="0" bIns="0" anchor="t">
            <a:spAutoFit/>
          </a:bodyPr>
          <a:lstStyle/>
          <a:p>
            <a:pPr algn="l"/>
            <a:r>
              <a:rPr sz="1400" b="1">
                <a:solidFill>
                  <a:srgbClr val="2C3A2E"/>
                </a:solidFill>
                <a:latin typeface="Calibri"/>
              </a:rPr>
              <a:t>Multi-region expansion</a:t>
            </a:r>
          </a:p>
        </p:txBody>
      </p:sp>
      <p:sp>
        <p:nvSpPr>
          <p:cNvPr id="34" name="TextBox 33"/>
          <p:cNvSpPr txBox="1"/>
          <p:nvPr/>
        </p:nvSpPr>
        <p:spPr>
          <a:xfrm>
            <a:off x="1097280" y="6080760"/>
            <a:ext cx="4754880" cy="457200"/>
          </a:xfrm>
          <a:prstGeom prst="rect">
            <a:avLst/>
          </a:prstGeom>
          <a:noFill/>
        </p:spPr>
        <p:txBody>
          <a:bodyPr wrap="square" lIns="0" rIns="0" tIns="0" bIns="0" anchor="t">
            <a:spAutoFit/>
          </a:bodyPr>
          <a:lstStyle/>
          <a:p>
            <a:pPr algn="l"/>
            <a:r>
              <a:rPr sz="1100" b="0">
                <a:solidFill>
                  <a:srgbClr val="8A9085"/>
                </a:solidFill>
                <a:latin typeface="Calibri"/>
              </a:rPr>
              <a:t>Add EU storefront with GDPR data residency.</a:t>
            </a:r>
          </a:p>
        </p:txBody>
      </p:sp>
      <p:sp>
        <p:nvSpPr>
          <p:cNvPr id="35" name="Rounded Rectangle 34"/>
          <p:cNvSpPr/>
          <p:nvPr/>
        </p:nvSpPr>
        <p:spPr>
          <a:xfrm>
            <a:off x="6172200" y="566928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46520" y="603504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5779008"/>
            <a:ext cx="4754880" cy="365760"/>
          </a:xfrm>
          <a:prstGeom prst="rect">
            <a:avLst/>
          </a:prstGeom>
          <a:noFill/>
        </p:spPr>
        <p:txBody>
          <a:bodyPr wrap="square" lIns="0" rIns="0" tIns="0" bIns="0" anchor="t">
            <a:spAutoFit/>
          </a:bodyPr>
          <a:lstStyle/>
          <a:p>
            <a:pPr algn="l"/>
            <a:r>
              <a:rPr sz="1400" b="1">
                <a:solidFill>
                  <a:srgbClr val="2C3A2E"/>
                </a:solidFill>
                <a:latin typeface="Calibri"/>
              </a:rPr>
              <a:t>Returns triage AI</a:t>
            </a:r>
          </a:p>
        </p:txBody>
      </p:sp>
      <p:sp>
        <p:nvSpPr>
          <p:cNvPr id="38" name="TextBox 37"/>
          <p:cNvSpPr txBox="1"/>
          <p:nvPr/>
        </p:nvSpPr>
        <p:spPr>
          <a:xfrm>
            <a:off x="6720840" y="6080760"/>
            <a:ext cx="4754880" cy="457200"/>
          </a:xfrm>
          <a:prstGeom prst="rect">
            <a:avLst/>
          </a:prstGeom>
          <a:noFill/>
        </p:spPr>
        <p:txBody>
          <a:bodyPr wrap="square" lIns="0" rIns="0" tIns="0" bIns="0" anchor="t">
            <a:spAutoFit/>
          </a:bodyPr>
          <a:lstStyle/>
          <a:p>
            <a:pPr algn="l"/>
            <a:r>
              <a:rPr sz="1100" b="0">
                <a:solidFill>
                  <a:srgbClr val="8A9085"/>
                </a:solidFill>
                <a:latin typeface="Calibri"/>
              </a:rPr>
              <a:t>Routes refund vs replacement vs adjustment.</a:t>
            </a:r>
          </a:p>
        </p:txBody>
      </p:sp>
      <p:sp>
        <p:nvSpPr>
          <p:cNvPr id="39" name="TextBox 38"/>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40" name="TextBox 39"/>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PHASE 3 · CULTURAL AUTHORITY (MONTHS 10+)</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From an app to a transparency standard.</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548640"/>
          </a:xfrm>
          <a:prstGeom prst="rect">
            <a:avLst/>
          </a:prstGeom>
          <a:noFill/>
        </p:spPr>
        <p:txBody>
          <a:bodyPr wrap="square" lIns="0" rIns="0" tIns="0" bIns="0" anchor="t">
            <a:spAutoFit/>
          </a:bodyPr>
          <a:lstStyle/>
          <a:p>
            <a:pPr algn="l"/>
            <a:r>
              <a:rPr sz="1400" b="0">
                <a:solidFill>
                  <a:srgbClr val="8A9085"/>
                </a:solidFill>
                <a:latin typeface="Calibri"/>
              </a:rPr>
              <a:t>Long-form storytelling, education, operational AI.</a:t>
            </a:r>
          </a:p>
        </p:txBody>
      </p:sp>
      <p:sp>
        <p:nvSpPr>
          <p:cNvPr id="7" name="Rounded Rectangle 6"/>
          <p:cNvSpPr/>
          <p:nvPr/>
        </p:nvSpPr>
        <p:spPr>
          <a:xfrm>
            <a:off x="548640" y="265176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01752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61488"/>
            <a:ext cx="4754880" cy="365760"/>
          </a:xfrm>
          <a:prstGeom prst="rect">
            <a:avLst/>
          </a:prstGeom>
          <a:noFill/>
        </p:spPr>
        <p:txBody>
          <a:bodyPr wrap="square" lIns="0" rIns="0" tIns="0" bIns="0" anchor="t">
            <a:spAutoFit/>
          </a:bodyPr>
          <a:lstStyle/>
          <a:p>
            <a:pPr algn="l"/>
            <a:r>
              <a:rPr sz="1400" b="1">
                <a:solidFill>
                  <a:srgbClr val="2C3A2E"/>
                </a:solidFill>
                <a:latin typeface="Calibri"/>
              </a:rPr>
              <a:t>Editorial / journal</a:t>
            </a:r>
          </a:p>
        </p:txBody>
      </p:sp>
      <p:sp>
        <p:nvSpPr>
          <p:cNvPr id="10" name="TextBox 9"/>
          <p:cNvSpPr txBox="1"/>
          <p:nvPr/>
        </p:nvSpPr>
        <p:spPr>
          <a:xfrm>
            <a:off x="1097280" y="3063240"/>
            <a:ext cx="4754880" cy="457200"/>
          </a:xfrm>
          <a:prstGeom prst="rect">
            <a:avLst/>
          </a:prstGeom>
          <a:noFill/>
        </p:spPr>
        <p:txBody>
          <a:bodyPr wrap="square" lIns="0" rIns="0" tIns="0" bIns="0" anchor="t">
            <a:spAutoFit/>
          </a:bodyPr>
          <a:lstStyle/>
          <a:p>
            <a:pPr algn="l"/>
            <a:r>
              <a:rPr sz="1100" b="0">
                <a:solidFill>
                  <a:srgbClr val="8A9085"/>
                </a:solidFill>
                <a:latin typeface="Calibri"/>
              </a:rPr>
              <a:t>Long-form on skincare science, transparency, packaging.</a:t>
            </a:r>
          </a:p>
        </p:txBody>
      </p:sp>
      <p:sp>
        <p:nvSpPr>
          <p:cNvPr id="11" name="Rounded Rectangle 10"/>
          <p:cNvSpPr/>
          <p:nvPr/>
        </p:nvSpPr>
        <p:spPr>
          <a:xfrm>
            <a:off x="6172200" y="265176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01752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754880" cy="365760"/>
          </a:xfrm>
          <a:prstGeom prst="rect">
            <a:avLst/>
          </a:prstGeom>
          <a:noFill/>
        </p:spPr>
        <p:txBody>
          <a:bodyPr wrap="square" lIns="0" rIns="0" tIns="0" bIns="0" anchor="t">
            <a:spAutoFit/>
          </a:bodyPr>
          <a:lstStyle/>
          <a:p>
            <a:pPr algn="l"/>
            <a:r>
              <a:rPr sz="1400" b="1">
                <a:solidFill>
                  <a:srgbClr val="2C3A2E"/>
                </a:solidFill>
                <a:latin typeface="Calibri"/>
              </a:rPr>
              <a:t>Annual VOICES film series</a:t>
            </a:r>
          </a:p>
        </p:txBody>
      </p:sp>
      <p:sp>
        <p:nvSpPr>
          <p:cNvPr id="14" name="TextBox 13"/>
          <p:cNvSpPr txBox="1"/>
          <p:nvPr/>
        </p:nvSpPr>
        <p:spPr>
          <a:xfrm>
            <a:off x="6720840" y="3063240"/>
            <a:ext cx="4754880" cy="457200"/>
          </a:xfrm>
          <a:prstGeom prst="rect">
            <a:avLst/>
          </a:prstGeom>
          <a:noFill/>
        </p:spPr>
        <p:txBody>
          <a:bodyPr wrap="square" lIns="0" rIns="0" tIns="0" bIns="0" anchor="t">
            <a:spAutoFit/>
          </a:bodyPr>
          <a:lstStyle/>
          <a:p>
            <a:pPr algn="l"/>
            <a:r>
              <a:rPr sz="1100" b="0">
                <a:solidFill>
                  <a:srgbClr val="8A9085"/>
                </a:solidFill>
                <a:latin typeface="Calibri"/>
              </a:rPr>
              <a:t>Priscilla, Foundation grantees, scientists.</a:t>
            </a:r>
          </a:p>
        </p:txBody>
      </p:sp>
      <p:sp>
        <p:nvSpPr>
          <p:cNvPr id="15" name="Rounded Rectangle 14"/>
          <p:cNvSpPr/>
          <p:nvPr/>
        </p:nvSpPr>
        <p:spPr>
          <a:xfrm>
            <a:off x="548640" y="365760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02336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67328"/>
            <a:ext cx="4754880" cy="365760"/>
          </a:xfrm>
          <a:prstGeom prst="rect">
            <a:avLst/>
          </a:prstGeom>
          <a:noFill/>
        </p:spPr>
        <p:txBody>
          <a:bodyPr wrap="square" lIns="0" rIns="0" tIns="0" bIns="0" anchor="t">
            <a:spAutoFit/>
          </a:bodyPr>
          <a:lstStyle/>
          <a:p>
            <a:pPr algn="l"/>
            <a:r>
              <a:rPr sz="1400" b="1">
                <a:solidFill>
                  <a:srgbClr val="2C3A2E"/>
                </a:solidFill>
                <a:latin typeface="Calibri"/>
              </a:rPr>
              <a:t>Multilingual content scaling AI</a:t>
            </a:r>
          </a:p>
        </p:txBody>
      </p:sp>
      <p:sp>
        <p:nvSpPr>
          <p:cNvPr id="18" name="TextBox 17"/>
          <p:cNvSpPr txBox="1"/>
          <p:nvPr/>
        </p:nvSpPr>
        <p:spPr>
          <a:xfrm>
            <a:off x="1097280" y="4069080"/>
            <a:ext cx="4754880" cy="457200"/>
          </a:xfrm>
          <a:prstGeom prst="rect">
            <a:avLst/>
          </a:prstGeom>
          <a:noFill/>
        </p:spPr>
        <p:txBody>
          <a:bodyPr wrap="square" lIns="0" rIns="0" tIns="0" bIns="0" anchor="t">
            <a:spAutoFit/>
          </a:bodyPr>
          <a:lstStyle/>
          <a:p>
            <a:pPr algn="l"/>
            <a:r>
              <a:rPr sz="1100" b="0">
                <a:solidFill>
                  <a:srgbClr val="8A9085"/>
                </a:solidFill>
                <a:latin typeface="Calibri"/>
              </a:rPr>
              <a:t>EN-first, AI drafts ES/FR/PT for editor review.</a:t>
            </a:r>
          </a:p>
        </p:txBody>
      </p:sp>
      <p:sp>
        <p:nvSpPr>
          <p:cNvPr id="19" name="Rounded Rectangle 18"/>
          <p:cNvSpPr/>
          <p:nvPr/>
        </p:nvSpPr>
        <p:spPr>
          <a:xfrm>
            <a:off x="6172200" y="365760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402336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767328"/>
            <a:ext cx="4754880" cy="365760"/>
          </a:xfrm>
          <a:prstGeom prst="rect">
            <a:avLst/>
          </a:prstGeom>
          <a:noFill/>
        </p:spPr>
        <p:txBody>
          <a:bodyPr wrap="square" lIns="0" rIns="0" tIns="0" bIns="0" anchor="t">
            <a:spAutoFit/>
          </a:bodyPr>
          <a:lstStyle/>
          <a:p>
            <a:pPr algn="l"/>
            <a:r>
              <a:rPr sz="1400" b="1">
                <a:solidFill>
                  <a:srgbClr val="2C3A2E"/>
                </a:solidFill>
                <a:latin typeface="Calibri"/>
              </a:rPr>
              <a:t>Demand-sensing AI</a:t>
            </a:r>
          </a:p>
        </p:txBody>
      </p:sp>
      <p:sp>
        <p:nvSpPr>
          <p:cNvPr id="22" name="TextBox 21"/>
          <p:cNvSpPr txBox="1"/>
          <p:nvPr/>
        </p:nvSpPr>
        <p:spPr>
          <a:xfrm>
            <a:off x="6720840" y="4069080"/>
            <a:ext cx="4754880" cy="457200"/>
          </a:xfrm>
          <a:prstGeom prst="rect">
            <a:avLst/>
          </a:prstGeom>
          <a:noFill/>
        </p:spPr>
        <p:txBody>
          <a:bodyPr wrap="square" lIns="0" rIns="0" tIns="0" bIns="0" anchor="t">
            <a:spAutoFit/>
          </a:bodyPr>
          <a:lstStyle/>
          <a:p>
            <a:pPr algn="l"/>
            <a:r>
              <a:rPr sz="1100" b="0">
                <a:solidFill>
                  <a:srgbClr val="8A9085"/>
                </a:solidFill>
                <a:latin typeface="Calibri"/>
              </a:rPr>
              <a:t>Wishlist + routine signals feed production planning.</a:t>
            </a:r>
          </a:p>
        </p:txBody>
      </p:sp>
      <p:sp>
        <p:nvSpPr>
          <p:cNvPr id="23" name="Rounded Rectangle 22"/>
          <p:cNvSpPr/>
          <p:nvPr/>
        </p:nvSpPr>
        <p:spPr>
          <a:xfrm>
            <a:off x="548640" y="466344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502920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773168"/>
            <a:ext cx="4754880" cy="365760"/>
          </a:xfrm>
          <a:prstGeom prst="rect">
            <a:avLst/>
          </a:prstGeom>
          <a:noFill/>
        </p:spPr>
        <p:txBody>
          <a:bodyPr wrap="square" lIns="0" rIns="0" tIns="0" bIns="0" anchor="t">
            <a:spAutoFit/>
          </a:bodyPr>
          <a:lstStyle/>
          <a:p>
            <a:pPr algn="l"/>
            <a:r>
              <a:rPr sz="1400" b="1">
                <a:solidFill>
                  <a:srgbClr val="2C3A2E"/>
                </a:solidFill>
                <a:latin typeface="Calibri"/>
              </a:rPr>
              <a:t>Counterfeit listing detection</a:t>
            </a:r>
          </a:p>
        </p:txBody>
      </p:sp>
      <p:sp>
        <p:nvSpPr>
          <p:cNvPr id="26" name="TextBox 25"/>
          <p:cNvSpPr txBox="1"/>
          <p:nvPr/>
        </p:nvSpPr>
        <p:spPr>
          <a:xfrm>
            <a:off x="1097280" y="5074920"/>
            <a:ext cx="4754880" cy="457200"/>
          </a:xfrm>
          <a:prstGeom prst="rect">
            <a:avLst/>
          </a:prstGeom>
          <a:noFill/>
        </p:spPr>
        <p:txBody>
          <a:bodyPr wrap="square" lIns="0" rIns="0" tIns="0" bIns="0" anchor="t">
            <a:spAutoFit/>
          </a:bodyPr>
          <a:lstStyle/>
          <a:p>
            <a:pPr algn="l"/>
            <a:r>
              <a:rPr sz="1100" b="0">
                <a:solidFill>
                  <a:srgbClr val="8A9085"/>
                </a:solidFill>
                <a:latin typeface="Calibri"/>
              </a:rPr>
              <a:t>Amazon, eBay, AliExpress.</a:t>
            </a:r>
          </a:p>
        </p:txBody>
      </p:sp>
      <p:sp>
        <p:nvSpPr>
          <p:cNvPr id="27" name="Rounded Rectangle 26"/>
          <p:cNvSpPr/>
          <p:nvPr/>
        </p:nvSpPr>
        <p:spPr>
          <a:xfrm>
            <a:off x="6172200" y="466344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46520" y="502920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773168"/>
            <a:ext cx="4754880" cy="365760"/>
          </a:xfrm>
          <a:prstGeom prst="rect">
            <a:avLst/>
          </a:prstGeom>
          <a:noFill/>
        </p:spPr>
        <p:txBody>
          <a:bodyPr wrap="square" lIns="0" rIns="0" tIns="0" bIns="0" anchor="t">
            <a:spAutoFit/>
          </a:bodyPr>
          <a:lstStyle/>
          <a:p>
            <a:pPr algn="l"/>
            <a:r>
              <a:rPr sz="1400" b="1">
                <a:solidFill>
                  <a:srgbClr val="2C3A2E"/>
                </a:solidFill>
                <a:latin typeface="Calibri"/>
              </a:rPr>
              <a:t>Carbon-per-use leaderboard</a:t>
            </a:r>
          </a:p>
        </p:txBody>
      </p:sp>
      <p:sp>
        <p:nvSpPr>
          <p:cNvPr id="30" name="TextBox 29"/>
          <p:cNvSpPr txBox="1"/>
          <p:nvPr/>
        </p:nvSpPr>
        <p:spPr>
          <a:xfrm>
            <a:off x="6720840" y="5074920"/>
            <a:ext cx="4754880" cy="457200"/>
          </a:xfrm>
          <a:prstGeom prst="rect">
            <a:avLst/>
          </a:prstGeom>
          <a:noFill/>
        </p:spPr>
        <p:txBody>
          <a:bodyPr wrap="square" lIns="0" rIns="0" tIns="0" bIns="0" anchor="t">
            <a:spAutoFit/>
          </a:bodyPr>
          <a:lstStyle/>
          <a:p>
            <a:pPr algn="l"/>
            <a:r>
              <a:rPr sz="1100" b="0">
                <a:solidFill>
                  <a:srgbClr val="8A9085"/>
                </a:solidFill>
                <a:latin typeface="Calibri"/>
              </a:rPr>
              <a:t>Most-improved products year over year.</a:t>
            </a:r>
          </a:p>
        </p:txBody>
      </p:sp>
      <p:sp>
        <p:nvSpPr>
          <p:cNvPr id="31" name="Rounded Rectangle 30"/>
          <p:cNvSpPr/>
          <p:nvPr/>
        </p:nvSpPr>
        <p:spPr>
          <a:xfrm>
            <a:off x="548640" y="566928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603504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779008"/>
            <a:ext cx="4754880" cy="365760"/>
          </a:xfrm>
          <a:prstGeom prst="rect">
            <a:avLst/>
          </a:prstGeom>
          <a:noFill/>
        </p:spPr>
        <p:txBody>
          <a:bodyPr wrap="square" lIns="0" rIns="0" tIns="0" bIns="0" anchor="t">
            <a:spAutoFit/>
          </a:bodyPr>
          <a:lstStyle/>
          <a:p>
            <a:pPr algn="l"/>
            <a:r>
              <a:rPr sz="1400" b="1">
                <a:solidFill>
                  <a:srgbClr val="2C3A2E"/>
                </a:solidFill>
                <a:latin typeface="Calibri"/>
              </a:rPr>
              <a:t>VIP signal detection</a:t>
            </a:r>
          </a:p>
        </p:txBody>
      </p:sp>
      <p:sp>
        <p:nvSpPr>
          <p:cNvPr id="34" name="TextBox 33"/>
          <p:cNvSpPr txBox="1"/>
          <p:nvPr/>
        </p:nvSpPr>
        <p:spPr>
          <a:xfrm>
            <a:off x="1097280" y="6080760"/>
            <a:ext cx="4754880" cy="457200"/>
          </a:xfrm>
          <a:prstGeom prst="rect">
            <a:avLst/>
          </a:prstGeom>
          <a:noFill/>
        </p:spPr>
        <p:txBody>
          <a:bodyPr wrap="square" lIns="0" rIns="0" tIns="0" bIns="0" anchor="t">
            <a:spAutoFit/>
          </a:bodyPr>
          <a:lstStyle/>
          <a:p>
            <a:pPr algn="l"/>
            <a:r>
              <a:rPr sz="1100" b="0">
                <a:solidFill>
                  <a:srgbClr val="8A9085"/>
                </a:solidFill>
                <a:latin typeface="Calibri"/>
              </a:rPr>
              <a:t>Concierge welcomes top-tier supporters.</a:t>
            </a:r>
          </a:p>
        </p:txBody>
      </p:sp>
      <p:sp>
        <p:nvSpPr>
          <p:cNvPr id="35" name="Rounded Rectangle 34"/>
          <p:cNvSpPr/>
          <p:nvPr/>
        </p:nvSpPr>
        <p:spPr>
          <a:xfrm>
            <a:off x="6172200" y="5669280"/>
            <a:ext cx="5486400" cy="8686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46520" y="6035040"/>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5779008"/>
            <a:ext cx="4754880" cy="365760"/>
          </a:xfrm>
          <a:prstGeom prst="rect">
            <a:avLst/>
          </a:prstGeom>
          <a:noFill/>
        </p:spPr>
        <p:txBody>
          <a:bodyPr wrap="square" lIns="0" rIns="0" tIns="0" bIns="0" anchor="t">
            <a:spAutoFit/>
          </a:bodyPr>
          <a:lstStyle/>
          <a:p>
            <a:pPr algn="l"/>
            <a:r>
              <a:rPr sz="1400" b="1">
                <a:solidFill>
                  <a:srgbClr val="2C3A2E"/>
                </a:solidFill>
                <a:latin typeface="Calibri"/>
              </a:rPr>
              <a:t>CSRD-ready data export</a:t>
            </a:r>
          </a:p>
        </p:txBody>
      </p:sp>
      <p:sp>
        <p:nvSpPr>
          <p:cNvPr id="38" name="TextBox 37"/>
          <p:cNvSpPr txBox="1"/>
          <p:nvPr/>
        </p:nvSpPr>
        <p:spPr>
          <a:xfrm>
            <a:off x="6720840" y="6080760"/>
            <a:ext cx="4754880" cy="457200"/>
          </a:xfrm>
          <a:prstGeom prst="rect">
            <a:avLst/>
          </a:prstGeom>
          <a:noFill/>
        </p:spPr>
        <p:txBody>
          <a:bodyPr wrap="square" lIns="0" rIns="0" tIns="0" bIns="0" anchor="t">
            <a:spAutoFit/>
          </a:bodyPr>
          <a:lstStyle/>
          <a:p>
            <a:pPr algn="l"/>
            <a:r>
              <a:rPr sz="1100" b="0">
                <a:solidFill>
                  <a:srgbClr val="8A9085"/>
                </a:solidFill>
                <a:latin typeface="Calibri"/>
              </a:rPr>
              <a:t>EU sustainability disclosure rules will tighten — get ahead.</a:t>
            </a:r>
          </a:p>
        </p:txBody>
      </p:sp>
      <p:sp>
        <p:nvSpPr>
          <p:cNvPr id="39" name="TextBox 38"/>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40" name="TextBox 39"/>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USER EXPERIENCE</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Onboarding — under 90 seconds, in EN or ES.</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9085"/>
                </a:solidFill>
                <a:latin typeface="Calibri"/>
              </a:rPr>
              <a:t>The first screen earns trust by asking what the customer is working on — not making assumptions about her.</a:t>
            </a:r>
          </a:p>
        </p:txBody>
      </p:sp>
      <p:sp>
        <p:nvSpPr>
          <p:cNvPr id="7" name="Rounded Rectangle 6"/>
          <p:cNvSpPr/>
          <p:nvPr/>
        </p:nvSpPr>
        <p:spPr>
          <a:xfrm>
            <a:off x="548640" y="2651760"/>
            <a:ext cx="2103120" cy="32918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26080"/>
            <a:ext cx="1554480" cy="457200"/>
          </a:xfrm>
          <a:prstGeom prst="rect">
            <a:avLst/>
          </a:prstGeom>
          <a:noFill/>
        </p:spPr>
        <p:txBody>
          <a:bodyPr wrap="square" lIns="0" rIns="0" tIns="0" bIns="0" anchor="t">
            <a:spAutoFit/>
          </a:bodyPr>
          <a:lstStyle/>
          <a:p>
            <a:pPr algn="l"/>
            <a:r>
              <a:rPr sz="2800" b="0">
                <a:solidFill>
                  <a:srgbClr val="3E4F3B"/>
                </a:solidFill>
                <a:latin typeface="Georgia"/>
              </a:rPr>
              <a:t>01</a:t>
            </a:r>
          </a:p>
        </p:txBody>
      </p:sp>
      <p:sp>
        <p:nvSpPr>
          <p:cNvPr id="9" name="TextBox 8"/>
          <p:cNvSpPr txBox="1"/>
          <p:nvPr/>
        </p:nvSpPr>
        <p:spPr>
          <a:xfrm>
            <a:off x="822960" y="3566160"/>
            <a:ext cx="1554480" cy="457200"/>
          </a:xfrm>
          <a:prstGeom prst="rect">
            <a:avLst/>
          </a:prstGeom>
          <a:noFill/>
        </p:spPr>
        <p:txBody>
          <a:bodyPr wrap="square" lIns="0" rIns="0" tIns="0" bIns="0" anchor="t">
            <a:spAutoFit/>
          </a:bodyPr>
          <a:lstStyle/>
          <a:p>
            <a:pPr algn="l"/>
            <a:r>
              <a:rPr sz="1400" b="1">
                <a:solidFill>
                  <a:srgbClr val="2C3A2E"/>
                </a:solidFill>
                <a:latin typeface="Calibri"/>
              </a:rPr>
              <a:t>Hola</a:t>
            </a:r>
          </a:p>
        </p:txBody>
      </p:sp>
      <p:sp>
        <p:nvSpPr>
          <p:cNvPr id="10" name="TextBox 9"/>
          <p:cNvSpPr txBox="1"/>
          <p:nvPr/>
        </p:nvSpPr>
        <p:spPr>
          <a:xfrm>
            <a:off x="822960" y="4069080"/>
            <a:ext cx="1554480" cy="1828800"/>
          </a:xfrm>
          <a:prstGeom prst="rect">
            <a:avLst/>
          </a:prstGeom>
          <a:noFill/>
        </p:spPr>
        <p:txBody>
          <a:bodyPr wrap="square" lIns="0" rIns="0" tIns="0" bIns="0" anchor="t">
            <a:spAutoFit/>
          </a:bodyPr>
          <a:lstStyle/>
          <a:p>
            <a:pPr algn="l"/>
            <a:r>
              <a:rPr sz="1100" b="0">
                <a:solidFill>
                  <a:srgbClr val="8A9085"/>
                </a:solidFill>
                <a:latin typeface="Calibri"/>
              </a:rPr>
              <a:t>Welcome in two languages.</a:t>
            </a:r>
          </a:p>
          <a:p>
            <a:pPr algn="l"/>
            <a:r>
              <a:rPr sz="1100" b="0">
                <a:solidFill>
                  <a:srgbClr val="8A9085"/>
                </a:solidFill>
                <a:latin typeface="Calibri"/>
              </a:rPr>
              <a:t>Tap your language; everything follows.</a:t>
            </a:r>
          </a:p>
        </p:txBody>
      </p:sp>
      <p:sp>
        <p:nvSpPr>
          <p:cNvPr id="11" name="Right Arrow 10"/>
          <p:cNvSpPr/>
          <p:nvPr/>
        </p:nvSpPr>
        <p:spPr>
          <a:xfrm>
            <a:off x="2660904" y="4114800"/>
            <a:ext cx="164592"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4640" y="2651760"/>
            <a:ext cx="2103120" cy="32918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2926080"/>
            <a:ext cx="1554480" cy="457200"/>
          </a:xfrm>
          <a:prstGeom prst="rect">
            <a:avLst/>
          </a:prstGeom>
          <a:noFill/>
        </p:spPr>
        <p:txBody>
          <a:bodyPr wrap="square" lIns="0" rIns="0" tIns="0" bIns="0" anchor="t">
            <a:spAutoFit/>
          </a:bodyPr>
          <a:lstStyle/>
          <a:p>
            <a:pPr algn="l"/>
            <a:r>
              <a:rPr sz="2800" b="0">
                <a:solidFill>
                  <a:srgbClr val="3E4F3B"/>
                </a:solidFill>
                <a:latin typeface="Georgia"/>
              </a:rPr>
              <a:t>02</a:t>
            </a:r>
          </a:p>
        </p:txBody>
      </p:sp>
      <p:sp>
        <p:nvSpPr>
          <p:cNvPr id="14" name="TextBox 13"/>
          <p:cNvSpPr txBox="1"/>
          <p:nvPr/>
        </p:nvSpPr>
        <p:spPr>
          <a:xfrm>
            <a:off x="3108960" y="3566160"/>
            <a:ext cx="1554480" cy="457200"/>
          </a:xfrm>
          <a:prstGeom prst="rect">
            <a:avLst/>
          </a:prstGeom>
          <a:noFill/>
        </p:spPr>
        <p:txBody>
          <a:bodyPr wrap="square" lIns="0" rIns="0" tIns="0" bIns="0" anchor="t">
            <a:spAutoFit/>
          </a:bodyPr>
          <a:lstStyle/>
          <a:p>
            <a:pPr algn="l"/>
            <a:r>
              <a:rPr sz="1400" b="1">
                <a:solidFill>
                  <a:srgbClr val="2C3A2E"/>
                </a:solidFill>
                <a:latin typeface="Calibri"/>
              </a:rPr>
              <a:t>Sign in</a:t>
            </a:r>
          </a:p>
        </p:txBody>
      </p:sp>
      <p:sp>
        <p:nvSpPr>
          <p:cNvPr id="15" name="TextBox 14"/>
          <p:cNvSpPr txBox="1"/>
          <p:nvPr/>
        </p:nvSpPr>
        <p:spPr>
          <a:xfrm>
            <a:off x="3108960" y="4069080"/>
            <a:ext cx="1554480" cy="1828800"/>
          </a:xfrm>
          <a:prstGeom prst="rect">
            <a:avLst/>
          </a:prstGeom>
          <a:noFill/>
        </p:spPr>
        <p:txBody>
          <a:bodyPr wrap="square" lIns="0" rIns="0" tIns="0" bIns="0" anchor="t">
            <a:spAutoFit/>
          </a:bodyPr>
          <a:lstStyle/>
          <a:p>
            <a:pPr algn="l"/>
            <a:r>
              <a:rPr sz="1100" b="0">
                <a:solidFill>
                  <a:srgbClr val="8A9085"/>
                </a:solidFill>
                <a:latin typeface="Calibri"/>
              </a:rPr>
              <a:t>Apple, Google, or email.</a:t>
            </a:r>
          </a:p>
          <a:p>
            <a:pPr algn="l"/>
            <a:r>
              <a:rPr sz="1100" b="0">
                <a:solidFill>
                  <a:srgbClr val="8A9085"/>
                </a:solidFill>
                <a:latin typeface="Calibri"/>
              </a:rPr>
              <a:t>No forms.</a:t>
            </a:r>
          </a:p>
        </p:txBody>
      </p:sp>
      <p:sp>
        <p:nvSpPr>
          <p:cNvPr id="16" name="Right Arrow 15"/>
          <p:cNvSpPr/>
          <p:nvPr/>
        </p:nvSpPr>
        <p:spPr>
          <a:xfrm>
            <a:off x="4946904" y="4114800"/>
            <a:ext cx="164592"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20640" y="2651760"/>
            <a:ext cx="2103120" cy="32918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0" y="2926080"/>
            <a:ext cx="1554480" cy="457200"/>
          </a:xfrm>
          <a:prstGeom prst="rect">
            <a:avLst/>
          </a:prstGeom>
          <a:noFill/>
        </p:spPr>
        <p:txBody>
          <a:bodyPr wrap="square" lIns="0" rIns="0" tIns="0" bIns="0" anchor="t">
            <a:spAutoFit/>
          </a:bodyPr>
          <a:lstStyle/>
          <a:p>
            <a:pPr algn="l"/>
            <a:r>
              <a:rPr sz="2800" b="0">
                <a:solidFill>
                  <a:srgbClr val="3E4F3B"/>
                </a:solidFill>
                <a:latin typeface="Georgia"/>
              </a:rPr>
              <a:t>03</a:t>
            </a:r>
          </a:p>
        </p:txBody>
      </p:sp>
      <p:sp>
        <p:nvSpPr>
          <p:cNvPr id="19" name="TextBox 18"/>
          <p:cNvSpPr txBox="1"/>
          <p:nvPr/>
        </p:nvSpPr>
        <p:spPr>
          <a:xfrm>
            <a:off x="5394960" y="3566160"/>
            <a:ext cx="1554480" cy="457200"/>
          </a:xfrm>
          <a:prstGeom prst="rect">
            <a:avLst/>
          </a:prstGeom>
          <a:noFill/>
        </p:spPr>
        <p:txBody>
          <a:bodyPr wrap="square" lIns="0" rIns="0" tIns="0" bIns="0" anchor="t">
            <a:spAutoFit/>
          </a:bodyPr>
          <a:lstStyle/>
          <a:p>
            <a:pPr algn="l"/>
            <a:r>
              <a:rPr sz="1400" b="1">
                <a:solidFill>
                  <a:srgbClr val="2C3A2E"/>
                </a:solidFill>
                <a:latin typeface="Calibri"/>
              </a:rPr>
              <a:t>Goals</a:t>
            </a:r>
          </a:p>
        </p:txBody>
      </p:sp>
      <p:sp>
        <p:nvSpPr>
          <p:cNvPr id="20" name="TextBox 19"/>
          <p:cNvSpPr txBox="1"/>
          <p:nvPr/>
        </p:nvSpPr>
        <p:spPr>
          <a:xfrm>
            <a:off x="5394960" y="4069080"/>
            <a:ext cx="1554480" cy="1828800"/>
          </a:xfrm>
          <a:prstGeom prst="rect">
            <a:avLst/>
          </a:prstGeom>
          <a:noFill/>
        </p:spPr>
        <p:txBody>
          <a:bodyPr wrap="square" lIns="0" rIns="0" tIns="0" bIns="0" anchor="t">
            <a:spAutoFit/>
          </a:bodyPr>
          <a:lstStyle/>
          <a:p>
            <a:pPr algn="l"/>
            <a:r>
              <a:rPr sz="1100" b="0">
                <a:solidFill>
                  <a:srgbClr val="8A9085"/>
                </a:solidFill>
                <a:latin typeface="Calibri"/>
              </a:rPr>
              <a:t>Pick 1–3 from hydration, glow,</a:t>
            </a:r>
          </a:p>
          <a:p>
            <a:pPr algn="l"/>
            <a:r>
              <a:rPr sz="1100" b="0">
                <a:solidFill>
                  <a:srgbClr val="8A9085"/>
                </a:solidFill>
                <a:latin typeface="Calibri"/>
              </a:rPr>
              <a:t>barrier, acne, age, sensitivity.</a:t>
            </a:r>
          </a:p>
        </p:txBody>
      </p:sp>
      <p:sp>
        <p:nvSpPr>
          <p:cNvPr id="21" name="Right Arrow 20"/>
          <p:cNvSpPr/>
          <p:nvPr/>
        </p:nvSpPr>
        <p:spPr>
          <a:xfrm>
            <a:off x="7232904" y="4114800"/>
            <a:ext cx="164592"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06640" y="2651760"/>
            <a:ext cx="2103120" cy="32918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2926080"/>
            <a:ext cx="1554480" cy="457200"/>
          </a:xfrm>
          <a:prstGeom prst="rect">
            <a:avLst/>
          </a:prstGeom>
          <a:noFill/>
        </p:spPr>
        <p:txBody>
          <a:bodyPr wrap="square" lIns="0" rIns="0" tIns="0" bIns="0" anchor="t">
            <a:spAutoFit/>
          </a:bodyPr>
          <a:lstStyle/>
          <a:p>
            <a:pPr algn="l"/>
            <a:r>
              <a:rPr sz="2800" b="0">
                <a:solidFill>
                  <a:srgbClr val="3E4F3B"/>
                </a:solidFill>
                <a:latin typeface="Georgia"/>
              </a:rPr>
              <a:t>04</a:t>
            </a:r>
          </a:p>
        </p:txBody>
      </p:sp>
      <p:sp>
        <p:nvSpPr>
          <p:cNvPr id="24" name="TextBox 23"/>
          <p:cNvSpPr txBox="1"/>
          <p:nvPr/>
        </p:nvSpPr>
        <p:spPr>
          <a:xfrm>
            <a:off x="7680960" y="3566160"/>
            <a:ext cx="1554480" cy="457200"/>
          </a:xfrm>
          <a:prstGeom prst="rect">
            <a:avLst/>
          </a:prstGeom>
          <a:noFill/>
        </p:spPr>
        <p:txBody>
          <a:bodyPr wrap="square" lIns="0" rIns="0" tIns="0" bIns="0" anchor="t">
            <a:spAutoFit/>
          </a:bodyPr>
          <a:lstStyle/>
          <a:p>
            <a:pPr algn="l"/>
            <a:r>
              <a:rPr sz="1400" b="1">
                <a:solidFill>
                  <a:srgbClr val="2C3A2E"/>
                </a:solidFill>
                <a:latin typeface="Calibri"/>
              </a:rPr>
              <a:t>Sensitivities</a:t>
            </a:r>
          </a:p>
        </p:txBody>
      </p:sp>
      <p:sp>
        <p:nvSpPr>
          <p:cNvPr id="25" name="TextBox 24"/>
          <p:cNvSpPr txBox="1"/>
          <p:nvPr/>
        </p:nvSpPr>
        <p:spPr>
          <a:xfrm>
            <a:off x="7680960" y="4069080"/>
            <a:ext cx="1554480" cy="1828800"/>
          </a:xfrm>
          <a:prstGeom prst="rect">
            <a:avLst/>
          </a:prstGeom>
          <a:noFill/>
        </p:spPr>
        <p:txBody>
          <a:bodyPr wrap="square" lIns="0" rIns="0" tIns="0" bIns="0" anchor="t">
            <a:spAutoFit/>
          </a:bodyPr>
          <a:lstStyle/>
          <a:p>
            <a:pPr algn="l"/>
            <a:r>
              <a:rPr sz="1100" b="0">
                <a:solidFill>
                  <a:srgbClr val="8A9085"/>
                </a:solidFill>
                <a:latin typeface="Calibri"/>
              </a:rPr>
              <a:t>Fragrance? Retinol? Anything</a:t>
            </a:r>
          </a:p>
          <a:p>
            <a:pPr algn="l"/>
            <a:r>
              <a:rPr sz="1100" b="0">
                <a:solidFill>
                  <a:srgbClr val="8A9085"/>
                </a:solidFill>
                <a:latin typeface="Calibri"/>
              </a:rPr>
              <a:t>you know reacts? · safety filter</a:t>
            </a:r>
          </a:p>
        </p:txBody>
      </p:sp>
      <p:sp>
        <p:nvSpPr>
          <p:cNvPr id="26" name="Right Arrow 25"/>
          <p:cNvSpPr/>
          <p:nvPr/>
        </p:nvSpPr>
        <p:spPr>
          <a:xfrm>
            <a:off x="9518904" y="4114800"/>
            <a:ext cx="164592"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92640" y="2651760"/>
            <a:ext cx="2103120" cy="32918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66960" y="2926080"/>
            <a:ext cx="1554480" cy="457200"/>
          </a:xfrm>
          <a:prstGeom prst="rect">
            <a:avLst/>
          </a:prstGeom>
          <a:noFill/>
        </p:spPr>
        <p:txBody>
          <a:bodyPr wrap="square" lIns="0" rIns="0" tIns="0" bIns="0" anchor="t">
            <a:spAutoFit/>
          </a:bodyPr>
          <a:lstStyle/>
          <a:p>
            <a:pPr algn="l"/>
            <a:r>
              <a:rPr sz="2800" b="0">
                <a:solidFill>
                  <a:srgbClr val="3E4F3B"/>
                </a:solidFill>
                <a:latin typeface="Georgia"/>
              </a:rPr>
              <a:t>05</a:t>
            </a:r>
          </a:p>
        </p:txBody>
      </p:sp>
      <p:sp>
        <p:nvSpPr>
          <p:cNvPr id="29" name="TextBox 28"/>
          <p:cNvSpPr txBox="1"/>
          <p:nvPr/>
        </p:nvSpPr>
        <p:spPr>
          <a:xfrm>
            <a:off x="9966960" y="3566160"/>
            <a:ext cx="1554480" cy="457200"/>
          </a:xfrm>
          <a:prstGeom prst="rect">
            <a:avLst/>
          </a:prstGeom>
          <a:noFill/>
        </p:spPr>
        <p:txBody>
          <a:bodyPr wrap="square" lIns="0" rIns="0" tIns="0" bIns="0" anchor="t">
            <a:spAutoFit/>
          </a:bodyPr>
          <a:lstStyle/>
          <a:p>
            <a:pPr algn="l"/>
            <a:r>
              <a:rPr sz="1400" b="1">
                <a:solidFill>
                  <a:srgbClr val="2C3A2E"/>
                </a:solidFill>
                <a:latin typeface="Calibri"/>
              </a:rPr>
              <a:t>First moment</a:t>
            </a:r>
          </a:p>
        </p:txBody>
      </p:sp>
      <p:sp>
        <p:nvSpPr>
          <p:cNvPr id="30" name="TextBox 29"/>
          <p:cNvSpPr txBox="1"/>
          <p:nvPr/>
        </p:nvSpPr>
        <p:spPr>
          <a:xfrm>
            <a:off x="9966960" y="4069080"/>
            <a:ext cx="1554480" cy="1828800"/>
          </a:xfrm>
          <a:prstGeom prst="rect">
            <a:avLst/>
          </a:prstGeom>
          <a:noFill/>
        </p:spPr>
        <p:txBody>
          <a:bodyPr wrap="square" lIns="0" rIns="0" tIns="0" bIns="0" anchor="t">
            <a:spAutoFit/>
          </a:bodyPr>
          <a:lstStyle/>
          <a:p>
            <a:pPr algn="l"/>
            <a:r>
              <a:rPr sz="1100" b="0">
                <a:solidFill>
                  <a:srgbClr val="8A9085"/>
                </a:solidFill>
                <a:latin typeface="Calibri"/>
              </a:rPr>
              <a:t>Today's Routine is yours —</a:t>
            </a:r>
          </a:p>
          <a:p>
            <a:pPr algn="l"/>
            <a:r>
              <a:rPr sz="1100" b="0">
                <a:solidFill>
                  <a:srgbClr val="8A9085"/>
                </a:solidFill>
                <a:latin typeface="Calibri"/>
              </a:rPr>
              <a:t>or explore the Facts.</a:t>
            </a:r>
          </a:p>
        </p:txBody>
      </p:sp>
      <p:sp>
        <p:nvSpPr>
          <p:cNvPr id="31" name="TextBox 30"/>
          <p:cNvSpPr txBox="1"/>
          <p:nvPr/>
        </p:nvSpPr>
        <p:spPr>
          <a:xfrm>
            <a:off x="548640" y="6126480"/>
            <a:ext cx="10972800" cy="365760"/>
          </a:xfrm>
          <a:prstGeom prst="rect">
            <a:avLst/>
          </a:prstGeom>
          <a:noFill/>
        </p:spPr>
        <p:txBody>
          <a:bodyPr wrap="square" lIns="0" rIns="0" tIns="0" bIns="0" anchor="t">
            <a:spAutoFit/>
          </a:bodyPr>
          <a:lstStyle/>
          <a:p>
            <a:pPr algn="l"/>
            <a:r>
              <a:rPr sz="1100" b="1">
                <a:solidFill>
                  <a:srgbClr val="3E4F3B"/>
                </a:solidFill>
                <a:latin typeface="Calibri"/>
              </a:rPr>
              <a:t>DESIGN PRINCIPLE   —   Never diagnose skin conditions. Always cite. Always defer to dermatologists.</a:t>
            </a:r>
          </a:p>
        </p:txBody>
      </p:sp>
      <p:sp>
        <p:nvSpPr>
          <p:cNvPr id="32" name="TextBox 31"/>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33" name="TextBox 32"/>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USER FLOW · 1 OF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First product → daily routine.</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9085"/>
                </a:solidFill>
                <a:latin typeface="Calibri"/>
              </a:rPr>
              <a:t>From a Whole Foods aisle to a daily AM/PM in three weeks.</a:t>
            </a:r>
          </a:p>
        </p:txBody>
      </p:sp>
      <p:sp>
        <p:nvSpPr>
          <p:cNvPr id="7" name="Rounded Rectangle 6"/>
          <p:cNvSpPr/>
          <p:nvPr/>
        </p:nvSpPr>
        <p:spPr>
          <a:xfrm>
            <a:off x="548640"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DISCOVER</a:t>
            </a:r>
          </a:p>
        </p:txBody>
      </p:sp>
      <p:sp>
        <p:nvSpPr>
          <p:cNvPr id="10" name="TextBox 9"/>
          <p:cNvSpPr txBox="1"/>
          <p:nvPr/>
        </p:nvSpPr>
        <p:spPr>
          <a:xfrm>
            <a:off x="777240"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Sees Vitamin C serum</a:t>
            </a:r>
          </a:p>
        </p:txBody>
      </p:sp>
      <p:sp>
        <p:nvSpPr>
          <p:cNvPr id="11" name="TextBox 10"/>
          <p:cNvSpPr txBox="1"/>
          <p:nvPr/>
        </p:nvSpPr>
        <p:spPr>
          <a:xfrm>
            <a:off x="777240"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At Whole Foods. Scans the QR on the box. App opens with full Sustainability Facts label.</a:t>
            </a:r>
          </a:p>
        </p:txBody>
      </p:sp>
      <p:sp>
        <p:nvSpPr>
          <p:cNvPr id="12" name="Right Arrow 11"/>
          <p:cNvSpPr/>
          <p:nvPr/>
        </p:nvSpPr>
        <p:spPr>
          <a:xfrm>
            <a:off x="2532888"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07208"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07208"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BUILD</a:t>
            </a:r>
          </a:p>
        </p:txBody>
      </p:sp>
      <p:sp>
        <p:nvSpPr>
          <p:cNvPr id="16" name="TextBox 15"/>
          <p:cNvSpPr txBox="1"/>
          <p:nvPr/>
        </p:nvSpPr>
        <p:spPr>
          <a:xfrm>
            <a:off x="3035808"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Picks goals</a:t>
            </a:r>
          </a:p>
        </p:txBody>
      </p:sp>
      <p:sp>
        <p:nvSpPr>
          <p:cNvPr id="17" name="TextBox 16"/>
          <p:cNvSpPr txBox="1"/>
          <p:nvPr/>
        </p:nvSpPr>
        <p:spPr>
          <a:xfrm>
            <a:off x="3035808"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Hydration + Glow. App proposes a routine: cleansing oil → toner → vitamin C → ceramide → SPF.</a:t>
            </a:r>
          </a:p>
        </p:txBody>
      </p:sp>
      <p:sp>
        <p:nvSpPr>
          <p:cNvPr id="18" name="Right Arrow 17"/>
          <p:cNvSpPr/>
          <p:nvPr/>
        </p:nvSpPr>
        <p:spPr>
          <a:xfrm>
            <a:off x="4791456"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65776"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BUY</a:t>
            </a:r>
          </a:p>
        </p:txBody>
      </p:sp>
      <p:sp>
        <p:nvSpPr>
          <p:cNvPr id="22" name="TextBox 21"/>
          <p:cNvSpPr txBox="1"/>
          <p:nvPr/>
        </p:nvSpPr>
        <p:spPr>
          <a:xfrm>
            <a:off x="5294376"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Apple Pay checkout</a:t>
            </a:r>
          </a:p>
        </p:txBody>
      </p:sp>
      <p:sp>
        <p:nvSpPr>
          <p:cNvPr id="23" name="TextBox 22"/>
          <p:cNvSpPr txBox="1"/>
          <p:nvPr/>
        </p:nvSpPr>
        <p:spPr>
          <a:xfrm>
            <a:off x="5294376"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DTC checkout. Subscribes to Vitamin C serum + ceramide moisturiser. Order tracked in-app.</a:t>
            </a:r>
          </a:p>
        </p:txBody>
      </p:sp>
      <p:sp>
        <p:nvSpPr>
          <p:cNvPr id="24" name="Right Arrow 23"/>
          <p:cNvSpPr/>
          <p:nvPr/>
        </p:nvSpPr>
        <p:spPr>
          <a:xfrm>
            <a:off x="7050024"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24344"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24344"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7224"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ROUTINE</a:t>
            </a:r>
          </a:p>
        </p:txBody>
      </p:sp>
      <p:sp>
        <p:nvSpPr>
          <p:cNvPr id="28" name="TextBox 27"/>
          <p:cNvSpPr txBox="1"/>
          <p:nvPr/>
        </p:nvSpPr>
        <p:spPr>
          <a:xfrm>
            <a:off x="7552944"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Day 1</a:t>
            </a:r>
          </a:p>
        </p:txBody>
      </p:sp>
      <p:sp>
        <p:nvSpPr>
          <p:cNvPr id="29" name="TextBox 28"/>
          <p:cNvSpPr txBox="1"/>
          <p:nvPr/>
        </p:nvSpPr>
        <p:spPr>
          <a:xfrm>
            <a:off x="7552944"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Morning push: 'Step 1 of your routine.' 60-sec audio with technique tips. Marks complete (no streak).</a:t>
            </a:r>
          </a:p>
        </p:txBody>
      </p:sp>
      <p:sp>
        <p:nvSpPr>
          <p:cNvPr id="30" name="Right Arrow 29"/>
          <p:cNvSpPr/>
          <p:nvPr/>
        </p:nvSpPr>
        <p:spPr>
          <a:xfrm>
            <a:off x="9308592"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82912"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2912"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5792"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HABIT</a:t>
            </a:r>
          </a:p>
        </p:txBody>
      </p:sp>
      <p:sp>
        <p:nvSpPr>
          <p:cNvPr id="34" name="TextBox 33"/>
          <p:cNvSpPr txBox="1"/>
          <p:nvPr/>
        </p:nvSpPr>
        <p:spPr>
          <a:xfrm>
            <a:off x="9811512"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Day 21</a:t>
            </a:r>
          </a:p>
        </p:txBody>
      </p:sp>
      <p:sp>
        <p:nvSpPr>
          <p:cNvPr id="35" name="TextBox 34"/>
          <p:cNvSpPr txBox="1"/>
          <p:nvPr/>
        </p:nvSpPr>
        <p:spPr>
          <a:xfrm>
            <a:off x="9811512"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Three weeks of completed mornings. Customer stops experimenting; her routine stuck.</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USER FLOW · 2 OF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Sensitive-skin customer with rosacea — when to defer to dermatologists.</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9085"/>
                </a:solidFill>
                <a:latin typeface="Calibri"/>
              </a:rPr>
              <a:t>The brand's reputation depends on never giving medical advice.</a:t>
            </a:r>
          </a:p>
        </p:txBody>
      </p:sp>
      <p:sp>
        <p:nvSpPr>
          <p:cNvPr id="7" name="Rounded Rectangle 6"/>
          <p:cNvSpPr/>
          <p:nvPr/>
        </p:nvSpPr>
        <p:spPr>
          <a:xfrm>
            <a:off x="548640"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ASK</a:t>
            </a:r>
          </a:p>
        </p:txBody>
      </p:sp>
      <p:sp>
        <p:nvSpPr>
          <p:cNvPr id="10" name="TextBox 9"/>
          <p:cNvSpPr txBox="1"/>
          <p:nvPr/>
        </p:nvSpPr>
        <p:spPr>
          <a:xfrm>
            <a:off x="777240"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Customer asks</a:t>
            </a:r>
          </a:p>
        </p:txBody>
      </p:sp>
      <p:sp>
        <p:nvSpPr>
          <p:cNvPr id="11" name="TextBox 10"/>
          <p:cNvSpPr txBox="1"/>
          <p:nvPr/>
        </p:nvSpPr>
        <p:spPr>
          <a:xfrm>
            <a:off x="777240"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Maya, with rosacea, wants to add Vitamin C to her routine.</a:t>
            </a:r>
          </a:p>
        </p:txBody>
      </p:sp>
      <p:sp>
        <p:nvSpPr>
          <p:cNvPr id="12" name="Right Arrow 11"/>
          <p:cNvSpPr/>
          <p:nvPr/>
        </p:nvSpPr>
        <p:spPr>
          <a:xfrm>
            <a:off x="2532888"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07208"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07208"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DETECT</a:t>
            </a:r>
          </a:p>
        </p:txBody>
      </p:sp>
      <p:sp>
        <p:nvSpPr>
          <p:cNvPr id="16" name="TextBox 15"/>
          <p:cNvSpPr txBox="1"/>
          <p:nvPr/>
        </p:nvSpPr>
        <p:spPr>
          <a:xfrm>
            <a:off x="3035808"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AI flags caution</a:t>
            </a:r>
          </a:p>
        </p:txBody>
      </p:sp>
      <p:sp>
        <p:nvSpPr>
          <p:cNvPr id="17" name="TextBox 16"/>
          <p:cNvSpPr txBox="1"/>
          <p:nvPr/>
        </p:nvSpPr>
        <p:spPr>
          <a:xfrm>
            <a:off x="3035808"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Even gentle vitamin C may trigger flares. AI gives general guidance; refers to dermatologist.</a:t>
            </a:r>
          </a:p>
        </p:txBody>
      </p:sp>
      <p:sp>
        <p:nvSpPr>
          <p:cNvPr id="18" name="Right Arrow 17"/>
          <p:cNvSpPr/>
          <p:nvPr/>
        </p:nvSpPr>
        <p:spPr>
          <a:xfrm>
            <a:off x="4791456"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65776"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ESCALATE</a:t>
            </a:r>
          </a:p>
        </p:txBody>
      </p:sp>
      <p:sp>
        <p:nvSpPr>
          <p:cNvPr id="22" name="TextBox 21"/>
          <p:cNvSpPr txBox="1"/>
          <p:nvPr/>
        </p:nvSpPr>
        <p:spPr>
          <a:xfrm>
            <a:off x="5294376"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Concierge follows</a:t>
            </a:r>
          </a:p>
        </p:txBody>
      </p:sp>
      <p:sp>
        <p:nvSpPr>
          <p:cNvPr id="23" name="TextBox 22"/>
          <p:cNvSpPr txBox="1"/>
          <p:nvPr/>
        </p:nvSpPr>
        <p:spPr>
          <a:xfrm>
            <a:off x="5294376"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AI logs escalation. Maya gets a calm human reply confirming the dermatologist deferral.</a:t>
            </a:r>
          </a:p>
        </p:txBody>
      </p:sp>
      <p:sp>
        <p:nvSpPr>
          <p:cNvPr id="24" name="Right Arrow 23"/>
          <p:cNvSpPr/>
          <p:nvPr/>
        </p:nvSpPr>
        <p:spPr>
          <a:xfrm>
            <a:off x="7050024"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24344"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24344"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7224"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CONFIRM</a:t>
            </a:r>
          </a:p>
        </p:txBody>
      </p:sp>
      <p:sp>
        <p:nvSpPr>
          <p:cNvPr id="28" name="TextBox 27"/>
          <p:cNvSpPr txBox="1"/>
          <p:nvPr/>
        </p:nvSpPr>
        <p:spPr>
          <a:xfrm>
            <a:off x="7552944"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Derm note</a:t>
            </a:r>
          </a:p>
        </p:txBody>
      </p:sp>
      <p:sp>
        <p:nvSpPr>
          <p:cNvPr id="29" name="TextBox 28"/>
          <p:cNvSpPr txBox="1"/>
          <p:nvPr/>
        </p:nvSpPr>
        <p:spPr>
          <a:xfrm>
            <a:off x="7552944"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Maya's dermatologist clears the gentle ascorbyl glucoside formulation. Stack rules update.</a:t>
            </a:r>
          </a:p>
        </p:txBody>
      </p:sp>
      <p:sp>
        <p:nvSpPr>
          <p:cNvPr id="30" name="Right Arrow 29"/>
          <p:cNvSpPr/>
          <p:nvPr/>
        </p:nvSpPr>
        <p:spPr>
          <a:xfrm>
            <a:off x="9308592"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82912"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2912"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5792"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TRUST</a:t>
            </a:r>
          </a:p>
        </p:txBody>
      </p:sp>
      <p:sp>
        <p:nvSpPr>
          <p:cNvPr id="34" name="TextBox 33"/>
          <p:cNvSpPr txBox="1"/>
          <p:nvPr/>
        </p:nvSpPr>
        <p:spPr>
          <a:xfrm>
            <a:off x="9811512"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Brand earns it</a:t>
            </a:r>
          </a:p>
        </p:txBody>
      </p:sp>
      <p:sp>
        <p:nvSpPr>
          <p:cNvPr id="35" name="TextBox 34"/>
          <p:cNvSpPr txBox="1"/>
          <p:nvPr/>
        </p:nvSpPr>
        <p:spPr>
          <a:xfrm>
            <a:off x="9811512"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What another brand might have answered casually, Cocokind handled correctly. Maya tells two friends.</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USER FLOW · 3 OF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Refill management — the customer who thought she'd cancel.</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9085"/>
                </a:solidFill>
                <a:latin typeface="Calibri"/>
              </a:rPr>
              <a:t>Most brands lose customers on the cancel button. The Vault makes that rare.</a:t>
            </a:r>
          </a:p>
        </p:txBody>
      </p:sp>
      <p:sp>
        <p:nvSpPr>
          <p:cNvPr id="7" name="Rounded Rectangle 6"/>
          <p:cNvSpPr/>
          <p:nvPr/>
        </p:nvSpPr>
        <p:spPr>
          <a:xfrm>
            <a:off x="548640"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SIGNAL</a:t>
            </a:r>
          </a:p>
        </p:txBody>
      </p:sp>
      <p:sp>
        <p:nvSpPr>
          <p:cNvPr id="10" name="TextBox 9"/>
          <p:cNvSpPr txBox="1"/>
          <p:nvPr/>
        </p:nvSpPr>
        <p:spPr>
          <a:xfrm>
            <a:off x="777240"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Skipped twice</a:t>
            </a:r>
          </a:p>
        </p:txBody>
      </p:sp>
      <p:sp>
        <p:nvSpPr>
          <p:cNvPr id="11" name="TextBox 10"/>
          <p:cNvSpPr txBox="1"/>
          <p:nvPr/>
        </p:nvSpPr>
        <p:spPr>
          <a:xfrm>
            <a:off x="777240"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Customer skipped two consecutive ceramide moisturiser refills.</a:t>
            </a:r>
          </a:p>
        </p:txBody>
      </p:sp>
      <p:sp>
        <p:nvSpPr>
          <p:cNvPr id="12" name="Right Arrow 11"/>
          <p:cNvSpPr/>
          <p:nvPr/>
        </p:nvSpPr>
        <p:spPr>
          <a:xfrm>
            <a:off x="2532888"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07208"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07208"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REACH</a:t>
            </a:r>
          </a:p>
        </p:txBody>
      </p:sp>
      <p:sp>
        <p:nvSpPr>
          <p:cNvPr id="16" name="TextBox 15"/>
          <p:cNvSpPr txBox="1"/>
          <p:nvPr/>
        </p:nvSpPr>
        <p:spPr>
          <a:xfrm>
            <a:off x="3035808"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Calm message</a:t>
            </a:r>
          </a:p>
        </p:txBody>
      </p:sp>
      <p:sp>
        <p:nvSpPr>
          <p:cNvPr id="17" name="TextBox 16"/>
          <p:cNvSpPr txBox="1"/>
          <p:nvPr/>
        </p:nvSpPr>
        <p:spPr>
          <a:xfrm>
            <a:off x="3035808"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Push: 'Notice you've been skipping. Want to pause for a season instead?'</a:t>
            </a:r>
          </a:p>
        </p:txBody>
      </p:sp>
      <p:sp>
        <p:nvSpPr>
          <p:cNvPr id="18" name="Right Arrow 17"/>
          <p:cNvSpPr/>
          <p:nvPr/>
        </p:nvSpPr>
        <p:spPr>
          <a:xfrm>
            <a:off x="4791456"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65776"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PAUSE</a:t>
            </a:r>
          </a:p>
        </p:txBody>
      </p:sp>
      <p:sp>
        <p:nvSpPr>
          <p:cNvPr id="22" name="TextBox 21"/>
          <p:cNvSpPr txBox="1"/>
          <p:nvPr/>
        </p:nvSpPr>
        <p:spPr>
          <a:xfrm>
            <a:off x="5294376"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Vacation mode</a:t>
            </a:r>
          </a:p>
        </p:txBody>
      </p:sp>
      <p:sp>
        <p:nvSpPr>
          <p:cNvPr id="23" name="TextBox 22"/>
          <p:cNvSpPr txBox="1"/>
          <p:nvPr/>
        </p:nvSpPr>
        <p:spPr>
          <a:xfrm>
            <a:off x="5294376"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Customer taps Pause for 60 days. No charge. Routine still visible.</a:t>
            </a:r>
          </a:p>
        </p:txBody>
      </p:sp>
      <p:sp>
        <p:nvSpPr>
          <p:cNvPr id="24" name="Right Arrow 23"/>
          <p:cNvSpPr/>
          <p:nvPr/>
        </p:nvSpPr>
        <p:spPr>
          <a:xfrm>
            <a:off x="7050024"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24344"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24344"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7224"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RETURN</a:t>
            </a:r>
          </a:p>
        </p:txBody>
      </p:sp>
      <p:sp>
        <p:nvSpPr>
          <p:cNvPr id="28" name="TextBox 27"/>
          <p:cNvSpPr txBox="1"/>
          <p:nvPr/>
        </p:nvSpPr>
        <p:spPr>
          <a:xfrm>
            <a:off x="7552944"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Auto-restart</a:t>
            </a:r>
          </a:p>
        </p:txBody>
      </p:sp>
      <p:sp>
        <p:nvSpPr>
          <p:cNvPr id="29" name="TextBox 28"/>
          <p:cNvSpPr txBox="1"/>
          <p:nvPr/>
        </p:nvSpPr>
        <p:spPr>
          <a:xfrm>
            <a:off x="7552944"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60 days later, refill resumes. Customer didn't lift a finger.</a:t>
            </a:r>
          </a:p>
        </p:txBody>
      </p:sp>
      <p:sp>
        <p:nvSpPr>
          <p:cNvPr id="30" name="Right Arrow 29"/>
          <p:cNvSpPr/>
          <p:nvPr/>
        </p:nvSpPr>
        <p:spPr>
          <a:xfrm>
            <a:off x="9308592" y="4069080"/>
            <a:ext cx="228600" cy="365760"/>
          </a:xfrm>
          <a:prstGeom prst="rightArrow">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82912" y="2560320"/>
            <a:ext cx="1938528" cy="338328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2912" y="2560320"/>
            <a:ext cx="1938528" cy="50292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5792"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LTV</a:t>
            </a:r>
          </a:p>
        </p:txBody>
      </p:sp>
      <p:sp>
        <p:nvSpPr>
          <p:cNvPr id="34" name="TextBox 33"/>
          <p:cNvSpPr txBox="1"/>
          <p:nvPr/>
        </p:nvSpPr>
        <p:spPr>
          <a:xfrm>
            <a:off x="9811512" y="3246120"/>
            <a:ext cx="1481328" cy="640080"/>
          </a:xfrm>
          <a:prstGeom prst="rect">
            <a:avLst/>
          </a:prstGeom>
          <a:noFill/>
        </p:spPr>
        <p:txBody>
          <a:bodyPr wrap="square" lIns="0" rIns="0" tIns="0" bIns="0" anchor="t">
            <a:spAutoFit/>
          </a:bodyPr>
          <a:lstStyle/>
          <a:p>
            <a:pPr algn="l"/>
            <a:r>
              <a:rPr sz="1300" b="1">
                <a:solidFill>
                  <a:srgbClr val="2C3A2E"/>
                </a:solidFill>
                <a:latin typeface="Calibri"/>
              </a:rPr>
              <a:t>Saved</a:t>
            </a:r>
          </a:p>
        </p:txBody>
      </p:sp>
      <p:sp>
        <p:nvSpPr>
          <p:cNvPr id="35" name="TextBox 34"/>
          <p:cNvSpPr txBox="1"/>
          <p:nvPr/>
        </p:nvSpPr>
        <p:spPr>
          <a:xfrm>
            <a:off x="9811512" y="4023360"/>
            <a:ext cx="1481328" cy="1828800"/>
          </a:xfrm>
          <a:prstGeom prst="rect">
            <a:avLst/>
          </a:prstGeom>
          <a:noFill/>
        </p:spPr>
        <p:txBody>
          <a:bodyPr wrap="square" lIns="0" rIns="0" tIns="0" bIns="0" anchor="t">
            <a:spAutoFit/>
          </a:bodyPr>
          <a:lstStyle/>
          <a:p>
            <a:pPr algn="l"/>
            <a:r>
              <a:rPr sz="1000" b="0">
                <a:solidFill>
                  <a:srgbClr val="8A9085"/>
                </a:solidFill>
                <a:latin typeface="Calibri"/>
              </a:rPr>
              <a:t>What would have been a churn is a 60-day pause. LTV protected.</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VISUAL REFERENCE</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What it looks like in hand.</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9085"/>
                </a:solidFill>
                <a:latin typeface="Calibri"/>
              </a:rPr>
              <a:t>Wireframe-fidelity mockups in the brand palette — warm cream, matcha sage, amber, soft rose.</a:t>
            </a:r>
          </a:p>
        </p:txBody>
      </p:sp>
      <p:sp>
        <p:nvSpPr>
          <p:cNvPr id="7" name="Rounded Rectangle 6"/>
          <p:cNvSpPr/>
          <p:nvPr/>
        </p:nvSpPr>
        <p:spPr>
          <a:xfrm>
            <a:off x="548640" y="2468880"/>
            <a:ext cx="2103120" cy="18288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560320"/>
            <a:ext cx="1920240" cy="1645920"/>
          </a:xfrm>
          <a:prstGeom prst="roundRect">
            <a:avLst>
              <a:gd name="adj" fmla="val 12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560320"/>
            <a:ext cx="192024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Onboarding</a:t>
            </a:r>
          </a:p>
        </p:txBody>
      </p:sp>
      <p:sp>
        <p:nvSpPr>
          <p:cNvPr id="11" name="TextBox 10"/>
          <p:cNvSpPr txBox="1"/>
          <p:nvPr/>
        </p:nvSpPr>
        <p:spPr>
          <a:xfrm>
            <a:off x="731520" y="3108960"/>
            <a:ext cx="1737360" cy="1097280"/>
          </a:xfrm>
          <a:prstGeom prst="rect">
            <a:avLst/>
          </a:prstGeom>
          <a:noFill/>
        </p:spPr>
        <p:txBody>
          <a:bodyPr wrap="square" lIns="0" rIns="0" tIns="0" bIns="0" anchor="t">
            <a:spAutoFit/>
          </a:bodyPr>
          <a:lstStyle/>
          <a:p>
            <a:pPr algn="l"/>
            <a:r>
              <a:rPr sz="1000" b="0">
                <a:solidFill>
                  <a:srgbClr val="8A9085"/>
                </a:solidFill>
                <a:latin typeface="Calibri"/>
              </a:rPr>
              <a:t>EN/ES · sign-in</a:t>
            </a:r>
          </a:p>
        </p:txBody>
      </p:sp>
      <p:sp>
        <p:nvSpPr>
          <p:cNvPr id="12" name="Rounded Rectangle 11"/>
          <p:cNvSpPr/>
          <p:nvPr/>
        </p:nvSpPr>
        <p:spPr>
          <a:xfrm>
            <a:off x="2788920" y="2468880"/>
            <a:ext cx="2103120" cy="18288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80360" y="2560320"/>
            <a:ext cx="1920240" cy="1645920"/>
          </a:xfrm>
          <a:prstGeom prst="roundRect">
            <a:avLst>
              <a:gd name="adj" fmla="val 12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80360" y="2560320"/>
            <a:ext cx="192024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180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Home</a:t>
            </a:r>
          </a:p>
        </p:txBody>
      </p:sp>
      <p:sp>
        <p:nvSpPr>
          <p:cNvPr id="16" name="TextBox 15"/>
          <p:cNvSpPr txBox="1"/>
          <p:nvPr/>
        </p:nvSpPr>
        <p:spPr>
          <a:xfrm>
            <a:off x="2971800" y="3108960"/>
            <a:ext cx="1737360" cy="1097280"/>
          </a:xfrm>
          <a:prstGeom prst="rect">
            <a:avLst/>
          </a:prstGeom>
          <a:noFill/>
        </p:spPr>
        <p:txBody>
          <a:bodyPr wrap="square" lIns="0" rIns="0" tIns="0" bIns="0" anchor="t">
            <a:spAutoFit/>
          </a:bodyPr>
          <a:lstStyle/>
          <a:p>
            <a:pPr algn="l"/>
            <a:r>
              <a:rPr sz="1000" b="0">
                <a:solidFill>
                  <a:srgbClr val="8A9085"/>
                </a:solidFill>
                <a:latin typeface="Calibri"/>
              </a:rPr>
              <a:t>Today's routine</a:t>
            </a:r>
          </a:p>
        </p:txBody>
      </p:sp>
      <p:sp>
        <p:nvSpPr>
          <p:cNvPr id="17" name="Rounded Rectangle 16"/>
          <p:cNvSpPr/>
          <p:nvPr/>
        </p:nvSpPr>
        <p:spPr>
          <a:xfrm>
            <a:off x="5029200" y="2468880"/>
            <a:ext cx="2103120" cy="18288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20640" y="2560320"/>
            <a:ext cx="1920240" cy="1645920"/>
          </a:xfrm>
          <a:prstGeom prst="roundRect">
            <a:avLst>
              <a:gd name="adj" fmla="val 12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0" y="2560320"/>
            <a:ext cx="192024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8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Facts</a:t>
            </a:r>
          </a:p>
        </p:txBody>
      </p:sp>
      <p:sp>
        <p:nvSpPr>
          <p:cNvPr id="21" name="TextBox 20"/>
          <p:cNvSpPr txBox="1"/>
          <p:nvPr/>
        </p:nvSpPr>
        <p:spPr>
          <a:xfrm>
            <a:off x="5212080" y="3108960"/>
            <a:ext cx="1737360" cy="1097280"/>
          </a:xfrm>
          <a:prstGeom prst="rect">
            <a:avLst/>
          </a:prstGeom>
          <a:noFill/>
        </p:spPr>
        <p:txBody>
          <a:bodyPr wrap="square" lIns="0" rIns="0" tIns="0" bIns="0" anchor="t">
            <a:spAutoFit/>
          </a:bodyPr>
          <a:lstStyle/>
          <a:p>
            <a:pPr algn="l"/>
            <a:r>
              <a:rPr sz="1000" b="0">
                <a:solidFill>
                  <a:srgbClr val="8A9085"/>
                </a:solidFill>
                <a:latin typeface="Calibri"/>
              </a:rPr>
              <a:t>Digital Sustainability Facts</a:t>
            </a:r>
          </a:p>
        </p:txBody>
      </p:sp>
      <p:sp>
        <p:nvSpPr>
          <p:cNvPr id="22" name="Rounded Rectangle 21"/>
          <p:cNvSpPr/>
          <p:nvPr/>
        </p:nvSpPr>
        <p:spPr>
          <a:xfrm>
            <a:off x="7269480" y="2468880"/>
            <a:ext cx="2103120" cy="18288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60920" y="2560320"/>
            <a:ext cx="1920240" cy="1645920"/>
          </a:xfrm>
          <a:prstGeom prst="roundRect">
            <a:avLst>
              <a:gd name="adj" fmla="val 12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60920" y="2560320"/>
            <a:ext cx="192024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Match</a:t>
            </a:r>
          </a:p>
        </p:txBody>
      </p:sp>
      <p:sp>
        <p:nvSpPr>
          <p:cNvPr id="26" name="TextBox 25"/>
          <p:cNvSpPr txBox="1"/>
          <p:nvPr/>
        </p:nvSpPr>
        <p:spPr>
          <a:xfrm>
            <a:off x="7452360" y="3108960"/>
            <a:ext cx="1737360" cy="1097280"/>
          </a:xfrm>
          <a:prstGeom prst="rect">
            <a:avLst/>
          </a:prstGeom>
          <a:noFill/>
        </p:spPr>
        <p:txBody>
          <a:bodyPr wrap="square" lIns="0" rIns="0" tIns="0" bIns="0" anchor="t">
            <a:spAutoFit/>
          </a:bodyPr>
          <a:lstStyle/>
          <a:p>
            <a:pPr algn="l"/>
            <a:r>
              <a:rPr sz="1000" b="0">
                <a:solidFill>
                  <a:srgbClr val="8A9085"/>
                </a:solidFill>
                <a:latin typeface="Calibri"/>
              </a:rPr>
              <a:t>Multi-select goals</a:t>
            </a:r>
          </a:p>
        </p:txBody>
      </p:sp>
      <p:sp>
        <p:nvSpPr>
          <p:cNvPr id="27" name="Rounded Rectangle 26"/>
          <p:cNvSpPr/>
          <p:nvPr/>
        </p:nvSpPr>
        <p:spPr>
          <a:xfrm>
            <a:off x="9509760" y="2468880"/>
            <a:ext cx="2103120" cy="18288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01200" y="2560320"/>
            <a:ext cx="1920240" cy="1645920"/>
          </a:xfrm>
          <a:prstGeom prst="roundRect">
            <a:avLst>
              <a:gd name="adj" fmla="val 12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1200" y="2560320"/>
            <a:ext cx="192024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Routine</a:t>
            </a:r>
          </a:p>
        </p:txBody>
      </p:sp>
      <p:sp>
        <p:nvSpPr>
          <p:cNvPr id="31" name="TextBox 30"/>
          <p:cNvSpPr txBox="1"/>
          <p:nvPr/>
        </p:nvSpPr>
        <p:spPr>
          <a:xfrm>
            <a:off x="9692640" y="3108960"/>
            <a:ext cx="1737360" cy="1097280"/>
          </a:xfrm>
          <a:prstGeom prst="rect">
            <a:avLst/>
          </a:prstGeom>
          <a:noFill/>
        </p:spPr>
        <p:txBody>
          <a:bodyPr wrap="square" lIns="0" rIns="0" tIns="0" bIns="0" anchor="t">
            <a:spAutoFit/>
          </a:bodyPr>
          <a:lstStyle/>
          <a:p>
            <a:pPr algn="l"/>
            <a:r>
              <a:rPr sz="1000" b="0">
                <a:solidFill>
                  <a:srgbClr val="8A9085"/>
                </a:solidFill>
                <a:latin typeface="Calibri"/>
              </a:rPr>
              <a:t>AM + PM steps</a:t>
            </a:r>
          </a:p>
        </p:txBody>
      </p:sp>
      <p:sp>
        <p:nvSpPr>
          <p:cNvPr id="32" name="Rounded Rectangle 31"/>
          <p:cNvSpPr/>
          <p:nvPr/>
        </p:nvSpPr>
        <p:spPr>
          <a:xfrm>
            <a:off x="548640" y="4526280"/>
            <a:ext cx="2103120" cy="18288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 y="4617720"/>
            <a:ext cx="1920240" cy="1645920"/>
          </a:xfrm>
          <a:prstGeom prst="roundRect">
            <a:avLst>
              <a:gd name="adj" fmla="val 12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080" y="4617720"/>
            <a:ext cx="192024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Refill</a:t>
            </a:r>
          </a:p>
        </p:txBody>
      </p:sp>
      <p:sp>
        <p:nvSpPr>
          <p:cNvPr id="36" name="TextBox 35"/>
          <p:cNvSpPr txBox="1"/>
          <p:nvPr/>
        </p:nvSpPr>
        <p:spPr>
          <a:xfrm>
            <a:off x="731520" y="5166360"/>
            <a:ext cx="1737360" cy="1097280"/>
          </a:xfrm>
          <a:prstGeom prst="rect">
            <a:avLst/>
          </a:prstGeom>
          <a:noFill/>
        </p:spPr>
        <p:txBody>
          <a:bodyPr wrap="square" lIns="0" rIns="0" tIns="0" bIns="0" anchor="t">
            <a:spAutoFit/>
          </a:bodyPr>
          <a:lstStyle/>
          <a:p>
            <a:pPr algn="l"/>
            <a:r>
              <a:rPr sz="1000" b="0">
                <a:solidFill>
                  <a:srgbClr val="8A9085"/>
                </a:solidFill>
                <a:latin typeface="Calibri"/>
              </a:rPr>
              <a:t>Subscription mgmt</a:t>
            </a:r>
          </a:p>
        </p:txBody>
      </p:sp>
      <p:sp>
        <p:nvSpPr>
          <p:cNvPr id="37" name="Rounded Rectangle 36"/>
          <p:cNvSpPr/>
          <p:nvPr/>
        </p:nvSpPr>
        <p:spPr>
          <a:xfrm>
            <a:off x="2788920" y="4526280"/>
            <a:ext cx="2103120" cy="18288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880360" y="4617720"/>
            <a:ext cx="1920240" cy="1645920"/>
          </a:xfrm>
          <a:prstGeom prst="roundRect">
            <a:avLst>
              <a:gd name="adj" fmla="val 12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880360" y="4617720"/>
            <a:ext cx="192024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7180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Product</a:t>
            </a:r>
          </a:p>
        </p:txBody>
      </p:sp>
      <p:sp>
        <p:nvSpPr>
          <p:cNvPr id="41" name="TextBox 40"/>
          <p:cNvSpPr txBox="1"/>
          <p:nvPr/>
        </p:nvSpPr>
        <p:spPr>
          <a:xfrm>
            <a:off x="2971800" y="5166360"/>
            <a:ext cx="1737360" cy="1097280"/>
          </a:xfrm>
          <a:prstGeom prst="rect">
            <a:avLst/>
          </a:prstGeom>
          <a:noFill/>
        </p:spPr>
        <p:txBody>
          <a:bodyPr wrap="square" lIns="0" rIns="0" tIns="0" bIns="0" anchor="t">
            <a:spAutoFit/>
          </a:bodyPr>
          <a:lstStyle/>
          <a:p>
            <a:pPr algn="l"/>
            <a:r>
              <a:rPr sz="1000" b="0">
                <a:solidFill>
                  <a:srgbClr val="8A9085"/>
                </a:solidFill>
                <a:latin typeface="Calibri"/>
              </a:rPr>
              <a:t>Facts pills</a:t>
            </a:r>
          </a:p>
        </p:txBody>
      </p:sp>
      <p:sp>
        <p:nvSpPr>
          <p:cNvPr id="42" name="Rounded Rectangle 41"/>
          <p:cNvSpPr/>
          <p:nvPr/>
        </p:nvSpPr>
        <p:spPr>
          <a:xfrm>
            <a:off x="5029200" y="4526280"/>
            <a:ext cx="2103120" cy="18288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120640" y="4617720"/>
            <a:ext cx="1920240" cy="1645920"/>
          </a:xfrm>
          <a:prstGeom prst="roundRect">
            <a:avLst>
              <a:gd name="adj" fmla="val 12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120640" y="4617720"/>
            <a:ext cx="192024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Studio chat</a:t>
            </a:r>
          </a:p>
        </p:txBody>
      </p:sp>
      <p:sp>
        <p:nvSpPr>
          <p:cNvPr id="46" name="TextBox 45"/>
          <p:cNvSpPr txBox="1"/>
          <p:nvPr/>
        </p:nvSpPr>
        <p:spPr>
          <a:xfrm>
            <a:off x="5212080" y="5166360"/>
            <a:ext cx="1737360" cy="1097280"/>
          </a:xfrm>
          <a:prstGeom prst="rect">
            <a:avLst/>
          </a:prstGeom>
          <a:noFill/>
        </p:spPr>
        <p:txBody>
          <a:bodyPr wrap="square" lIns="0" rIns="0" tIns="0" bIns="0" anchor="t">
            <a:spAutoFit/>
          </a:bodyPr>
          <a:lstStyle/>
          <a:p>
            <a:pPr algn="l"/>
            <a:r>
              <a:rPr sz="1000" b="0">
                <a:solidFill>
                  <a:srgbClr val="8A9085"/>
                </a:solidFill>
                <a:latin typeface="Calibri"/>
              </a:rPr>
              <a:t>Ingredient AI</a:t>
            </a:r>
          </a:p>
        </p:txBody>
      </p:sp>
      <p:sp>
        <p:nvSpPr>
          <p:cNvPr id="47" name="Rounded Rectangle 46"/>
          <p:cNvSpPr/>
          <p:nvPr/>
        </p:nvSpPr>
        <p:spPr>
          <a:xfrm>
            <a:off x="7269480" y="4526280"/>
            <a:ext cx="2103120" cy="182880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360920" y="4617720"/>
            <a:ext cx="1920240" cy="1645920"/>
          </a:xfrm>
          <a:prstGeom prst="roundRect">
            <a:avLst>
              <a:gd name="adj" fmla="val 12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360920" y="4617720"/>
            <a:ext cx="192024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5236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Profile</a:t>
            </a:r>
          </a:p>
        </p:txBody>
      </p:sp>
      <p:sp>
        <p:nvSpPr>
          <p:cNvPr id="51" name="TextBox 50"/>
          <p:cNvSpPr txBox="1"/>
          <p:nvPr/>
        </p:nvSpPr>
        <p:spPr>
          <a:xfrm>
            <a:off x="7452360" y="5166360"/>
            <a:ext cx="1737360" cy="1097280"/>
          </a:xfrm>
          <a:prstGeom prst="rect">
            <a:avLst/>
          </a:prstGeom>
          <a:noFill/>
        </p:spPr>
        <p:txBody>
          <a:bodyPr wrap="square" lIns="0" rIns="0" tIns="0" bIns="0" anchor="t">
            <a:spAutoFit/>
          </a:bodyPr>
          <a:lstStyle/>
          <a:p>
            <a:pPr algn="l"/>
            <a:r>
              <a:rPr sz="1000" b="0">
                <a:solidFill>
                  <a:srgbClr val="8A9085"/>
                </a:solidFill>
                <a:latin typeface="Calibri"/>
              </a:rPr>
              <a:t>Data · privacy</a:t>
            </a:r>
          </a:p>
        </p:txBody>
      </p:sp>
      <p:sp>
        <p:nvSpPr>
          <p:cNvPr id="52" name="TextBox 51"/>
          <p:cNvSpPr txBox="1"/>
          <p:nvPr/>
        </p:nvSpPr>
        <p:spPr>
          <a:xfrm>
            <a:off x="548640" y="6400800"/>
            <a:ext cx="10972800" cy="365760"/>
          </a:xfrm>
          <a:prstGeom prst="rect">
            <a:avLst/>
          </a:prstGeom>
          <a:noFill/>
        </p:spPr>
        <p:txBody>
          <a:bodyPr wrap="square" lIns="0" rIns="0" tIns="0" bIns="0" anchor="t">
            <a:spAutoFit/>
          </a:bodyPr>
          <a:lstStyle/>
          <a:p>
            <a:pPr algn="l"/>
            <a:r>
              <a:rPr sz="1000" b="0">
                <a:solidFill>
                  <a:srgbClr val="3E4F3B"/>
                </a:solidFill>
                <a:latin typeface="Calibri"/>
              </a:rPr>
              <a:t>Full interactive HTML mockup available — opens in any browser.</a:t>
            </a:r>
          </a:p>
        </p:txBody>
      </p:sp>
      <p:sp>
        <p:nvSpPr>
          <p:cNvPr id="53" name="TextBox 52"/>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54" name="TextBox 53"/>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INTELLIGENCE · TIER 1</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AI in service of transparency — never of diagnosis.</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9085"/>
                </a:solidFill>
                <a:latin typeface="Calibri"/>
              </a:rPr>
              <a:t>Every Tier 1 feature operates inside compliance guardrails. Sources cited; never invented.</a:t>
            </a:r>
          </a:p>
        </p:txBody>
      </p:sp>
      <p:sp>
        <p:nvSpPr>
          <p:cNvPr id="7" name="Rounded Rectangle 6"/>
          <p:cNvSpPr/>
          <p:nvPr/>
        </p:nvSpPr>
        <p:spPr>
          <a:xfrm>
            <a:off x="548640" y="265176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88036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8036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10" name="TextBox 9"/>
          <p:cNvSpPr txBox="1"/>
          <p:nvPr/>
        </p:nvSpPr>
        <p:spPr>
          <a:xfrm>
            <a:off x="1325880" y="2788920"/>
            <a:ext cx="4480560" cy="365760"/>
          </a:xfrm>
          <a:prstGeom prst="rect">
            <a:avLst/>
          </a:prstGeom>
          <a:noFill/>
        </p:spPr>
        <p:txBody>
          <a:bodyPr wrap="square" lIns="0" rIns="0" tIns="0" bIns="0" anchor="t">
            <a:spAutoFit/>
          </a:bodyPr>
          <a:lstStyle/>
          <a:p>
            <a:pPr algn="l"/>
            <a:r>
              <a:rPr sz="1400" b="1">
                <a:solidFill>
                  <a:srgbClr val="2C3A2E"/>
                </a:solidFill>
                <a:latin typeface="Calibri"/>
              </a:rPr>
              <a:t>Studio chat (Sonnet)</a:t>
            </a:r>
          </a:p>
        </p:txBody>
      </p:sp>
      <p:sp>
        <p:nvSpPr>
          <p:cNvPr id="11" name="TextBox 10"/>
          <p:cNvSpPr txBox="1"/>
          <p:nvPr/>
        </p:nvSpPr>
        <p:spPr>
          <a:xfrm>
            <a:off x="1325880" y="3108960"/>
            <a:ext cx="4480560" cy="457200"/>
          </a:xfrm>
          <a:prstGeom prst="rect">
            <a:avLst/>
          </a:prstGeom>
          <a:noFill/>
        </p:spPr>
        <p:txBody>
          <a:bodyPr wrap="square" lIns="0" rIns="0" tIns="0" bIns="0" anchor="t">
            <a:spAutoFit/>
          </a:bodyPr>
          <a:lstStyle/>
          <a:p>
            <a:pPr algn="l"/>
            <a:r>
              <a:rPr sz="1100" b="0">
                <a:solidFill>
                  <a:srgbClr val="8A9085"/>
                </a:solidFill>
                <a:latin typeface="Calibri"/>
              </a:rPr>
              <a:t>Multilingual ingredient + routine coach. Strict cosmetic-rule guardrails.</a:t>
            </a:r>
          </a:p>
        </p:txBody>
      </p:sp>
      <p:sp>
        <p:nvSpPr>
          <p:cNvPr id="12" name="Rounded Rectangle 11"/>
          <p:cNvSpPr/>
          <p:nvPr/>
        </p:nvSpPr>
        <p:spPr>
          <a:xfrm>
            <a:off x="6172200" y="265176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288036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88036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15" name="TextBox 14"/>
          <p:cNvSpPr txBox="1"/>
          <p:nvPr/>
        </p:nvSpPr>
        <p:spPr>
          <a:xfrm>
            <a:off x="6949440" y="2788920"/>
            <a:ext cx="4480560" cy="365760"/>
          </a:xfrm>
          <a:prstGeom prst="rect">
            <a:avLst/>
          </a:prstGeom>
          <a:noFill/>
        </p:spPr>
        <p:txBody>
          <a:bodyPr wrap="square" lIns="0" rIns="0" tIns="0" bIns="0" anchor="t">
            <a:spAutoFit/>
          </a:bodyPr>
          <a:lstStyle/>
          <a:p>
            <a:pPr algn="l"/>
            <a:r>
              <a:rPr sz="1400" b="1">
                <a:solidFill>
                  <a:srgbClr val="2C3A2E"/>
                </a:solidFill>
                <a:latin typeface="Calibri"/>
              </a:rPr>
              <a:t>Goal-to-routine recommender</a:t>
            </a:r>
          </a:p>
        </p:txBody>
      </p:sp>
      <p:sp>
        <p:nvSpPr>
          <p:cNvPr id="16" name="TextBox 15"/>
          <p:cNvSpPr txBox="1"/>
          <p:nvPr/>
        </p:nvSpPr>
        <p:spPr>
          <a:xfrm>
            <a:off x="6949440" y="3108960"/>
            <a:ext cx="4480560" cy="457200"/>
          </a:xfrm>
          <a:prstGeom prst="rect">
            <a:avLst/>
          </a:prstGeom>
          <a:noFill/>
        </p:spPr>
        <p:txBody>
          <a:bodyPr wrap="square" lIns="0" rIns="0" tIns="0" bIns="0" anchor="t">
            <a:spAutoFit/>
          </a:bodyPr>
          <a:lstStyle/>
          <a:p>
            <a:pPr algn="l"/>
            <a:r>
              <a:rPr sz="1100" b="0">
                <a:solidFill>
                  <a:srgbClr val="8A9085"/>
                </a:solidFill>
                <a:latin typeface="Calibri"/>
              </a:rPr>
              <a:t>Curated rules engine + AI. Cites ingredients and step rationale.</a:t>
            </a:r>
          </a:p>
        </p:txBody>
      </p:sp>
      <p:sp>
        <p:nvSpPr>
          <p:cNvPr id="17" name="Rounded Rectangle 16"/>
          <p:cNvSpPr/>
          <p:nvPr/>
        </p:nvSpPr>
        <p:spPr>
          <a:xfrm>
            <a:off x="548640" y="370332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93192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93192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20" name="TextBox 19"/>
          <p:cNvSpPr txBox="1"/>
          <p:nvPr/>
        </p:nvSpPr>
        <p:spPr>
          <a:xfrm>
            <a:off x="1325880" y="3840480"/>
            <a:ext cx="4480560" cy="365760"/>
          </a:xfrm>
          <a:prstGeom prst="rect">
            <a:avLst/>
          </a:prstGeom>
          <a:noFill/>
        </p:spPr>
        <p:txBody>
          <a:bodyPr wrap="square" lIns="0" rIns="0" tIns="0" bIns="0" anchor="t">
            <a:spAutoFit/>
          </a:bodyPr>
          <a:lstStyle/>
          <a:p>
            <a:pPr algn="l"/>
            <a:r>
              <a:rPr sz="1400" b="1">
                <a:solidFill>
                  <a:srgbClr val="2C3A2E"/>
                </a:solidFill>
                <a:latin typeface="Calibri"/>
              </a:rPr>
              <a:t>Sensitivity-aware filtering</a:t>
            </a:r>
          </a:p>
        </p:txBody>
      </p:sp>
      <p:sp>
        <p:nvSpPr>
          <p:cNvPr id="21" name="TextBox 20"/>
          <p:cNvSpPr txBox="1"/>
          <p:nvPr/>
        </p:nvSpPr>
        <p:spPr>
          <a:xfrm>
            <a:off x="1325880" y="4160520"/>
            <a:ext cx="4480560" cy="457200"/>
          </a:xfrm>
          <a:prstGeom prst="rect">
            <a:avLst/>
          </a:prstGeom>
          <a:noFill/>
        </p:spPr>
        <p:txBody>
          <a:bodyPr wrap="square" lIns="0" rIns="0" tIns="0" bIns="0" anchor="t">
            <a:spAutoFit/>
          </a:bodyPr>
          <a:lstStyle/>
          <a:p>
            <a:pPr algn="l"/>
            <a:r>
              <a:rPr sz="1100" b="0">
                <a:solidFill>
                  <a:srgbClr val="8A9085"/>
                </a:solidFill>
                <a:latin typeface="Calibri"/>
              </a:rPr>
              <a:t>Customer-disclosed sensitivities filter routine recommendations.</a:t>
            </a:r>
          </a:p>
        </p:txBody>
      </p:sp>
      <p:sp>
        <p:nvSpPr>
          <p:cNvPr id="22" name="Rounded Rectangle 21"/>
          <p:cNvSpPr/>
          <p:nvPr/>
        </p:nvSpPr>
        <p:spPr>
          <a:xfrm>
            <a:off x="6172200" y="370332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393192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93192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25" name="TextBox 24"/>
          <p:cNvSpPr txBox="1"/>
          <p:nvPr/>
        </p:nvSpPr>
        <p:spPr>
          <a:xfrm>
            <a:off x="6949440" y="3840480"/>
            <a:ext cx="4480560" cy="365760"/>
          </a:xfrm>
          <a:prstGeom prst="rect">
            <a:avLst/>
          </a:prstGeom>
          <a:noFill/>
        </p:spPr>
        <p:txBody>
          <a:bodyPr wrap="square" lIns="0" rIns="0" tIns="0" bIns="0" anchor="t">
            <a:spAutoFit/>
          </a:bodyPr>
          <a:lstStyle/>
          <a:p>
            <a:pPr algn="l"/>
            <a:r>
              <a:rPr sz="1400" b="1">
                <a:solidFill>
                  <a:srgbClr val="2C3A2E"/>
                </a:solidFill>
                <a:latin typeface="Calibri"/>
              </a:rPr>
              <a:t>Smart refill prediction</a:t>
            </a:r>
          </a:p>
        </p:txBody>
      </p:sp>
      <p:sp>
        <p:nvSpPr>
          <p:cNvPr id="26" name="TextBox 25"/>
          <p:cNvSpPr txBox="1"/>
          <p:nvPr/>
        </p:nvSpPr>
        <p:spPr>
          <a:xfrm>
            <a:off x="6949440" y="4160520"/>
            <a:ext cx="4480560" cy="457200"/>
          </a:xfrm>
          <a:prstGeom prst="rect">
            <a:avLst/>
          </a:prstGeom>
          <a:noFill/>
        </p:spPr>
        <p:txBody>
          <a:bodyPr wrap="square" lIns="0" rIns="0" tIns="0" bIns="0" anchor="t">
            <a:spAutoFit/>
          </a:bodyPr>
          <a:lstStyle/>
          <a:p>
            <a:pPr algn="l"/>
            <a:r>
              <a:rPr sz="1100" b="0">
                <a:solidFill>
                  <a:srgbClr val="8A9085"/>
                </a:solidFill>
                <a:latin typeface="Calibri"/>
              </a:rPr>
              <a:t>Usage-based; never pushy.</a:t>
            </a:r>
          </a:p>
        </p:txBody>
      </p:sp>
      <p:sp>
        <p:nvSpPr>
          <p:cNvPr id="27" name="Rounded Rectangle 26"/>
          <p:cNvSpPr/>
          <p:nvPr/>
        </p:nvSpPr>
        <p:spPr>
          <a:xfrm>
            <a:off x="548640" y="475488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498348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8348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30" name="TextBox 29"/>
          <p:cNvSpPr txBox="1"/>
          <p:nvPr/>
        </p:nvSpPr>
        <p:spPr>
          <a:xfrm>
            <a:off x="1325880" y="4892040"/>
            <a:ext cx="4480560" cy="365760"/>
          </a:xfrm>
          <a:prstGeom prst="rect">
            <a:avLst/>
          </a:prstGeom>
          <a:noFill/>
        </p:spPr>
        <p:txBody>
          <a:bodyPr wrap="square" lIns="0" rIns="0" tIns="0" bIns="0" anchor="t">
            <a:spAutoFit/>
          </a:bodyPr>
          <a:lstStyle/>
          <a:p>
            <a:pPr algn="l"/>
            <a:r>
              <a:rPr sz="1400" b="1">
                <a:solidFill>
                  <a:srgbClr val="2C3A2E"/>
                </a:solidFill>
                <a:latin typeface="Calibri"/>
              </a:rPr>
              <a:t>Multilingual brand-voice translation</a:t>
            </a:r>
          </a:p>
        </p:txBody>
      </p:sp>
      <p:sp>
        <p:nvSpPr>
          <p:cNvPr id="31" name="TextBox 30"/>
          <p:cNvSpPr txBox="1"/>
          <p:nvPr/>
        </p:nvSpPr>
        <p:spPr>
          <a:xfrm>
            <a:off x="1325880" y="5212080"/>
            <a:ext cx="4480560" cy="457200"/>
          </a:xfrm>
          <a:prstGeom prst="rect">
            <a:avLst/>
          </a:prstGeom>
          <a:noFill/>
        </p:spPr>
        <p:txBody>
          <a:bodyPr wrap="square" lIns="0" rIns="0" tIns="0" bIns="0" anchor="t">
            <a:spAutoFit/>
          </a:bodyPr>
          <a:lstStyle/>
          <a:p>
            <a:pPr algn="l"/>
            <a:r>
              <a:rPr sz="1100" b="0">
                <a:solidFill>
                  <a:srgbClr val="8A9085"/>
                </a:solidFill>
                <a:latin typeface="Calibri"/>
              </a:rPr>
              <a:t>EN-first; AI drafts ES; brand glossary preserves Cocokind, Honest.</a:t>
            </a:r>
          </a:p>
        </p:txBody>
      </p:sp>
      <p:sp>
        <p:nvSpPr>
          <p:cNvPr id="32" name="Rounded Rectangle 31"/>
          <p:cNvSpPr/>
          <p:nvPr/>
        </p:nvSpPr>
        <p:spPr>
          <a:xfrm>
            <a:off x="6172200" y="475488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0" y="498348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98348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35" name="TextBox 34"/>
          <p:cNvSpPr txBox="1"/>
          <p:nvPr/>
        </p:nvSpPr>
        <p:spPr>
          <a:xfrm>
            <a:off x="6949440" y="4892040"/>
            <a:ext cx="4480560" cy="365760"/>
          </a:xfrm>
          <a:prstGeom prst="rect">
            <a:avLst/>
          </a:prstGeom>
          <a:noFill/>
        </p:spPr>
        <p:txBody>
          <a:bodyPr wrap="square" lIns="0" rIns="0" tIns="0" bIns="0" anchor="t">
            <a:spAutoFit/>
          </a:bodyPr>
          <a:lstStyle/>
          <a:p>
            <a:pPr algn="l"/>
            <a:r>
              <a:rPr sz="1400" b="1">
                <a:solidFill>
                  <a:srgbClr val="2C3A2E"/>
                </a:solidFill>
                <a:latin typeface="Calibri"/>
              </a:rPr>
              <a:t>Ingredient explainer</a:t>
            </a:r>
          </a:p>
        </p:txBody>
      </p:sp>
      <p:sp>
        <p:nvSpPr>
          <p:cNvPr id="36" name="TextBox 35"/>
          <p:cNvSpPr txBox="1"/>
          <p:nvPr/>
        </p:nvSpPr>
        <p:spPr>
          <a:xfrm>
            <a:off x="6949440" y="5212080"/>
            <a:ext cx="4480560" cy="457200"/>
          </a:xfrm>
          <a:prstGeom prst="rect">
            <a:avLst/>
          </a:prstGeom>
          <a:noFill/>
        </p:spPr>
        <p:txBody>
          <a:bodyPr wrap="square" lIns="0" rIns="0" tIns="0" bIns="0" anchor="t">
            <a:spAutoFit/>
          </a:bodyPr>
          <a:lstStyle/>
          <a:p>
            <a:pPr algn="l"/>
            <a:r>
              <a:rPr sz="1100" b="0">
                <a:solidFill>
                  <a:srgbClr val="8A9085"/>
                </a:solidFill>
                <a:latin typeface="Calibri"/>
              </a:rPr>
              <a:t>Tap any ingredient → sourced summary, role in formula, evidence base.</a:t>
            </a:r>
          </a:p>
        </p:txBody>
      </p:sp>
      <p:sp>
        <p:nvSpPr>
          <p:cNvPr id="37" name="TextBox 36"/>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38" name="TextBox 37"/>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INTELLIGENCE · TIER 2 &amp;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AI that powers the practice and the back office.</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9085"/>
                </a:solidFill>
                <a:latin typeface="Calibri"/>
              </a:rPr>
              <a:t>Phase 2 customer-facing AI plus operational AI the customer never sees.</a:t>
            </a:r>
          </a:p>
        </p:txBody>
      </p:sp>
      <p:sp>
        <p:nvSpPr>
          <p:cNvPr id="7" name="Rounded Rectangle 6"/>
          <p:cNvSpPr/>
          <p:nvPr/>
        </p:nvSpPr>
        <p:spPr>
          <a:xfrm>
            <a:off x="548640" y="265176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88036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8036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10" name="TextBox 9"/>
          <p:cNvSpPr txBox="1"/>
          <p:nvPr/>
        </p:nvSpPr>
        <p:spPr>
          <a:xfrm>
            <a:off x="1325880" y="2788920"/>
            <a:ext cx="4480560" cy="365760"/>
          </a:xfrm>
          <a:prstGeom prst="rect">
            <a:avLst/>
          </a:prstGeom>
          <a:noFill/>
        </p:spPr>
        <p:txBody>
          <a:bodyPr wrap="square" lIns="0" rIns="0" tIns="0" bIns="0" anchor="t">
            <a:spAutoFit/>
          </a:bodyPr>
          <a:lstStyle/>
          <a:p>
            <a:pPr algn="l"/>
            <a:r>
              <a:rPr sz="1400" b="1">
                <a:solidFill>
                  <a:srgbClr val="2C3A2E"/>
                </a:solidFill>
                <a:latin typeface="Calibri"/>
              </a:rPr>
              <a:t>AR product try-on</a:t>
            </a:r>
          </a:p>
        </p:txBody>
      </p:sp>
      <p:sp>
        <p:nvSpPr>
          <p:cNvPr id="11" name="TextBox 10"/>
          <p:cNvSpPr txBox="1"/>
          <p:nvPr/>
        </p:nvSpPr>
        <p:spPr>
          <a:xfrm>
            <a:off x="1325880" y="3108960"/>
            <a:ext cx="4480560" cy="457200"/>
          </a:xfrm>
          <a:prstGeom prst="rect">
            <a:avLst/>
          </a:prstGeom>
          <a:noFill/>
        </p:spPr>
        <p:txBody>
          <a:bodyPr wrap="square" lIns="0" rIns="0" tIns="0" bIns="0" anchor="t">
            <a:spAutoFit/>
          </a:bodyPr>
          <a:lstStyle/>
          <a:p>
            <a:pPr algn="l"/>
            <a:r>
              <a:rPr sz="1100" b="0">
                <a:solidFill>
                  <a:srgbClr val="8A9085"/>
                </a:solidFill>
                <a:latin typeface="Calibri"/>
              </a:rPr>
              <a:t>Texture and finish for makeup-adjacent items.</a:t>
            </a:r>
          </a:p>
        </p:txBody>
      </p:sp>
      <p:sp>
        <p:nvSpPr>
          <p:cNvPr id="12" name="Rounded Rectangle 11"/>
          <p:cNvSpPr/>
          <p:nvPr/>
        </p:nvSpPr>
        <p:spPr>
          <a:xfrm>
            <a:off x="6172200" y="265176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288036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88036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15" name="TextBox 14"/>
          <p:cNvSpPr txBox="1"/>
          <p:nvPr/>
        </p:nvSpPr>
        <p:spPr>
          <a:xfrm>
            <a:off x="6949440" y="2788920"/>
            <a:ext cx="4480560" cy="365760"/>
          </a:xfrm>
          <a:prstGeom prst="rect">
            <a:avLst/>
          </a:prstGeom>
          <a:noFill/>
        </p:spPr>
        <p:txBody>
          <a:bodyPr wrap="square" lIns="0" rIns="0" tIns="0" bIns="0" anchor="t">
            <a:spAutoFit/>
          </a:bodyPr>
          <a:lstStyle/>
          <a:p>
            <a:pPr algn="l"/>
            <a:r>
              <a:rPr sz="1400" b="1">
                <a:solidFill>
                  <a:srgbClr val="2C3A2E"/>
                </a:solidFill>
                <a:latin typeface="Calibri"/>
              </a:rPr>
              <a:t>Photo skin analysis (cautious)</a:t>
            </a:r>
          </a:p>
        </p:txBody>
      </p:sp>
      <p:sp>
        <p:nvSpPr>
          <p:cNvPr id="16" name="TextBox 15"/>
          <p:cNvSpPr txBox="1"/>
          <p:nvPr/>
        </p:nvSpPr>
        <p:spPr>
          <a:xfrm>
            <a:off x="6949440" y="3108960"/>
            <a:ext cx="4480560" cy="457200"/>
          </a:xfrm>
          <a:prstGeom prst="rect">
            <a:avLst/>
          </a:prstGeom>
          <a:noFill/>
        </p:spPr>
        <p:txBody>
          <a:bodyPr wrap="square" lIns="0" rIns="0" tIns="0" bIns="0" anchor="t">
            <a:spAutoFit/>
          </a:bodyPr>
          <a:lstStyle/>
          <a:p>
            <a:pPr algn="l"/>
            <a:r>
              <a:rPr sz="1100" b="0">
                <a:solidFill>
                  <a:srgbClr val="8A9085"/>
                </a:solidFill>
                <a:latin typeface="Calibri"/>
              </a:rPr>
              <a:t>Opt-in, never diagnostic; surfaces routine adjustments only.</a:t>
            </a:r>
          </a:p>
        </p:txBody>
      </p:sp>
      <p:sp>
        <p:nvSpPr>
          <p:cNvPr id="17" name="Rounded Rectangle 16"/>
          <p:cNvSpPr/>
          <p:nvPr/>
        </p:nvSpPr>
        <p:spPr>
          <a:xfrm>
            <a:off x="548640" y="370332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93192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93192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20" name="TextBox 19"/>
          <p:cNvSpPr txBox="1"/>
          <p:nvPr/>
        </p:nvSpPr>
        <p:spPr>
          <a:xfrm>
            <a:off x="1325880" y="3840480"/>
            <a:ext cx="4480560" cy="365760"/>
          </a:xfrm>
          <a:prstGeom prst="rect">
            <a:avLst/>
          </a:prstGeom>
          <a:noFill/>
        </p:spPr>
        <p:txBody>
          <a:bodyPr wrap="square" lIns="0" rIns="0" tIns="0" bIns="0" anchor="t">
            <a:spAutoFit/>
          </a:bodyPr>
          <a:lstStyle/>
          <a:p>
            <a:pPr algn="l"/>
            <a:r>
              <a:rPr sz="1400" b="1">
                <a:solidFill>
                  <a:srgbClr val="2C3A2E"/>
                </a:solidFill>
                <a:latin typeface="Calibri"/>
              </a:rPr>
              <a:t>Returns triage AI</a:t>
            </a:r>
          </a:p>
        </p:txBody>
      </p:sp>
      <p:sp>
        <p:nvSpPr>
          <p:cNvPr id="21" name="TextBox 20"/>
          <p:cNvSpPr txBox="1"/>
          <p:nvPr/>
        </p:nvSpPr>
        <p:spPr>
          <a:xfrm>
            <a:off x="1325880" y="4160520"/>
            <a:ext cx="4480560" cy="457200"/>
          </a:xfrm>
          <a:prstGeom prst="rect">
            <a:avLst/>
          </a:prstGeom>
          <a:noFill/>
        </p:spPr>
        <p:txBody>
          <a:bodyPr wrap="square" lIns="0" rIns="0" tIns="0" bIns="0" anchor="t">
            <a:spAutoFit/>
          </a:bodyPr>
          <a:lstStyle/>
          <a:p>
            <a:pPr algn="l"/>
            <a:r>
              <a:rPr sz="1100" b="0">
                <a:solidFill>
                  <a:srgbClr val="8A9085"/>
                </a:solidFill>
                <a:latin typeface="Calibri"/>
              </a:rPr>
              <a:t>Routes refund vs replacement vs adjustment.</a:t>
            </a:r>
          </a:p>
        </p:txBody>
      </p:sp>
      <p:sp>
        <p:nvSpPr>
          <p:cNvPr id="22" name="Rounded Rectangle 21"/>
          <p:cNvSpPr/>
          <p:nvPr/>
        </p:nvSpPr>
        <p:spPr>
          <a:xfrm>
            <a:off x="6172200" y="370332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393192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93192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25" name="TextBox 24"/>
          <p:cNvSpPr txBox="1"/>
          <p:nvPr/>
        </p:nvSpPr>
        <p:spPr>
          <a:xfrm>
            <a:off x="6949440" y="3840480"/>
            <a:ext cx="4480560" cy="365760"/>
          </a:xfrm>
          <a:prstGeom prst="rect">
            <a:avLst/>
          </a:prstGeom>
          <a:noFill/>
        </p:spPr>
        <p:txBody>
          <a:bodyPr wrap="square" lIns="0" rIns="0" tIns="0" bIns="0" anchor="t">
            <a:spAutoFit/>
          </a:bodyPr>
          <a:lstStyle/>
          <a:p>
            <a:pPr algn="l"/>
            <a:r>
              <a:rPr sz="1400" b="1">
                <a:solidFill>
                  <a:srgbClr val="2C3A2E"/>
                </a:solidFill>
                <a:latin typeface="Calibri"/>
              </a:rPr>
              <a:t>Demand-sensing AI</a:t>
            </a:r>
          </a:p>
        </p:txBody>
      </p:sp>
      <p:sp>
        <p:nvSpPr>
          <p:cNvPr id="26" name="TextBox 25"/>
          <p:cNvSpPr txBox="1"/>
          <p:nvPr/>
        </p:nvSpPr>
        <p:spPr>
          <a:xfrm>
            <a:off x="6949440" y="4160520"/>
            <a:ext cx="4480560" cy="457200"/>
          </a:xfrm>
          <a:prstGeom prst="rect">
            <a:avLst/>
          </a:prstGeom>
          <a:noFill/>
        </p:spPr>
        <p:txBody>
          <a:bodyPr wrap="square" lIns="0" rIns="0" tIns="0" bIns="0" anchor="t">
            <a:spAutoFit/>
          </a:bodyPr>
          <a:lstStyle/>
          <a:p>
            <a:pPr algn="l"/>
            <a:r>
              <a:rPr sz="1100" b="0">
                <a:solidFill>
                  <a:srgbClr val="8A9085"/>
                </a:solidFill>
                <a:latin typeface="Calibri"/>
              </a:rPr>
              <a:t>Wishlist + Routine signals feed production planning.</a:t>
            </a:r>
          </a:p>
        </p:txBody>
      </p:sp>
      <p:sp>
        <p:nvSpPr>
          <p:cNvPr id="27" name="Rounded Rectangle 26"/>
          <p:cNvSpPr/>
          <p:nvPr/>
        </p:nvSpPr>
        <p:spPr>
          <a:xfrm>
            <a:off x="548640" y="475488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498348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8348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30" name="TextBox 29"/>
          <p:cNvSpPr txBox="1"/>
          <p:nvPr/>
        </p:nvSpPr>
        <p:spPr>
          <a:xfrm>
            <a:off x="1325880" y="4892040"/>
            <a:ext cx="4480560" cy="365760"/>
          </a:xfrm>
          <a:prstGeom prst="rect">
            <a:avLst/>
          </a:prstGeom>
          <a:noFill/>
        </p:spPr>
        <p:txBody>
          <a:bodyPr wrap="square" lIns="0" rIns="0" tIns="0" bIns="0" anchor="t">
            <a:spAutoFit/>
          </a:bodyPr>
          <a:lstStyle/>
          <a:p>
            <a:pPr algn="l"/>
            <a:r>
              <a:rPr sz="1400" b="1">
                <a:solidFill>
                  <a:srgbClr val="2C3A2E"/>
                </a:solidFill>
                <a:latin typeface="Calibri"/>
              </a:rPr>
              <a:t>Multilingual content scaling</a:t>
            </a:r>
          </a:p>
        </p:txBody>
      </p:sp>
      <p:sp>
        <p:nvSpPr>
          <p:cNvPr id="31" name="TextBox 30"/>
          <p:cNvSpPr txBox="1"/>
          <p:nvPr/>
        </p:nvSpPr>
        <p:spPr>
          <a:xfrm>
            <a:off x="1325880" y="5212080"/>
            <a:ext cx="4480560" cy="457200"/>
          </a:xfrm>
          <a:prstGeom prst="rect">
            <a:avLst/>
          </a:prstGeom>
          <a:noFill/>
        </p:spPr>
        <p:txBody>
          <a:bodyPr wrap="square" lIns="0" rIns="0" tIns="0" bIns="0" anchor="t">
            <a:spAutoFit/>
          </a:bodyPr>
          <a:lstStyle/>
          <a:p>
            <a:pPr algn="l"/>
            <a:r>
              <a:rPr sz="1100" b="0">
                <a:solidFill>
                  <a:srgbClr val="8A9085"/>
                </a:solidFill>
                <a:latin typeface="Calibri"/>
              </a:rPr>
              <a:t>EN-first, AI drafts ES/FR/PT, editor approval.</a:t>
            </a:r>
          </a:p>
        </p:txBody>
      </p:sp>
      <p:sp>
        <p:nvSpPr>
          <p:cNvPr id="32" name="Rounded Rectangle 31"/>
          <p:cNvSpPr/>
          <p:nvPr/>
        </p:nvSpPr>
        <p:spPr>
          <a:xfrm>
            <a:off x="6172200" y="475488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0" y="498348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98348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35" name="TextBox 34"/>
          <p:cNvSpPr txBox="1"/>
          <p:nvPr/>
        </p:nvSpPr>
        <p:spPr>
          <a:xfrm>
            <a:off x="6949440" y="4892040"/>
            <a:ext cx="4480560" cy="365760"/>
          </a:xfrm>
          <a:prstGeom prst="rect">
            <a:avLst/>
          </a:prstGeom>
          <a:noFill/>
        </p:spPr>
        <p:txBody>
          <a:bodyPr wrap="square" lIns="0" rIns="0" tIns="0" bIns="0" anchor="t">
            <a:spAutoFit/>
          </a:bodyPr>
          <a:lstStyle/>
          <a:p>
            <a:pPr algn="l"/>
            <a:r>
              <a:rPr sz="1400" b="1">
                <a:solidFill>
                  <a:srgbClr val="2C3A2E"/>
                </a:solidFill>
                <a:latin typeface="Calibri"/>
              </a:rPr>
              <a:t>Counterfeit-listing detection</a:t>
            </a:r>
          </a:p>
        </p:txBody>
      </p:sp>
      <p:sp>
        <p:nvSpPr>
          <p:cNvPr id="36" name="TextBox 35"/>
          <p:cNvSpPr txBox="1"/>
          <p:nvPr/>
        </p:nvSpPr>
        <p:spPr>
          <a:xfrm>
            <a:off x="6949440" y="5212080"/>
            <a:ext cx="4480560" cy="457200"/>
          </a:xfrm>
          <a:prstGeom prst="rect">
            <a:avLst/>
          </a:prstGeom>
          <a:noFill/>
        </p:spPr>
        <p:txBody>
          <a:bodyPr wrap="square" lIns="0" rIns="0" tIns="0" bIns="0" anchor="t">
            <a:spAutoFit/>
          </a:bodyPr>
          <a:lstStyle/>
          <a:p>
            <a:pPr algn="l"/>
            <a:r>
              <a:rPr sz="1100" b="0">
                <a:solidFill>
                  <a:srgbClr val="8A9085"/>
                </a:solidFill>
                <a:latin typeface="Calibri"/>
              </a:rPr>
              <a:t>Amazon / eBay / AliExpress.</a:t>
            </a:r>
          </a:p>
        </p:txBody>
      </p:sp>
      <p:sp>
        <p:nvSpPr>
          <p:cNvPr id="37" name="Rounded Rectangle 36"/>
          <p:cNvSpPr/>
          <p:nvPr/>
        </p:nvSpPr>
        <p:spPr>
          <a:xfrm>
            <a:off x="548640" y="580644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77240" y="603504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603504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40" name="TextBox 39"/>
          <p:cNvSpPr txBox="1"/>
          <p:nvPr/>
        </p:nvSpPr>
        <p:spPr>
          <a:xfrm>
            <a:off x="1325880" y="5943600"/>
            <a:ext cx="4480560" cy="365760"/>
          </a:xfrm>
          <a:prstGeom prst="rect">
            <a:avLst/>
          </a:prstGeom>
          <a:noFill/>
        </p:spPr>
        <p:txBody>
          <a:bodyPr wrap="square" lIns="0" rIns="0" tIns="0" bIns="0" anchor="t">
            <a:spAutoFit/>
          </a:bodyPr>
          <a:lstStyle/>
          <a:p>
            <a:pPr algn="l"/>
            <a:r>
              <a:rPr sz="1400" b="1">
                <a:solidFill>
                  <a:srgbClr val="2C3A2E"/>
                </a:solidFill>
                <a:latin typeface="Calibri"/>
              </a:rPr>
              <a:t>Carbon-per-use leaderboard</a:t>
            </a:r>
          </a:p>
        </p:txBody>
      </p:sp>
      <p:sp>
        <p:nvSpPr>
          <p:cNvPr id="41" name="TextBox 40"/>
          <p:cNvSpPr txBox="1"/>
          <p:nvPr/>
        </p:nvSpPr>
        <p:spPr>
          <a:xfrm>
            <a:off x="1325880" y="6263640"/>
            <a:ext cx="4480560" cy="457200"/>
          </a:xfrm>
          <a:prstGeom prst="rect">
            <a:avLst/>
          </a:prstGeom>
          <a:noFill/>
        </p:spPr>
        <p:txBody>
          <a:bodyPr wrap="square" lIns="0" rIns="0" tIns="0" bIns="0" anchor="t">
            <a:spAutoFit/>
          </a:bodyPr>
          <a:lstStyle/>
          <a:p>
            <a:pPr algn="l"/>
            <a:r>
              <a:rPr sz="1100" b="0">
                <a:solidFill>
                  <a:srgbClr val="8A9085"/>
                </a:solidFill>
                <a:latin typeface="Calibri"/>
              </a:rPr>
              <a:t>Year-over-year LCA improvements published.</a:t>
            </a:r>
          </a:p>
        </p:txBody>
      </p:sp>
      <p:sp>
        <p:nvSpPr>
          <p:cNvPr id="42" name="Rounded Rectangle 41"/>
          <p:cNvSpPr/>
          <p:nvPr/>
        </p:nvSpPr>
        <p:spPr>
          <a:xfrm>
            <a:off x="6172200" y="5806440"/>
            <a:ext cx="5486400" cy="9144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00800" y="6035040"/>
            <a:ext cx="457200" cy="457200"/>
          </a:xfrm>
          <a:prstGeom prst="roundRect">
            <a:avLst>
              <a:gd name="adj" fmla="val 12000"/>
            </a:avLst>
          </a:prstGeom>
          <a:solidFill>
            <a:srgbClr val="F1E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6035040"/>
            <a:ext cx="457200" cy="457200"/>
          </a:xfrm>
          <a:prstGeom prst="rect">
            <a:avLst/>
          </a:prstGeom>
          <a:noFill/>
        </p:spPr>
        <p:txBody>
          <a:bodyPr wrap="square" lIns="0" rIns="0" tIns="0" bIns="0" anchor="ctr">
            <a:spAutoFit/>
          </a:bodyPr>
          <a:lstStyle/>
          <a:p>
            <a:pPr algn="ctr"/>
            <a:r>
              <a:rPr sz="1800" b="0">
                <a:solidFill>
                  <a:srgbClr val="3E4F3B"/>
                </a:solidFill>
                <a:latin typeface="Georgia"/>
              </a:rPr>
              <a:t>✦</a:t>
            </a:r>
          </a:p>
        </p:txBody>
      </p:sp>
      <p:sp>
        <p:nvSpPr>
          <p:cNvPr id="45" name="TextBox 44"/>
          <p:cNvSpPr txBox="1"/>
          <p:nvPr/>
        </p:nvSpPr>
        <p:spPr>
          <a:xfrm>
            <a:off x="6949440" y="5943600"/>
            <a:ext cx="4480560" cy="365760"/>
          </a:xfrm>
          <a:prstGeom prst="rect">
            <a:avLst/>
          </a:prstGeom>
          <a:noFill/>
        </p:spPr>
        <p:txBody>
          <a:bodyPr wrap="square" lIns="0" rIns="0" tIns="0" bIns="0" anchor="t">
            <a:spAutoFit/>
          </a:bodyPr>
          <a:lstStyle/>
          <a:p>
            <a:pPr algn="l"/>
            <a:r>
              <a:rPr sz="1400" b="1">
                <a:solidFill>
                  <a:srgbClr val="2C3A2E"/>
                </a:solidFill>
                <a:latin typeface="Calibri"/>
              </a:rPr>
              <a:t>CSRD-aware export</a:t>
            </a:r>
          </a:p>
        </p:txBody>
      </p:sp>
      <p:sp>
        <p:nvSpPr>
          <p:cNvPr id="46" name="TextBox 45"/>
          <p:cNvSpPr txBox="1"/>
          <p:nvPr/>
        </p:nvSpPr>
        <p:spPr>
          <a:xfrm>
            <a:off x="6949440" y="6263640"/>
            <a:ext cx="4480560" cy="457200"/>
          </a:xfrm>
          <a:prstGeom prst="rect">
            <a:avLst/>
          </a:prstGeom>
          <a:noFill/>
        </p:spPr>
        <p:txBody>
          <a:bodyPr wrap="square" lIns="0" rIns="0" tIns="0" bIns="0" anchor="t">
            <a:spAutoFit/>
          </a:bodyPr>
          <a:lstStyle/>
          <a:p>
            <a:pPr algn="l"/>
            <a:r>
              <a:rPr sz="1100" b="0">
                <a:solidFill>
                  <a:srgbClr val="8A9085"/>
                </a:solidFill>
                <a:latin typeface="Calibri"/>
              </a:rPr>
              <a:t>EU sustainability disclosure data export.</a:t>
            </a:r>
          </a:p>
        </p:txBody>
      </p:sp>
      <p:sp>
        <p:nvSpPr>
          <p:cNvPr id="47" name="TextBox 46"/>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48" name="TextBox 47"/>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DATA WITH CONSENT</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What we collect — and what we won't.</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9085"/>
                </a:solidFill>
                <a:latin typeface="Calibri"/>
              </a:rPr>
              <a:t>Default to opt-in per category. A self-serve "what we know about you" screen, always.</a:t>
            </a:r>
          </a:p>
        </p:txBody>
      </p:sp>
      <p:sp>
        <p:nvSpPr>
          <p:cNvPr id="7" name="Rounded Rectangle 6"/>
          <p:cNvSpPr/>
          <p:nvPr/>
        </p:nvSpPr>
        <p:spPr>
          <a:xfrm>
            <a:off x="548640" y="2651760"/>
            <a:ext cx="5486400" cy="7772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944368"/>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43200"/>
            <a:ext cx="4754880" cy="365760"/>
          </a:xfrm>
          <a:prstGeom prst="rect">
            <a:avLst/>
          </a:prstGeom>
          <a:noFill/>
        </p:spPr>
        <p:txBody>
          <a:bodyPr wrap="square" lIns="0" rIns="0" tIns="0" bIns="0" anchor="t">
            <a:spAutoFit/>
          </a:bodyPr>
          <a:lstStyle/>
          <a:p>
            <a:pPr algn="l"/>
            <a:r>
              <a:rPr sz="1300" b="1">
                <a:solidFill>
                  <a:srgbClr val="2C3A2E"/>
                </a:solidFill>
                <a:latin typeface="Calibri"/>
              </a:rPr>
              <a:t>Identity &amp; contact</a:t>
            </a:r>
          </a:p>
        </p:txBody>
      </p:sp>
      <p:sp>
        <p:nvSpPr>
          <p:cNvPr id="10" name="TextBox 9"/>
          <p:cNvSpPr txBox="1"/>
          <p:nvPr/>
        </p:nvSpPr>
        <p:spPr>
          <a:xfrm>
            <a:off x="1097280" y="3035808"/>
            <a:ext cx="4754880" cy="365760"/>
          </a:xfrm>
          <a:prstGeom prst="rect">
            <a:avLst/>
          </a:prstGeom>
          <a:noFill/>
        </p:spPr>
        <p:txBody>
          <a:bodyPr wrap="square" lIns="0" rIns="0" tIns="0" bIns="0" anchor="t">
            <a:spAutoFit/>
          </a:bodyPr>
          <a:lstStyle/>
          <a:p>
            <a:pPr algn="l"/>
            <a:r>
              <a:rPr sz="1100" b="0">
                <a:solidFill>
                  <a:srgbClr val="8A9085"/>
                </a:solidFill>
                <a:latin typeface="Calibri"/>
              </a:rPr>
              <a:t>email, name, address — orders and shipping.</a:t>
            </a:r>
          </a:p>
        </p:txBody>
      </p:sp>
      <p:sp>
        <p:nvSpPr>
          <p:cNvPr id="11" name="Rounded Rectangle 10"/>
          <p:cNvSpPr/>
          <p:nvPr/>
        </p:nvSpPr>
        <p:spPr>
          <a:xfrm>
            <a:off x="6144768" y="2651760"/>
            <a:ext cx="5486400" cy="7772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19088" y="2944368"/>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3408" y="2743200"/>
            <a:ext cx="4754880" cy="365760"/>
          </a:xfrm>
          <a:prstGeom prst="rect">
            <a:avLst/>
          </a:prstGeom>
          <a:noFill/>
        </p:spPr>
        <p:txBody>
          <a:bodyPr wrap="square" lIns="0" rIns="0" tIns="0" bIns="0" anchor="t">
            <a:spAutoFit/>
          </a:bodyPr>
          <a:lstStyle/>
          <a:p>
            <a:pPr algn="l"/>
            <a:r>
              <a:rPr sz="1300" b="1">
                <a:solidFill>
                  <a:srgbClr val="2C3A2E"/>
                </a:solidFill>
                <a:latin typeface="Calibri"/>
              </a:rPr>
              <a:t>Skin goals</a:t>
            </a:r>
          </a:p>
        </p:txBody>
      </p:sp>
      <p:sp>
        <p:nvSpPr>
          <p:cNvPr id="14" name="TextBox 13"/>
          <p:cNvSpPr txBox="1"/>
          <p:nvPr/>
        </p:nvSpPr>
        <p:spPr>
          <a:xfrm>
            <a:off x="6693408" y="3035808"/>
            <a:ext cx="4754880" cy="365760"/>
          </a:xfrm>
          <a:prstGeom prst="rect">
            <a:avLst/>
          </a:prstGeom>
          <a:noFill/>
        </p:spPr>
        <p:txBody>
          <a:bodyPr wrap="square" lIns="0" rIns="0" tIns="0" bIns="0" anchor="t">
            <a:spAutoFit/>
          </a:bodyPr>
          <a:lstStyle/>
          <a:p>
            <a:pPr algn="l"/>
            <a:r>
              <a:rPr sz="1100" b="0">
                <a:solidFill>
                  <a:srgbClr val="8A9085"/>
                </a:solidFill>
                <a:latin typeface="Calibri"/>
              </a:rPr>
              <a:t>hydration / glow / barrier / acne / age / sensitivity.</a:t>
            </a:r>
          </a:p>
        </p:txBody>
      </p:sp>
      <p:sp>
        <p:nvSpPr>
          <p:cNvPr id="15" name="Rounded Rectangle 14"/>
          <p:cNvSpPr/>
          <p:nvPr/>
        </p:nvSpPr>
        <p:spPr>
          <a:xfrm>
            <a:off x="548640" y="3538728"/>
            <a:ext cx="5486400" cy="7772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3831336"/>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630168"/>
            <a:ext cx="4754880" cy="365760"/>
          </a:xfrm>
          <a:prstGeom prst="rect">
            <a:avLst/>
          </a:prstGeom>
          <a:noFill/>
        </p:spPr>
        <p:txBody>
          <a:bodyPr wrap="square" lIns="0" rIns="0" tIns="0" bIns="0" anchor="t">
            <a:spAutoFit/>
          </a:bodyPr>
          <a:lstStyle/>
          <a:p>
            <a:pPr algn="l"/>
            <a:r>
              <a:rPr sz="1300" b="1">
                <a:solidFill>
                  <a:srgbClr val="2C3A2E"/>
                </a:solidFill>
                <a:latin typeface="Calibri"/>
              </a:rPr>
              <a:t>Sensitivities</a:t>
            </a:r>
          </a:p>
        </p:txBody>
      </p:sp>
      <p:sp>
        <p:nvSpPr>
          <p:cNvPr id="18" name="TextBox 17"/>
          <p:cNvSpPr txBox="1"/>
          <p:nvPr/>
        </p:nvSpPr>
        <p:spPr>
          <a:xfrm>
            <a:off x="1097280" y="3922776"/>
            <a:ext cx="4754880" cy="365760"/>
          </a:xfrm>
          <a:prstGeom prst="rect">
            <a:avLst/>
          </a:prstGeom>
          <a:noFill/>
        </p:spPr>
        <p:txBody>
          <a:bodyPr wrap="square" lIns="0" rIns="0" tIns="0" bIns="0" anchor="t">
            <a:spAutoFit/>
          </a:bodyPr>
          <a:lstStyle/>
          <a:p>
            <a:pPr algn="l"/>
            <a:r>
              <a:rPr sz="1100" b="0">
                <a:solidFill>
                  <a:srgbClr val="8A9085"/>
                </a:solidFill>
                <a:latin typeface="Calibri"/>
              </a:rPr>
              <a:t>for safety filters on routine recommendations.</a:t>
            </a:r>
          </a:p>
        </p:txBody>
      </p:sp>
      <p:sp>
        <p:nvSpPr>
          <p:cNvPr id="19" name="Rounded Rectangle 18"/>
          <p:cNvSpPr/>
          <p:nvPr/>
        </p:nvSpPr>
        <p:spPr>
          <a:xfrm>
            <a:off x="6144768" y="3538728"/>
            <a:ext cx="5486400" cy="7772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19088" y="3831336"/>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8" y="3630168"/>
            <a:ext cx="4754880" cy="365760"/>
          </a:xfrm>
          <a:prstGeom prst="rect">
            <a:avLst/>
          </a:prstGeom>
          <a:noFill/>
        </p:spPr>
        <p:txBody>
          <a:bodyPr wrap="square" lIns="0" rIns="0" tIns="0" bIns="0" anchor="t">
            <a:spAutoFit/>
          </a:bodyPr>
          <a:lstStyle/>
          <a:p>
            <a:pPr algn="l"/>
            <a:r>
              <a:rPr sz="1300" b="1">
                <a:solidFill>
                  <a:srgbClr val="2C3A2E"/>
                </a:solidFill>
                <a:latin typeface="Calibri"/>
              </a:rPr>
              <a:t>Language &amp; region</a:t>
            </a:r>
          </a:p>
        </p:txBody>
      </p:sp>
      <p:sp>
        <p:nvSpPr>
          <p:cNvPr id="22" name="TextBox 21"/>
          <p:cNvSpPr txBox="1"/>
          <p:nvPr/>
        </p:nvSpPr>
        <p:spPr>
          <a:xfrm>
            <a:off x="6693408" y="3922776"/>
            <a:ext cx="4754880" cy="365760"/>
          </a:xfrm>
          <a:prstGeom prst="rect">
            <a:avLst/>
          </a:prstGeom>
          <a:noFill/>
        </p:spPr>
        <p:txBody>
          <a:bodyPr wrap="square" lIns="0" rIns="0" tIns="0" bIns="0" anchor="t">
            <a:spAutoFit/>
          </a:bodyPr>
          <a:lstStyle/>
          <a:p>
            <a:pPr algn="l"/>
            <a:r>
              <a:rPr sz="1100" b="0">
                <a:solidFill>
                  <a:srgbClr val="8A9085"/>
                </a:solidFill>
                <a:latin typeface="Calibri"/>
              </a:rPr>
              <a:t>UI language, country, currency.</a:t>
            </a:r>
          </a:p>
        </p:txBody>
      </p:sp>
      <p:sp>
        <p:nvSpPr>
          <p:cNvPr id="23" name="Rounded Rectangle 22"/>
          <p:cNvSpPr/>
          <p:nvPr/>
        </p:nvSpPr>
        <p:spPr>
          <a:xfrm>
            <a:off x="548640" y="4425696"/>
            <a:ext cx="5486400" cy="7772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4718304"/>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517136"/>
            <a:ext cx="4754880" cy="365760"/>
          </a:xfrm>
          <a:prstGeom prst="rect">
            <a:avLst/>
          </a:prstGeom>
          <a:noFill/>
        </p:spPr>
        <p:txBody>
          <a:bodyPr wrap="square" lIns="0" rIns="0" tIns="0" bIns="0" anchor="t">
            <a:spAutoFit/>
          </a:bodyPr>
          <a:lstStyle/>
          <a:p>
            <a:pPr algn="l"/>
            <a:r>
              <a:rPr sz="1300" b="1">
                <a:solidFill>
                  <a:srgbClr val="2C3A2E"/>
                </a:solidFill>
                <a:latin typeface="Calibri"/>
              </a:rPr>
              <a:t>Subscriptions</a:t>
            </a:r>
          </a:p>
        </p:txBody>
      </p:sp>
      <p:sp>
        <p:nvSpPr>
          <p:cNvPr id="26" name="TextBox 25"/>
          <p:cNvSpPr txBox="1"/>
          <p:nvPr/>
        </p:nvSpPr>
        <p:spPr>
          <a:xfrm>
            <a:off x="1097280" y="4809744"/>
            <a:ext cx="4754880" cy="365760"/>
          </a:xfrm>
          <a:prstGeom prst="rect">
            <a:avLst/>
          </a:prstGeom>
          <a:noFill/>
        </p:spPr>
        <p:txBody>
          <a:bodyPr wrap="square" lIns="0" rIns="0" tIns="0" bIns="0" anchor="t">
            <a:spAutoFit/>
          </a:bodyPr>
          <a:lstStyle/>
          <a:p>
            <a:pPr algn="l"/>
            <a:r>
              <a:rPr sz="1100" b="0">
                <a:solidFill>
                  <a:srgbClr val="8A9085"/>
                </a:solidFill>
                <a:latin typeface="Calibri"/>
              </a:rPr>
              <a:t>active refills, usage rate.</a:t>
            </a:r>
          </a:p>
        </p:txBody>
      </p:sp>
      <p:sp>
        <p:nvSpPr>
          <p:cNvPr id="27" name="Rounded Rectangle 26"/>
          <p:cNvSpPr/>
          <p:nvPr/>
        </p:nvSpPr>
        <p:spPr>
          <a:xfrm>
            <a:off x="6144768" y="4425696"/>
            <a:ext cx="5486400" cy="7772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19088" y="4718304"/>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8" y="4517136"/>
            <a:ext cx="4754880" cy="365760"/>
          </a:xfrm>
          <a:prstGeom prst="rect">
            <a:avLst/>
          </a:prstGeom>
          <a:noFill/>
        </p:spPr>
        <p:txBody>
          <a:bodyPr wrap="square" lIns="0" rIns="0" tIns="0" bIns="0" anchor="t">
            <a:spAutoFit/>
          </a:bodyPr>
          <a:lstStyle/>
          <a:p>
            <a:pPr algn="l"/>
            <a:r>
              <a:rPr sz="1300" b="1">
                <a:solidFill>
                  <a:srgbClr val="2C3A2E"/>
                </a:solidFill>
                <a:latin typeface="Calibri"/>
              </a:rPr>
              <a:t>Routine engagement</a:t>
            </a:r>
          </a:p>
        </p:txBody>
      </p:sp>
      <p:sp>
        <p:nvSpPr>
          <p:cNvPr id="30" name="TextBox 29"/>
          <p:cNvSpPr txBox="1"/>
          <p:nvPr/>
        </p:nvSpPr>
        <p:spPr>
          <a:xfrm>
            <a:off x="6693408" y="4809744"/>
            <a:ext cx="4754880" cy="365760"/>
          </a:xfrm>
          <a:prstGeom prst="rect">
            <a:avLst/>
          </a:prstGeom>
          <a:noFill/>
        </p:spPr>
        <p:txBody>
          <a:bodyPr wrap="square" lIns="0" rIns="0" tIns="0" bIns="0" anchor="t">
            <a:spAutoFit/>
          </a:bodyPr>
          <a:lstStyle/>
          <a:p>
            <a:pPr algn="l"/>
            <a:r>
              <a:rPr sz="1100" b="0">
                <a:solidFill>
                  <a:srgbClr val="8A9085"/>
                </a:solidFill>
                <a:latin typeface="Calibri"/>
              </a:rPr>
              <a:t>step completions — no shaming, no streaks.</a:t>
            </a:r>
          </a:p>
        </p:txBody>
      </p:sp>
      <p:sp>
        <p:nvSpPr>
          <p:cNvPr id="31" name="Rounded Rectangle 30"/>
          <p:cNvSpPr/>
          <p:nvPr/>
        </p:nvSpPr>
        <p:spPr>
          <a:xfrm>
            <a:off x="548640" y="5312664"/>
            <a:ext cx="5486400" cy="7772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5605272"/>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404104"/>
            <a:ext cx="4754880" cy="365760"/>
          </a:xfrm>
          <a:prstGeom prst="rect">
            <a:avLst/>
          </a:prstGeom>
          <a:noFill/>
        </p:spPr>
        <p:txBody>
          <a:bodyPr wrap="square" lIns="0" rIns="0" tIns="0" bIns="0" anchor="t">
            <a:spAutoFit/>
          </a:bodyPr>
          <a:lstStyle/>
          <a:p>
            <a:pPr algn="l"/>
            <a:r>
              <a:rPr sz="1300" b="1">
                <a:solidFill>
                  <a:srgbClr val="2C3A2E"/>
                </a:solidFill>
                <a:latin typeface="Calibri"/>
              </a:rPr>
              <a:t>Routine history</a:t>
            </a:r>
          </a:p>
        </p:txBody>
      </p:sp>
      <p:sp>
        <p:nvSpPr>
          <p:cNvPr id="34" name="TextBox 33"/>
          <p:cNvSpPr txBox="1"/>
          <p:nvPr/>
        </p:nvSpPr>
        <p:spPr>
          <a:xfrm>
            <a:off x="1097280" y="5696712"/>
            <a:ext cx="4754880" cy="365760"/>
          </a:xfrm>
          <a:prstGeom prst="rect">
            <a:avLst/>
          </a:prstGeom>
          <a:noFill/>
        </p:spPr>
        <p:txBody>
          <a:bodyPr wrap="square" lIns="0" rIns="0" tIns="0" bIns="0" anchor="t">
            <a:spAutoFit/>
          </a:bodyPr>
          <a:lstStyle/>
          <a:p>
            <a:pPr algn="l"/>
            <a:r>
              <a:rPr sz="1100" b="0">
                <a:solidFill>
                  <a:srgbClr val="8A9085"/>
                </a:solidFill>
                <a:latin typeface="Calibri"/>
              </a:rPr>
              <a:t>products used, when, paired.</a:t>
            </a:r>
          </a:p>
        </p:txBody>
      </p:sp>
      <p:sp>
        <p:nvSpPr>
          <p:cNvPr id="35" name="Rounded Rectangle 34"/>
          <p:cNvSpPr/>
          <p:nvPr/>
        </p:nvSpPr>
        <p:spPr>
          <a:xfrm>
            <a:off x="6144768" y="5312664"/>
            <a:ext cx="5486400" cy="7772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19088" y="5605272"/>
            <a:ext cx="164592" cy="164592"/>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5404104"/>
            <a:ext cx="4754880" cy="365760"/>
          </a:xfrm>
          <a:prstGeom prst="rect">
            <a:avLst/>
          </a:prstGeom>
          <a:noFill/>
        </p:spPr>
        <p:txBody>
          <a:bodyPr wrap="square" lIns="0" rIns="0" tIns="0" bIns="0" anchor="t">
            <a:spAutoFit/>
          </a:bodyPr>
          <a:lstStyle/>
          <a:p>
            <a:pPr algn="l"/>
            <a:r>
              <a:rPr sz="1300" b="1">
                <a:solidFill>
                  <a:srgbClr val="2C3A2E"/>
                </a:solidFill>
                <a:latin typeface="Calibri"/>
              </a:rPr>
              <a:t>Channel of origin</a:t>
            </a:r>
          </a:p>
        </p:txBody>
      </p:sp>
      <p:sp>
        <p:nvSpPr>
          <p:cNvPr id="38" name="TextBox 37"/>
          <p:cNvSpPr txBox="1"/>
          <p:nvPr/>
        </p:nvSpPr>
        <p:spPr>
          <a:xfrm>
            <a:off x="6693408" y="5696712"/>
            <a:ext cx="4754880" cy="365760"/>
          </a:xfrm>
          <a:prstGeom prst="rect">
            <a:avLst/>
          </a:prstGeom>
          <a:noFill/>
        </p:spPr>
        <p:txBody>
          <a:bodyPr wrap="square" lIns="0" rIns="0" tIns="0" bIns="0" anchor="t">
            <a:spAutoFit/>
          </a:bodyPr>
          <a:lstStyle/>
          <a:p>
            <a:pPr algn="l"/>
            <a:r>
              <a:rPr sz="1100" b="0">
                <a:solidFill>
                  <a:srgbClr val="8A9085"/>
                </a:solidFill>
                <a:latin typeface="Calibri"/>
              </a:rPr>
              <a:t>online / Target / Whole Foods / referral.</a:t>
            </a:r>
          </a:p>
        </p:txBody>
      </p:sp>
      <p:sp>
        <p:nvSpPr>
          <p:cNvPr id="39" name="Rounded Rectangle 38"/>
          <p:cNvSpPr/>
          <p:nvPr/>
        </p:nvSpPr>
        <p:spPr>
          <a:xfrm>
            <a:off x="548640" y="6080760"/>
            <a:ext cx="11064240" cy="45720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6126480"/>
            <a:ext cx="10789920" cy="365760"/>
          </a:xfrm>
          <a:prstGeom prst="rect">
            <a:avLst/>
          </a:prstGeom>
          <a:noFill/>
        </p:spPr>
        <p:txBody>
          <a:bodyPr wrap="square" lIns="0" rIns="0" tIns="0" bIns="0" anchor="ctr">
            <a:spAutoFit/>
          </a:bodyPr>
          <a:lstStyle/>
          <a:p>
            <a:pPr algn="l"/>
            <a:r>
              <a:rPr sz="1000" b="1">
                <a:solidFill>
                  <a:srgbClr val="FFFFFF"/>
                </a:solidFill>
                <a:latin typeface="Calibri"/>
              </a:rPr>
              <a:t>WE DO NOT COLLECT  ·  weight  ·  BMI  ·  before/after photos without explicit consent  ·  precise GPS  ·  diagnosed conditions  ·  social-graph</a:t>
            </a:r>
          </a:p>
        </p:txBody>
      </p:sp>
      <p:sp>
        <p:nvSpPr>
          <p:cNvPr id="41" name="TextBox 40"/>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42" name="TextBox 41"/>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HOW IT'S BUILT</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A modern stack — boring where it should be, sharp where it counts.</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286000"/>
            <a:ext cx="2743200" cy="36576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286000"/>
            <a:ext cx="2743200" cy="64008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Mobile</a:t>
            </a:r>
          </a:p>
        </p:txBody>
      </p:sp>
      <p:sp>
        <p:nvSpPr>
          <p:cNvPr id="9" name="TextBox 8"/>
          <p:cNvSpPr txBox="1"/>
          <p:nvPr/>
        </p:nvSpPr>
        <p:spPr>
          <a:xfrm>
            <a:off x="777240" y="3154680"/>
            <a:ext cx="2377440" cy="320040"/>
          </a:xfrm>
          <a:prstGeom prst="rect">
            <a:avLst/>
          </a:prstGeom>
          <a:noFill/>
        </p:spPr>
        <p:txBody>
          <a:bodyPr wrap="square" lIns="0" rIns="0" tIns="0" bIns="0" anchor="t">
            <a:spAutoFit/>
          </a:bodyPr>
          <a:lstStyle/>
          <a:p>
            <a:pPr algn="l"/>
            <a:r>
              <a:rPr sz="1100" b="0">
                <a:solidFill>
                  <a:srgbClr val="2C3A2E"/>
                </a:solidFill>
                <a:latin typeface="Calibri"/>
              </a:rPr>
              <a:t>•  React Native + Expo (iOS &amp; Android)</a:t>
            </a:r>
          </a:p>
        </p:txBody>
      </p:sp>
      <p:sp>
        <p:nvSpPr>
          <p:cNvPr id="10" name="TextBox 9"/>
          <p:cNvSpPr txBox="1"/>
          <p:nvPr/>
        </p:nvSpPr>
        <p:spPr>
          <a:xfrm>
            <a:off x="777240" y="3566160"/>
            <a:ext cx="2377440" cy="320040"/>
          </a:xfrm>
          <a:prstGeom prst="rect">
            <a:avLst/>
          </a:prstGeom>
          <a:noFill/>
        </p:spPr>
        <p:txBody>
          <a:bodyPr wrap="square" lIns="0" rIns="0" tIns="0" bIns="0" anchor="t">
            <a:spAutoFit/>
          </a:bodyPr>
          <a:lstStyle/>
          <a:p>
            <a:pPr algn="l"/>
            <a:r>
              <a:rPr sz="1100" b="0">
                <a:solidFill>
                  <a:srgbClr val="2C3A2E"/>
                </a:solidFill>
                <a:latin typeface="Calibri"/>
              </a:rPr>
              <a:t>•  OTA updates for drop cadence</a:t>
            </a:r>
          </a:p>
        </p:txBody>
      </p:sp>
      <p:sp>
        <p:nvSpPr>
          <p:cNvPr id="11" name="TextBox 10"/>
          <p:cNvSpPr txBox="1"/>
          <p:nvPr/>
        </p:nvSpPr>
        <p:spPr>
          <a:xfrm>
            <a:off x="777240" y="3977640"/>
            <a:ext cx="2377440" cy="320040"/>
          </a:xfrm>
          <a:prstGeom prst="rect">
            <a:avLst/>
          </a:prstGeom>
          <a:noFill/>
        </p:spPr>
        <p:txBody>
          <a:bodyPr wrap="square" lIns="0" rIns="0" tIns="0" bIns="0" anchor="t">
            <a:spAutoFit/>
          </a:bodyPr>
          <a:lstStyle/>
          <a:p>
            <a:pPr algn="l"/>
            <a:r>
              <a:rPr sz="1100" b="0">
                <a:solidFill>
                  <a:srgbClr val="2C3A2E"/>
                </a:solidFill>
                <a:latin typeface="Calibri"/>
              </a:rPr>
              <a:t>•  Apple / Google sign-in</a:t>
            </a:r>
          </a:p>
        </p:txBody>
      </p:sp>
      <p:sp>
        <p:nvSpPr>
          <p:cNvPr id="12" name="Rounded Rectangle 11"/>
          <p:cNvSpPr/>
          <p:nvPr/>
        </p:nvSpPr>
        <p:spPr>
          <a:xfrm>
            <a:off x="3429000" y="2286000"/>
            <a:ext cx="2743200" cy="36576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29000" y="2286000"/>
            <a:ext cx="2743200" cy="64008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Commerce</a:t>
            </a:r>
          </a:p>
        </p:txBody>
      </p:sp>
      <p:sp>
        <p:nvSpPr>
          <p:cNvPr id="15" name="TextBox 14"/>
          <p:cNvSpPr txBox="1"/>
          <p:nvPr/>
        </p:nvSpPr>
        <p:spPr>
          <a:xfrm>
            <a:off x="3657600" y="3154680"/>
            <a:ext cx="2377440" cy="320040"/>
          </a:xfrm>
          <a:prstGeom prst="rect">
            <a:avLst/>
          </a:prstGeom>
          <a:noFill/>
        </p:spPr>
        <p:txBody>
          <a:bodyPr wrap="square" lIns="0" rIns="0" tIns="0" bIns="0" anchor="t">
            <a:spAutoFit/>
          </a:bodyPr>
          <a:lstStyle/>
          <a:p>
            <a:pPr algn="l"/>
            <a:r>
              <a:rPr sz="1100" b="0">
                <a:solidFill>
                  <a:srgbClr val="2C3A2E"/>
                </a:solidFill>
                <a:latin typeface="Calibri"/>
              </a:rPr>
              <a:t>•  Shopify storefront API</a:t>
            </a:r>
          </a:p>
        </p:txBody>
      </p:sp>
      <p:sp>
        <p:nvSpPr>
          <p:cNvPr id="16" name="TextBox 15"/>
          <p:cNvSpPr txBox="1"/>
          <p:nvPr/>
        </p:nvSpPr>
        <p:spPr>
          <a:xfrm>
            <a:off x="3657600" y="3566160"/>
            <a:ext cx="2377440" cy="320040"/>
          </a:xfrm>
          <a:prstGeom prst="rect">
            <a:avLst/>
          </a:prstGeom>
          <a:noFill/>
        </p:spPr>
        <p:txBody>
          <a:bodyPr wrap="square" lIns="0" rIns="0" tIns="0" bIns="0" anchor="t">
            <a:spAutoFit/>
          </a:bodyPr>
          <a:lstStyle/>
          <a:p>
            <a:pPr algn="l"/>
            <a:r>
              <a:rPr sz="1100" b="0">
                <a:solidFill>
                  <a:srgbClr val="2C3A2E"/>
                </a:solidFill>
                <a:latin typeface="Calibri"/>
              </a:rPr>
              <a:t>•  Multi-currency USD/CAD</a:t>
            </a:r>
          </a:p>
        </p:txBody>
      </p:sp>
      <p:sp>
        <p:nvSpPr>
          <p:cNvPr id="17" name="TextBox 16"/>
          <p:cNvSpPr txBox="1"/>
          <p:nvPr/>
        </p:nvSpPr>
        <p:spPr>
          <a:xfrm>
            <a:off x="3657600" y="3977640"/>
            <a:ext cx="2377440" cy="320040"/>
          </a:xfrm>
          <a:prstGeom prst="rect">
            <a:avLst/>
          </a:prstGeom>
          <a:noFill/>
        </p:spPr>
        <p:txBody>
          <a:bodyPr wrap="square" lIns="0" rIns="0" tIns="0" bIns="0" anchor="t">
            <a:spAutoFit/>
          </a:bodyPr>
          <a:lstStyle/>
          <a:p>
            <a:pPr algn="l"/>
            <a:r>
              <a:rPr sz="1100" b="0">
                <a:solidFill>
                  <a:srgbClr val="2C3A2E"/>
                </a:solidFill>
                <a:latin typeface="Calibri"/>
              </a:rPr>
              <a:t>•  RevenueCat for subscriptions</a:t>
            </a:r>
          </a:p>
        </p:txBody>
      </p:sp>
      <p:sp>
        <p:nvSpPr>
          <p:cNvPr id="18" name="Rounded Rectangle 17"/>
          <p:cNvSpPr/>
          <p:nvPr/>
        </p:nvSpPr>
        <p:spPr>
          <a:xfrm>
            <a:off x="6309360" y="2286000"/>
            <a:ext cx="2743200" cy="36576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09360" y="2286000"/>
            <a:ext cx="2743200" cy="64008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Facts backend</a:t>
            </a:r>
          </a:p>
        </p:txBody>
      </p:sp>
      <p:sp>
        <p:nvSpPr>
          <p:cNvPr id="21" name="TextBox 20"/>
          <p:cNvSpPr txBox="1"/>
          <p:nvPr/>
        </p:nvSpPr>
        <p:spPr>
          <a:xfrm>
            <a:off x="6537960" y="3154680"/>
            <a:ext cx="2377440" cy="320040"/>
          </a:xfrm>
          <a:prstGeom prst="rect">
            <a:avLst/>
          </a:prstGeom>
          <a:noFill/>
        </p:spPr>
        <p:txBody>
          <a:bodyPr wrap="square" lIns="0" rIns="0" tIns="0" bIns="0" anchor="t">
            <a:spAutoFit/>
          </a:bodyPr>
          <a:lstStyle/>
          <a:p>
            <a:pPr algn="l"/>
            <a:r>
              <a:rPr sz="1100" b="0">
                <a:solidFill>
                  <a:srgbClr val="2C3A2E"/>
                </a:solidFill>
                <a:latin typeface="Calibri"/>
              </a:rPr>
              <a:t>•  Node + TypeScript API</a:t>
            </a:r>
          </a:p>
        </p:txBody>
      </p:sp>
      <p:sp>
        <p:nvSpPr>
          <p:cNvPr id="22" name="TextBox 21"/>
          <p:cNvSpPr txBox="1"/>
          <p:nvPr/>
        </p:nvSpPr>
        <p:spPr>
          <a:xfrm>
            <a:off x="6537960" y="3566160"/>
            <a:ext cx="2377440" cy="320040"/>
          </a:xfrm>
          <a:prstGeom prst="rect">
            <a:avLst/>
          </a:prstGeom>
          <a:noFill/>
        </p:spPr>
        <p:txBody>
          <a:bodyPr wrap="square" lIns="0" rIns="0" tIns="0" bIns="0" anchor="t">
            <a:spAutoFit/>
          </a:bodyPr>
          <a:lstStyle/>
          <a:p>
            <a:pPr algn="l"/>
            <a:r>
              <a:rPr sz="1100" b="0">
                <a:solidFill>
                  <a:srgbClr val="2C3A2E"/>
                </a:solidFill>
                <a:latin typeface="Calibri"/>
              </a:rPr>
              <a:t>•  Postgres + pgvector for visual search</a:t>
            </a:r>
          </a:p>
        </p:txBody>
      </p:sp>
      <p:sp>
        <p:nvSpPr>
          <p:cNvPr id="23" name="TextBox 22"/>
          <p:cNvSpPr txBox="1"/>
          <p:nvPr/>
        </p:nvSpPr>
        <p:spPr>
          <a:xfrm>
            <a:off x="6537960" y="3977640"/>
            <a:ext cx="2377440" cy="320040"/>
          </a:xfrm>
          <a:prstGeom prst="rect">
            <a:avLst/>
          </a:prstGeom>
          <a:noFill/>
        </p:spPr>
        <p:txBody>
          <a:bodyPr wrap="square" lIns="0" rIns="0" tIns="0" bIns="0" anchor="t">
            <a:spAutoFit/>
          </a:bodyPr>
          <a:lstStyle/>
          <a:p>
            <a:pPr algn="l"/>
            <a:r>
              <a:rPr sz="1100" b="0">
                <a:solidFill>
                  <a:srgbClr val="2C3A2E"/>
                </a:solidFill>
                <a:latin typeface="Calibri"/>
              </a:rPr>
              <a:t>•  Citation-linked claims engine</a:t>
            </a:r>
          </a:p>
        </p:txBody>
      </p:sp>
      <p:sp>
        <p:nvSpPr>
          <p:cNvPr id="24" name="Rounded Rectangle 23"/>
          <p:cNvSpPr/>
          <p:nvPr/>
        </p:nvSpPr>
        <p:spPr>
          <a:xfrm>
            <a:off x="9189720" y="2286000"/>
            <a:ext cx="2743200" cy="36576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720" y="2286000"/>
            <a:ext cx="2743200" cy="64008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6404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Intelligence</a:t>
            </a:r>
          </a:p>
        </p:txBody>
      </p:sp>
      <p:sp>
        <p:nvSpPr>
          <p:cNvPr id="27" name="TextBox 26"/>
          <p:cNvSpPr txBox="1"/>
          <p:nvPr/>
        </p:nvSpPr>
        <p:spPr>
          <a:xfrm>
            <a:off x="9418320" y="3154680"/>
            <a:ext cx="2377440" cy="320040"/>
          </a:xfrm>
          <a:prstGeom prst="rect">
            <a:avLst/>
          </a:prstGeom>
          <a:noFill/>
        </p:spPr>
        <p:txBody>
          <a:bodyPr wrap="square" lIns="0" rIns="0" tIns="0" bIns="0" anchor="t">
            <a:spAutoFit/>
          </a:bodyPr>
          <a:lstStyle/>
          <a:p>
            <a:pPr algn="l"/>
            <a:r>
              <a:rPr sz="1100" b="0">
                <a:solidFill>
                  <a:srgbClr val="2C3A2E"/>
                </a:solidFill>
                <a:latin typeface="Calibri"/>
              </a:rPr>
              <a:t>•  Claude (Sonnet 4.6 chat, Haiku 4.5 batch)</a:t>
            </a:r>
          </a:p>
        </p:txBody>
      </p:sp>
      <p:sp>
        <p:nvSpPr>
          <p:cNvPr id="28" name="TextBox 27"/>
          <p:cNvSpPr txBox="1"/>
          <p:nvPr/>
        </p:nvSpPr>
        <p:spPr>
          <a:xfrm>
            <a:off x="9418320" y="3566160"/>
            <a:ext cx="2377440" cy="320040"/>
          </a:xfrm>
          <a:prstGeom prst="rect">
            <a:avLst/>
          </a:prstGeom>
          <a:noFill/>
        </p:spPr>
        <p:txBody>
          <a:bodyPr wrap="square" lIns="0" rIns="0" tIns="0" bIns="0" anchor="t">
            <a:spAutoFit/>
          </a:bodyPr>
          <a:lstStyle/>
          <a:p>
            <a:pPr algn="l"/>
            <a:r>
              <a:rPr sz="1100" b="0">
                <a:solidFill>
                  <a:srgbClr val="2C3A2E"/>
                </a:solidFill>
                <a:latin typeface="Calibri"/>
              </a:rPr>
              <a:t>•  Strict cosmetic-rule system prompts</a:t>
            </a:r>
          </a:p>
        </p:txBody>
      </p:sp>
      <p:sp>
        <p:nvSpPr>
          <p:cNvPr id="29" name="TextBox 28"/>
          <p:cNvSpPr txBox="1"/>
          <p:nvPr/>
        </p:nvSpPr>
        <p:spPr>
          <a:xfrm>
            <a:off x="9418320" y="3977640"/>
            <a:ext cx="2377440" cy="320040"/>
          </a:xfrm>
          <a:prstGeom prst="rect">
            <a:avLst/>
          </a:prstGeom>
          <a:noFill/>
        </p:spPr>
        <p:txBody>
          <a:bodyPr wrap="square" lIns="0" rIns="0" tIns="0" bIns="0" anchor="t">
            <a:spAutoFit/>
          </a:bodyPr>
          <a:lstStyle/>
          <a:p>
            <a:pPr algn="l"/>
            <a:r>
              <a:rPr sz="1100" b="0">
                <a:solidFill>
                  <a:srgbClr val="2C3A2E"/>
                </a:solidFill>
                <a:latin typeface="Calibri"/>
              </a:rPr>
              <a:t>•  PostHog analytics, Sentry errors</a:t>
            </a:r>
          </a:p>
        </p:txBody>
      </p:sp>
      <p:sp>
        <p:nvSpPr>
          <p:cNvPr id="30" name="TextBox 29"/>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31" name="TextBox 30"/>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THE STUDIO · WEB ADMIN PORTAL</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The internal twin of the mobile app.</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731520"/>
          </a:xfrm>
          <a:prstGeom prst="rect">
            <a:avLst/>
          </a:prstGeom>
          <a:noFill/>
        </p:spPr>
        <p:txBody>
          <a:bodyPr wrap="square" lIns="0" rIns="0" tIns="0" bIns="0" anchor="t">
            <a:spAutoFit/>
          </a:bodyPr>
          <a:lstStyle/>
          <a:p>
            <a:pPr algn="l"/>
            <a:r>
              <a:rPr sz="1400" b="0">
                <a:solidFill>
                  <a:srgbClr val="8A9085"/>
                </a:solidFill>
                <a:latin typeface="Calibri"/>
              </a:rPr>
              <a:t>Customers use the mobile app. Your team uses The Studio. Same backend, same brand language — different surface for different users.</a:t>
            </a:r>
          </a:p>
        </p:txBody>
      </p:sp>
      <p:sp>
        <p:nvSpPr>
          <p:cNvPr id="7" name="Rounded Rectangle 6"/>
          <p:cNvSpPr/>
          <p:nvPr/>
        </p:nvSpPr>
        <p:spPr>
          <a:xfrm>
            <a:off x="4114800" y="2743200"/>
            <a:ext cx="3931920" cy="7772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2788920"/>
            <a:ext cx="3566160" cy="365760"/>
          </a:xfrm>
          <a:prstGeom prst="rect">
            <a:avLst/>
          </a:prstGeom>
          <a:noFill/>
        </p:spPr>
        <p:txBody>
          <a:bodyPr wrap="square" lIns="0" rIns="0" tIns="0" bIns="0" anchor="t">
            <a:spAutoFit/>
          </a:bodyPr>
          <a:lstStyle/>
          <a:p>
            <a:pPr algn="l"/>
            <a:r>
              <a:rPr sz="1000" b="1">
                <a:solidFill>
                  <a:srgbClr val="3E4F3B"/>
                </a:solidFill>
                <a:latin typeface="Calibri"/>
              </a:rPr>
              <a:t>SHOPIFY</a:t>
            </a:r>
          </a:p>
        </p:txBody>
      </p:sp>
      <p:sp>
        <p:nvSpPr>
          <p:cNvPr id="9" name="TextBox 8"/>
          <p:cNvSpPr txBox="1"/>
          <p:nvPr/>
        </p:nvSpPr>
        <p:spPr>
          <a:xfrm>
            <a:off x="4297680" y="3108960"/>
            <a:ext cx="3566160" cy="365760"/>
          </a:xfrm>
          <a:prstGeom prst="rect">
            <a:avLst/>
          </a:prstGeom>
          <a:noFill/>
        </p:spPr>
        <p:txBody>
          <a:bodyPr wrap="square" lIns="0" rIns="0" tIns="0" bIns="0" anchor="t">
            <a:spAutoFit/>
          </a:bodyPr>
          <a:lstStyle/>
          <a:p>
            <a:pPr algn="l"/>
            <a:r>
              <a:rPr sz="1100" b="0">
                <a:solidFill>
                  <a:srgbClr val="8A9085"/>
                </a:solidFill>
                <a:latin typeface="Calibri"/>
              </a:rPr>
              <a:t>Catalog · orders · payments — unchanged</a:t>
            </a:r>
          </a:p>
        </p:txBody>
      </p:sp>
      <p:sp>
        <p:nvSpPr>
          <p:cNvPr id="10" name="Rounded Rectangle 9"/>
          <p:cNvSpPr/>
          <p:nvPr/>
        </p:nvSpPr>
        <p:spPr>
          <a:xfrm>
            <a:off x="548640" y="3840480"/>
            <a:ext cx="11064240" cy="640080"/>
          </a:xfrm>
          <a:prstGeom prst="roundRect">
            <a:avLst>
              <a:gd name="adj" fmla="val 12000"/>
            </a:avLst>
          </a:prstGeom>
          <a:solidFill>
            <a:srgbClr val="D8E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904487"/>
            <a:ext cx="10607040" cy="365760"/>
          </a:xfrm>
          <a:prstGeom prst="rect">
            <a:avLst/>
          </a:prstGeom>
          <a:noFill/>
        </p:spPr>
        <p:txBody>
          <a:bodyPr wrap="square" lIns="0" rIns="0" tIns="0" bIns="0" anchor="ctr">
            <a:spAutoFit/>
          </a:bodyPr>
          <a:lstStyle/>
          <a:p>
            <a:pPr algn="l"/>
            <a:r>
              <a:rPr sz="1100" b="1">
                <a:solidFill>
                  <a:srgbClr val="3E4F3B"/>
                </a:solidFill>
                <a:latin typeface="Calibri"/>
              </a:rPr>
              <a:t>SHARED API · Postgres · Auth · AI gateway · Citation engine · Refill ops</a:t>
            </a:r>
          </a:p>
        </p:txBody>
      </p:sp>
      <p:sp>
        <p:nvSpPr>
          <p:cNvPr id="12" name="Rounded Rectangle 11"/>
          <p:cNvSpPr/>
          <p:nvPr/>
        </p:nvSpPr>
        <p:spPr>
          <a:xfrm>
            <a:off x="548640" y="4754880"/>
            <a:ext cx="5440680" cy="14630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4754880"/>
            <a:ext cx="5440680" cy="36576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73168"/>
            <a:ext cx="4983480" cy="365760"/>
          </a:xfrm>
          <a:prstGeom prst="rect">
            <a:avLst/>
          </a:prstGeom>
          <a:noFill/>
        </p:spPr>
        <p:txBody>
          <a:bodyPr wrap="square" lIns="0" rIns="0" tIns="0" bIns="0" anchor="ctr">
            <a:spAutoFit/>
          </a:bodyPr>
          <a:lstStyle/>
          <a:p>
            <a:pPr algn="l"/>
            <a:r>
              <a:rPr sz="1000" b="1">
                <a:solidFill>
                  <a:srgbClr val="FFFFFF"/>
                </a:solidFill>
                <a:latin typeface="Calibri"/>
              </a:rPr>
              <a:t>MOBILE APP — IOS &amp; ANDROID</a:t>
            </a:r>
          </a:p>
        </p:txBody>
      </p:sp>
      <p:sp>
        <p:nvSpPr>
          <p:cNvPr id="15" name="TextBox 14"/>
          <p:cNvSpPr txBox="1"/>
          <p:nvPr/>
        </p:nvSpPr>
        <p:spPr>
          <a:xfrm>
            <a:off x="777240" y="5212080"/>
            <a:ext cx="4983480" cy="914400"/>
          </a:xfrm>
          <a:prstGeom prst="rect">
            <a:avLst/>
          </a:prstGeom>
          <a:noFill/>
        </p:spPr>
        <p:txBody>
          <a:bodyPr wrap="square" lIns="0" rIns="0" tIns="0" bIns="0" anchor="t">
            <a:spAutoFit/>
          </a:bodyPr>
          <a:lstStyle/>
          <a:p>
            <a:pPr algn="l"/>
            <a:r>
              <a:rPr sz="1100" b="0">
                <a:solidFill>
                  <a:srgbClr val="2C3A2E"/>
                </a:solidFill>
                <a:latin typeface="Calibri"/>
              </a:rPr>
              <a:t>Customer-facing · Routine · Facts · Match · Refill · Shop · Honest</a:t>
            </a:r>
          </a:p>
        </p:txBody>
      </p:sp>
      <p:sp>
        <p:nvSpPr>
          <p:cNvPr id="16" name="Rounded Rectangle 15"/>
          <p:cNvSpPr/>
          <p:nvPr/>
        </p:nvSpPr>
        <p:spPr>
          <a:xfrm>
            <a:off x="6172200" y="4754880"/>
            <a:ext cx="5440680" cy="14630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72200" y="4754880"/>
            <a:ext cx="5440680" cy="365760"/>
          </a:xfrm>
          <a:prstGeom prst="roundRect">
            <a:avLst>
              <a:gd name="adj" fmla="val 12000"/>
            </a:avLst>
          </a:prstGeom>
          <a:solidFill>
            <a:srgbClr val="2C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773168"/>
            <a:ext cx="4983480" cy="365760"/>
          </a:xfrm>
          <a:prstGeom prst="rect">
            <a:avLst/>
          </a:prstGeom>
          <a:noFill/>
        </p:spPr>
        <p:txBody>
          <a:bodyPr wrap="square" lIns="0" rIns="0" tIns="0" bIns="0" anchor="ctr">
            <a:spAutoFit/>
          </a:bodyPr>
          <a:lstStyle/>
          <a:p>
            <a:pPr algn="l"/>
            <a:r>
              <a:rPr sz="1000" b="1">
                <a:solidFill>
                  <a:srgbClr val="FFFFFF"/>
                </a:solidFill>
                <a:latin typeface="Calibri"/>
              </a:rPr>
              <a:t>THE STUDIO — WEB ADMIN PORTAL</a:t>
            </a:r>
          </a:p>
        </p:txBody>
      </p:sp>
      <p:sp>
        <p:nvSpPr>
          <p:cNvPr id="19" name="TextBox 18"/>
          <p:cNvSpPr txBox="1"/>
          <p:nvPr/>
        </p:nvSpPr>
        <p:spPr>
          <a:xfrm>
            <a:off x="6400800" y="5212080"/>
            <a:ext cx="4983480" cy="914400"/>
          </a:xfrm>
          <a:prstGeom prst="rect">
            <a:avLst/>
          </a:prstGeom>
          <a:noFill/>
        </p:spPr>
        <p:txBody>
          <a:bodyPr wrap="square" lIns="0" rIns="0" tIns="0" bIns="0" anchor="t">
            <a:spAutoFit/>
          </a:bodyPr>
          <a:lstStyle/>
          <a:p>
            <a:pPr algn="l"/>
            <a:r>
              <a:rPr sz="1100" b="0">
                <a:solidFill>
                  <a:srgbClr val="2C3A2E"/>
                </a:solidFill>
                <a:latin typeface="Calibri"/>
              </a:rPr>
              <a:t>Internal · Facts editor · Ingredient library · Compliance review · Refill ops · concierge · analytics</a:t>
            </a:r>
          </a:p>
        </p:txBody>
      </p:sp>
      <p:sp>
        <p:nvSpPr>
          <p:cNvPr id="20" name="TextBox 19"/>
          <p:cNvSpPr txBox="1"/>
          <p:nvPr/>
        </p:nvSpPr>
        <p:spPr>
          <a:xfrm>
            <a:off x="548640" y="6400800"/>
            <a:ext cx="10972800" cy="365760"/>
          </a:xfrm>
          <a:prstGeom prst="rect">
            <a:avLst/>
          </a:prstGeom>
          <a:noFill/>
        </p:spPr>
        <p:txBody>
          <a:bodyPr wrap="square" lIns="0" rIns="0" tIns="0" bIns="0" anchor="t">
            <a:spAutoFit/>
          </a:bodyPr>
          <a:lstStyle/>
          <a:p>
            <a:pPr algn="l"/>
            <a:r>
              <a:rPr sz="1000" b="1">
                <a:solidFill>
                  <a:srgbClr val="3E4F3B"/>
                </a:solidFill>
                <a:latin typeface="Calibri"/>
              </a:rPr>
              <a:t>BUILT FOR YOUR TEAM   —   editors, sustainability ops, concierge, and brand-side compliance review. Bilingual EN/ES.</a:t>
            </a:r>
          </a:p>
        </p:txBody>
      </p:sp>
      <p:sp>
        <p:nvSpPr>
          <p:cNvPr id="21" name="TextBox 20"/>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22" name="TextBox 21"/>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HOW WE'LL DELIVER</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Roadmap — first nine months.</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743200"/>
            <a:ext cx="11064240" cy="25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28800" y="2651760"/>
            <a:ext cx="182880" cy="18288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3063240"/>
            <a:ext cx="2743200" cy="32918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200400"/>
            <a:ext cx="2194560" cy="365760"/>
          </a:xfrm>
          <a:prstGeom prst="rect">
            <a:avLst/>
          </a:prstGeom>
          <a:noFill/>
        </p:spPr>
        <p:txBody>
          <a:bodyPr wrap="square" lIns="0" rIns="0" tIns="0" bIns="0" anchor="t">
            <a:spAutoFit/>
          </a:bodyPr>
          <a:lstStyle/>
          <a:p>
            <a:pPr algn="l"/>
            <a:r>
              <a:rPr sz="1000" b="1">
                <a:solidFill>
                  <a:srgbClr val="3E4F3B"/>
                </a:solidFill>
                <a:latin typeface="Calibri"/>
              </a:rPr>
              <a:t>Weeks 1–2</a:t>
            </a:r>
          </a:p>
        </p:txBody>
      </p:sp>
      <p:sp>
        <p:nvSpPr>
          <p:cNvPr id="10" name="TextBox 9"/>
          <p:cNvSpPr txBox="1"/>
          <p:nvPr/>
        </p:nvSpPr>
        <p:spPr>
          <a:xfrm>
            <a:off x="822960" y="3566160"/>
            <a:ext cx="2194560" cy="548640"/>
          </a:xfrm>
          <a:prstGeom prst="rect">
            <a:avLst/>
          </a:prstGeom>
          <a:noFill/>
        </p:spPr>
        <p:txBody>
          <a:bodyPr wrap="square" lIns="0" rIns="0" tIns="0" bIns="0" anchor="t">
            <a:spAutoFit/>
          </a:bodyPr>
          <a:lstStyle/>
          <a:p>
            <a:pPr algn="l"/>
            <a:r>
              <a:rPr sz="2200" b="0">
                <a:solidFill>
                  <a:srgbClr val="2C3A2E"/>
                </a:solidFill>
                <a:latin typeface="Georgia"/>
              </a:rPr>
              <a:t>Discovery</a:t>
            </a:r>
          </a:p>
        </p:txBody>
      </p:sp>
      <p:sp>
        <p:nvSpPr>
          <p:cNvPr id="11" name="TextBox 10"/>
          <p:cNvSpPr txBox="1"/>
          <p:nvPr/>
        </p:nvSpPr>
        <p:spPr>
          <a:xfrm>
            <a:off x="822960" y="4389120"/>
            <a:ext cx="2194560" cy="1828800"/>
          </a:xfrm>
          <a:prstGeom prst="rect">
            <a:avLst/>
          </a:prstGeom>
          <a:noFill/>
        </p:spPr>
        <p:txBody>
          <a:bodyPr wrap="square" lIns="0" rIns="0" tIns="0" bIns="0" anchor="t">
            <a:spAutoFit/>
          </a:bodyPr>
          <a:lstStyle/>
          <a:p>
            <a:pPr algn="l"/>
            <a:r>
              <a:rPr sz="1100" b="0">
                <a:solidFill>
                  <a:srgbClr val="8A9085"/>
                </a:solidFill>
                <a:latin typeface="Calibri"/>
              </a:rPr>
              <a:t>Customer interviews (DTC subscriber, Target buyer, Whole Foods buyer, new buyer, competitor user). Audit Sustainability Facts data + LCA citations. Brand-side compliance alignment. Lock Phase 1 scope.</a:t>
            </a:r>
          </a:p>
        </p:txBody>
      </p:sp>
      <p:sp>
        <p:nvSpPr>
          <p:cNvPr id="12" name="Rounded Rectangle 11"/>
          <p:cNvSpPr/>
          <p:nvPr/>
        </p:nvSpPr>
        <p:spPr>
          <a:xfrm>
            <a:off x="4617720" y="2651760"/>
            <a:ext cx="182880" cy="18288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3063240"/>
            <a:ext cx="2743200" cy="32918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3200400"/>
            <a:ext cx="2194560" cy="365760"/>
          </a:xfrm>
          <a:prstGeom prst="rect">
            <a:avLst/>
          </a:prstGeom>
          <a:noFill/>
        </p:spPr>
        <p:txBody>
          <a:bodyPr wrap="square" lIns="0" rIns="0" tIns="0" bIns="0" anchor="t">
            <a:spAutoFit/>
          </a:bodyPr>
          <a:lstStyle/>
          <a:p>
            <a:pPr algn="l"/>
            <a:r>
              <a:rPr sz="1000" b="1">
                <a:solidFill>
                  <a:srgbClr val="3E4F3B"/>
                </a:solidFill>
                <a:latin typeface="Calibri"/>
              </a:rPr>
              <a:t>Weeks 3–18</a:t>
            </a:r>
          </a:p>
        </p:txBody>
      </p:sp>
      <p:sp>
        <p:nvSpPr>
          <p:cNvPr id="15" name="TextBox 14"/>
          <p:cNvSpPr txBox="1"/>
          <p:nvPr/>
        </p:nvSpPr>
        <p:spPr>
          <a:xfrm>
            <a:off x="3611880" y="3566160"/>
            <a:ext cx="2194560" cy="548640"/>
          </a:xfrm>
          <a:prstGeom prst="rect">
            <a:avLst/>
          </a:prstGeom>
          <a:noFill/>
        </p:spPr>
        <p:txBody>
          <a:bodyPr wrap="square" lIns="0" rIns="0" tIns="0" bIns="0" anchor="t">
            <a:spAutoFit/>
          </a:bodyPr>
          <a:lstStyle/>
          <a:p>
            <a:pPr algn="l"/>
            <a:r>
              <a:rPr sz="2200" b="0">
                <a:solidFill>
                  <a:srgbClr val="2C3A2E"/>
                </a:solidFill>
                <a:latin typeface="Georgia"/>
              </a:rPr>
              <a:t>Phase 1 build</a:t>
            </a:r>
          </a:p>
        </p:txBody>
      </p:sp>
      <p:sp>
        <p:nvSpPr>
          <p:cNvPr id="16" name="TextBox 15"/>
          <p:cNvSpPr txBox="1"/>
          <p:nvPr/>
        </p:nvSpPr>
        <p:spPr>
          <a:xfrm>
            <a:off x="3611880" y="4389120"/>
            <a:ext cx="2194560" cy="1828800"/>
          </a:xfrm>
          <a:prstGeom prst="rect">
            <a:avLst/>
          </a:prstGeom>
          <a:noFill/>
        </p:spPr>
        <p:txBody>
          <a:bodyPr wrap="square" lIns="0" rIns="0" tIns="0" bIns="0" anchor="t">
            <a:spAutoFit/>
          </a:bodyPr>
          <a:lstStyle/>
          <a:p>
            <a:pPr algn="l"/>
            <a:r>
              <a:rPr sz="1100" b="0">
                <a:solidFill>
                  <a:srgbClr val="8A9085"/>
                </a:solidFill>
                <a:latin typeface="Calibri"/>
              </a:rPr>
              <a:t>Routine, Facts, Match, Refill, Shop, Honest, Tier 1 AI with compliance guardrails, The Studio. EN/ES at launch.</a:t>
            </a:r>
          </a:p>
        </p:txBody>
      </p:sp>
      <p:sp>
        <p:nvSpPr>
          <p:cNvPr id="17" name="Rounded Rectangle 16"/>
          <p:cNvSpPr/>
          <p:nvPr/>
        </p:nvSpPr>
        <p:spPr>
          <a:xfrm>
            <a:off x="7406640" y="2651760"/>
            <a:ext cx="182880" cy="18288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3063240"/>
            <a:ext cx="2743200" cy="32918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200400"/>
            <a:ext cx="2194560" cy="365760"/>
          </a:xfrm>
          <a:prstGeom prst="rect">
            <a:avLst/>
          </a:prstGeom>
          <a:noFill/>
        </p:spPr>
        <p:txBody>
          <a:bodyPr wrap="square" lIns="0" rIns="0" tIns="0" bIns="0" anchor="t">
            <a:spAutoFit/>
          </a:bodyPr>
          <a:lstStyle/>
          <a:p>
            <a:pPr algn="l"/>
            <a:r>
              <a:rPr sz="1000" b="1">
                <a:solidFill>
                  <a:srgbClr val="3E4F3B"/>
                </a:solidFill>
                <a:latin typeface="Calibri"/>
              </a:rPr>
              <a:t>Weeks 19–32</a:t>
            </a:r>
          </a:p>
        </p:txBody>
      </p:sp>
      <p:sp>
        <p:nvSpPr>
          <p:cNvPr id="20" name="TextBox 19"/>
          <p:cNvSpPr txBox="1"/>
          <p:nvPr/>
        </p:nvSpPr>
        <p:spPr>
          <a:xfrm>
            <a:off x="6400800" y="3566160"/>
            <a:ext cx="2194560" cy="548640"/>
          </a:xfrm>
          <a:prstGeom prst="rect">
            <a:avLst/>
          </a:prstGeom>
          <a:noFill/>
        </p:spPr>
        <p:txBody>
          <a:bodyPr wrap="square" lIns="0" rIns="0" tIns="0" bIns="0" anchor="t">
            <a:spAutoFit/>
          </a:bodyPr>
          <a:lstStyle/>
          <a:p>
            <a:pPr algn="l"/>
            <a:r>
              <a:rPr sz="2200" b="0">
                <a:solidFill>
                  <a:srgbClr val="2C3A2E"/>
                </a:solidFill>
                <a:latin typeface="Georgia"/>
              </a:rPr>
              <a:t>Phase 2 build</a:t>
            </a:r>
          </a:p>
        </p:txBody>
      </p:sp>
      <p:sp>
        <p:nvSpPr>
          <p:cNvPr id="21" name="TextBox 20"/>
          <p:cNvSpPr txBox="1"/>
          <p:nvPr/>
        </p:nvSpPr>
        <p:spPr>
          <a:xfrm>
            <a:off x="6400800" y="4389120"/>
            <a:ext cx="2194560" cy="1828800"/>
          </a:xfrm>
          <a:prstGeom prst="rect">
            <a:avLst/>
          </a:prstGeom>
          <a:noFill/>
        </p:spPr>
        <p:txBody>
          <a:bodyPr wrap="square" lIns="0" rIns="0" tIns="0" bIns="0" anchor="t">
            <a:spAutoFit/>
          </a:bodyPr>
          <a:lstStyle/>
          <a:p>
            <a:pPr algn="l"/>
            <a:r>
              <a:rPr sz="1100" b="0">
                <a:solidFill>
                  <a:srgbClr val="8A9085"/>
                </a:solidFill>
                <a:latin typeface="Calibri"/>
              </a:rPr>
              <a:t>AR try-on, photo skin analysis (cautious), esthetician B2B portal, EU multi-region expansion.</a:t>
            </a:r>
          </a:p>
        </p:txBody>
      </p:sp>
      <p:sp>
        <p:nvSpPr>
          <p:cNvPr id="22" name="Rounded Rectangle 21"/>
          <p:cNvSpPr/>
          <p:nvPr/>
        </p:nvSpPr>
        <p:spPr>
          <a:xfrm>
            <a:off x="10195560" y="2651760"/>
            <a:ext cx="182880" cy="182880"/>
          </a:xfrm>
          <a:prstGeom prst="roundRect">
            <a:avLst>
              <a:gd name="adj" fmla="val 12000"/>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915400" y="3063240"/>
            <a:ext cx="2743200" cy="329184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9720" y="3200400"/>
            <a:ext cx="2194560" cy="365760"/>
          </a:xfrm>
          <a:prstGeom prst="rect">
            <a:avLst/>
          </a:prstGeom>
          <a:noFill/>
        </p:spPr>
        <p:txBody>
          <a:bodyPr wrap="square" lIns="0" rIns="0" tIns="0" bIns="0" anchor="t">
            <a:spAutoFit/>
          </a:bodyPr>
          <a:lstStyle/>
          <a:p>
            <a:pPr algn="l"/>
            <a:r>
              <a:rPr sz="1000" b="1">
                <a:solidFill>
                  <a:srgbClr val="3E4F3B"/>
                </a:solidFill>
                <a:latin typeface="Calibri"/>
              </a:rPr>
              <a:t>Weeks 33–40+</a:t>
            </a:r>
          </a:p>
        </p:txBody>
      </p:sp>
      <p:sp>
        <p:nvSpPr>
          <p:cNvPr id="25" name="TextBox 24"/>
          <p:cNvSpPr txBox="1"/>
          <p:nvPr/>
        </p:nvSpPr>
        <p:spPr>
          <a:xfrm>
            <a:off x="9189720" y="3566160"/>
            <a:ext cx="2194560" cy="548640"/>
          </a:xfrm>
          <a:prstGeom prst="rect">
            <a:avLst/>
          </a:prstGeom>
          <a:noFill/>
        </p:spPr>
        <p:txBody>
          <a:bodyPr wrap="square" lIns="0" rIns="0" tIns="0" bIns="0" anchor="t">
            <a:spAutoFit/>
          </a:bodyPr>
          <a:lstStyle/>
          <a:p>
            <a:pPr algn="l"/>
            <a:r>
              <a:rPr sz="2200" b="0">
                <a:solidFill>
                  <a:srgbClr val="2C3A2E"/>
                </a:solidFill>
                <a:latin typeface="Georgia"/>
              </a:rPr>
              <a:t>Phase 3 build</a:t>
            </a:r>
          </a:p>
        </p:txBody>
      </p:sp>
      <p:sp>
        <p:nvSpPr>
          <p:cNvPr id="26" name="TextBox 25"/>
          <p:cNvSpPr txBox="1"/>
          <p:nvPr/>
        </p:nvSpPr>
        <p:spPr>
          <a:xfrm>
            <a:off x="9189720" y="4389120"/>
            <a:ext cx="2194560" cy="1828800"/>
          </a:xfrm>
          <a:prstGeom prst="rect">
            <a:avLst/>
          </a:prstGeom>
          <a:noFill/>
        </p:spPr>
        <p:txBody>
          <a:bodyPr wrap="square" lIns="0" rIns="0" tIns="0" bIns="0" anchor="t">
            <a:spAutoFit/>
          </a:bodyPr>
          <a:lstStyle/>
          <a:p>
            <a:pPr algn="l"/>
            <a:r>
              <a:rPr sz="1100" b="0">
                <a:solidFill>
                  <a:srgbClr val="8A9085"/>
                </a:solidFill>
                <a:latin typeface="Calibri"/>
              </a:rPr>
              <a:t>Editorial, VOICES films, content scaling, demand sensing, counterfeit detection, CSRD-ready export.</a:t>
            </a:r>
          </a:p>
        </p:txBody>
      </p:sp>
      <p:sp>
        <p:nvSpPr>
          <p:cNvPr id="27" name="TextBox 26"/>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28" name="TextBox 27"/>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HOW WE'LL KNOW IT'S WORKING</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The metrics that matter.</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560320"/>
            <a:ext cx="36576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3108960" cy="365760"/>
          </a:xfrm>
          <a:prstGeom prst="rect">
            <a:avLst/>
          </a:prstGeom>
          <a:noFill/>
        </p:spPr>
        <p:txBody>
          <a:bodyPr wrap="square" lIns="0" rIns="0" tIns="0" bIns="0" anchor="t">
            <a:spAutoFit/>
          </a:bodyPr>
          <a:lstStyle/>
          <a:p>
            <a:pPr algn="l"/>
            <a:r>
              <a:rPr sz="1400" b="1">
                <a:solidFill>
                  <a:srgbClr val="3E4F3B"/>
                </a:solidFill>
                <a:latin typeface="Calibri"/>
              </a:rPr>
              <a:t>Routine completion rate</a:t>
            </a:r>
          </a:p>
        </p:txBody>
      </p:sp>
      <p:sp>
        <p:nvSpPr>
          <p:cNvPr id="8" name="TextBox 7"/>
          <p:cNvSpPr txBox="1"/>
          <p:nvPr/>
        </p:nvSpPr>
        <p:spPr>
          <a:xfrm>
            <a:off x="822960" y="3154680"/>
            <a:ext cx="3108960" cy="822960"/>
          </a:xfrm>
          <a:prstGeom prst="rect">
            <a:avLst/>
          </a:prstGeom>
          <a:noFill/>
        </p:spPr>
        <p:txBody>
          <a:bodyPr wrap="square" lIns="0" rIns="0" tIns="0" bIns="0" anchor="t">
            <a:spAutoFit/>
          </a:bodyPr>
          <a:lstStyle/>
          <a:p>
            <a:pPr algn="l"/>
            <a:r>
              <a:rPr sz="1100" b="0">
                <a:solidFill>
                  <a:srgbClr val="8A9085"/>
                </a:solidFill>
                <a:latin typeface="Calibri"/>
              </a:rPr>
              <a:t>% of users completing both AM and PM ≥3x/week, month 3</a:t>
            </a:r>
          </a:p>
        </p:txBody>
      </p:sp>
      <p:sp>
        <p:nvSpPr>
          <p:cNvPr id="9" name="TextBox 8"/>
          <p:cNvSpPr txBox="1"/>
          <p:nvPr/>
        </p:nvSpPr>
        <p:spPr>
          <a:xfrm>
            <a:off x="822960" y="3931920"/>
            <a:ext cx="3108960" cy="365760"/>
          </a:xfrm>
          <a:prstGeom prst="rect">
            <a:avLst/>
          </a:prstGeom>
          <a:noFill/>
        </p:spPr>
        <p:txBody>
          <a:bodyPr wrap="square" lIns="0" rIns="0" tIns="0" bIns="0" anchor="t">
            <a:spAutoFit/>
          </a:bodyPr>
          <a:lstStyle/>
          <a:p>
            <a:pPr algn="l"/>
            <a:r>
              <a:rPr sz="1400" b="0">
                <a:solidFill>
                  <a:srgbClr val="2C3A2E"/>
                </a:solidFill>
                <a:latin typeface="Georgia"/>
              </a:rPr>
              <a:t>Target ≥ 50%</a:t>
            </a:r>
          </a:p>
        </p:txBody>
      </p:sp>
      <p:sp>
        <p:nvSpPr>
          <p:cNvPr id="10" name="Rounded Rectangle 9"/>
          <p:cNvSpPr/>
          <p:nvPr/>
        </p:nvSpPr>
        <p:spPr>
          <a:xfrm>
            <a:off x="4297680" y="2560320"/>
            <a:ext cx="36576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743200"/>
            <a:ext cx="3108960" cy="365760"/>
          </a:xfrm>
          <a:prstGeom prst="rect">
            <a:avLst/>
          </a:prstGeom>
          <a:noFill/>
        </p:spPr>
        <p:txBody>
          <a:bodyPr wrap="square" lIns="0" rIns="0" tIns="0" bIns="0" anchor="t">
            <a:spAutoFit/>
          </a:bodyPr>
          <a:lstStyle/>
          <a:p>
            <a:pPr algn="l"/>
            <a:r>
              <a:rPr sz="1400" b="1">
                <a:solidFill>
                  <a:srgbClr val="3E4F3B"/>
                </a:solidFill>
                <a:latin typeface="Calibri"/>
              </a:rPr>
              <a:t>Match → routine adoption</a:t>
            </a:r>
          </a:p>
        </p:txBody>
      </p:sp>
      <p:sp>
        <p:nvSpPr>
          <p:cNvPr id="12" name="TextBox 11"/>
          <p:cNvSpPr txBox="1"/>
          <p:nvPr/>
        </p:nvSpPr>
        <p:spPr>
          <a:xfrm>
            <a:off x="4572000" y="3154680"/>
            <a:ext cx="3108960" cy="822960"/>
          </a:xfrm>
          <a:prstGeom prst="rect">
            <a:avLst/>
          </a:prstGeom>
          <a:noFill/>
        </p:spPr>
        <p:txBody>
          <a:bodyPr wrap="square" lIns="0" rIns="0" tIns="0" bIns="0" anchor="t">
            <a:spAutoFit/>
          </a:bodyPr>
          <a:lstStyle/>
          <a:p>
            <a:pPr algn="l"/>
            <a:r>
              <a:rPr sz="1100" b="0">
                <a:solidFill>
                  <a:srgbClr val="8A9085"/>
                </a:solidFill>
                <a:latin typeface="Calibri"/>
              </a:rPr>
              <a:t>% of users with a saved Routine, month 3</a:t>
            </a:r>
          </a:p>
        </p:txBody>
      </p:sp>
      <p:sp>
        <p:nvSpPr>
          <p:cNvPr id="13" name="TextBox 12"/>
          <p:cNvSpPr txBox="1"/>
          <p:nvPr/>
        </p:nvSpPr>
        <p:spPr>
          <a:xfrm>
            <a:off x="4572000" y="3931920"/>
            <a:ext cx="3108960" cy="365760"/>
          </a:xfrm>
          <a:prstGeom prst="rect">
            <a:avLst/>
          </a:prstGeom>
          <a:noFill/>
        </p:spPr>
        <p:txBody>
          <a:bodyPr wrap="square" lIns="0" rIns="0" tIns="0" bIns="0" anchor="t">
            <a:spAutoFit/>
          </a:bodyPr>
          <a:lstStyle/>
          <a:p>
            <a:pPr algn="l"/>
            <a:r>
              <a:rPr sz="1400" b="0">
                <a:solidFill>
                  <a:srgbClr val="2C3A2E"/>
                </a:solidFill>
                <a:latin typeface="Georgia"/>
              </a:rPr>
              <a:t>Target ≥ 65%</a:t>
            </a:r>
          </a:p>
        </p:txBody>
      </p:sp>
      <p:sp>
        <p:nvSpPr>
          <p:cNvPr id="14" name="Rounded Rectangle 13"/>
          <p:cNvSpPr/>
          <p:nvPr/>
        </p:nvSpPr>
        <p:spPr>
          <a:xfrm>
            <a:off x="8046720" y="2560320"/>
            <a:ext cx="36576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743200"/>
            <a:ext cx="3108960" cy="365760"/>
          </a:xfrm>
          <a:prstGeom prst="rect">
            <a:avLst/>
          </a:prstGeom>
          <a:noFill/>
        </p:spPr>
        <p:txBody>
          <a:bodyPr wrap="square" lIns="0" rIns="0" tIns="0" bIns="0" anchor="t">
            <a:spAutoFit/>
          </a:bodyPr>
          <a:lstStyle/>
          <a:p>
            <a:pPr algn="l"/>
            <a:r>
              <a:rPr sz="1400" b="1">
                <a:solidFill>
                  <a:srgbClr val="3E4F3B"/>
                </a:solidFill>
                <a:latin typeface="Calibri"/>
              </a:rPr>
              <a:t>Refill churn</a:t>
            </a:r>
          </a:p>
        </p:txBody>
      </p:sp>
      <p:sp>
        <p:nvSpPr>
          <p:cNvPr id="16" name="TextBox 15"/>
          <p:cNvSpPr txBox="1"/>
          <p:nvPr/>
        </p:nvSpPr>
        <p:spPr>
          <a:xfrm>
            <a:off x="8321040" y="3154680"/>
            <a:ext cx="3108960" cy="822960"/>
          </a:xfrm>
          <a:prstGeom prst="rect">
            <a:avLst/>
          </a:prstGeom>
          <a:noFill/>
        </p:spPr>
        <p:txBody>
          <a:bodyPr wrap="square" lIns="0" rIns="0" tIns="0" bIns="0" anchor="t">
            <a:spAutoFit/>
          </a:bodyPr>
          <a:lstStyle/>
          <a:p>
            <a:pPr algn="l"/>
            <a:r>
              <a:rPr sz="1100" b="0">
                <a:solidFill>
                  <a:srgbClr val="8A9085"/>
                </a:solidFill>
                <a:latin typeface="Calibri"/>
              </a:rPr>
              <a:t>% of subs churning quarterly</a:t>
            </a:r>
          </a:p>
        </p:txBody>
      </p:sp>
      <p:sp>
        <p:nvSpPr>
          <p:cNvPr id="17" name="TextBox 16"/>
          <p:cNvSpPr txBox="1"/>
          <p:nvPr/>
        </p:nvSpPr>
        <p:spPr>
          <a:xfrm>
            <a:off x="8321040" y="3931920"/>
            <a:ext cx="3108960" cy="365760"/>
          </a:xfrm>
          <a:prstGeom prst="rect">
            <a:avLst/>
          </a:prstGeom>
          <a:noFill/>
        </p:spPr>
        <p:txBody>
          <a:bodyPr wrap="square" lIns="0" rIns="0" tIns="0" bIns="0" anchor="t">
            <a:spAutoFit/>
          </a:bodyPr>
          <a:lstStyle/>
          <a:p>
            <a:pPr algn="l"/>
            <a:r>
              <a:rPr sz="1400" b="0">
                <a:solidFill>
                  <a:srgbClr val="2C3A2E"/>
                </a:solidFill>
                <a:latin typeface="Georgia"/>
              </a:rPr>
              <a:t>Target −30% vs current baseline</a:t>
            </a:r>
          </a:p>
        </p:txBody>
      </p:sp>
      <p:sp>
        <p:nvSpPr>
          <p:cNvPr id="18" name="Rounded Rectangle 17"/>
          <p:cNvSpPr/>
          <p:nvPr/>
        </p:nvSpPr>
        <p:spPr>
          <a:xfrm>
            <a:off x="548640" y="4480560"/>
            <a:ext cx="36576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663440"/>
            <a:ext cx="3108960" cy="365760"/>
          </a:xfrm>
          <a:prstGeom prst="rect">
            <a:avLst/>
          </a:prstGeom>
          <a:noFill/>
        </p:spPr>
        <p:txBody>
          <a:bodyPr wrap="square" lIns="0" rIns="0" tIns="0" bIns="0" anchor="t">
            <a:spAutoFit/>
          </a:bodyPr>
          <a:lstStyle/>
          <a:p>
            <a:pPr algn="l"/>
            <a:r>
              <a:rPr sz="1400" b="1">
                <a:solidFill>
                  <a:srgbClr val="3E4F3B"/>
                </a:solidFill>
                <a:latin typeface="Calibri"/>
              </a:rPr>
              <a:t>Pause-to-cancel ratio</a:t>
            </a:r>
          </a:p>
        </p:txBody>
      </p:sp>
      <p:sp>
        <p:nvSpPr>
          <p:cNvPr id="20" name="TextBox 19"/>
          <p:cNvSpPr txBox="1"/>
          <p:nvPr/>
        </p:nvSpPr>
        <p:spPr>
          <a:xfrm>
            <a:off x="822960" y="5074920"/>
            <a:ext cx="3108960" cy="822960"/>
          </a:xfrm>
          <a:prstGeom prst="rect">
            <a:avLst/>
          </a:prstGeom>
          <a:noFill/>
        </p:spPr>
        <p:txBody>
          <a:bodyPr wrap="square" lIns="0" rIns="0" tIns="0" bIns="0" anchor="t">
            <a:spAutoFit/>
          </a:bodyPr>
          <a:lstStyle/>
          <a:p>
            <a:pPr algn="l"/>
            <a:r>
              <a:rPr sz="1100" b="0">
                <a:solidFill>
                  <a:srgbClr val="8A9085"/>
                </a:solidFill>
                <a:latin typeface="Calibri"/>
              </a:rPr>
              <a:t>% of would-be cancels who pause instead</a:t>
            </a:r>
          </a:p>
        </p:txBody>
      </p:sp>
      <p:sp>
        <p:nvSpPr>
          <p:cNvPr id="21" name="TextBox 20"/>
          <p:cNvSpPr txBox="1"/>
          <p:nvPr/>
        </p:nvSpPr>
        <p:spPr>
          <a:xfrm>
            <a:off x="822960" y="5852160"/>
            <a:ext cx="3108960" cy="365760"/>
          </a:xfrm>
          <a:prstGeom prst="rect">
            <a:avLst/>
          </a:prstGeom>
          <a:noFill/>
        </p:spPr>
        <p:txBody>
          <a:bodyPr wrap="square" lIns="0" rIns="0" tIns="0" bIns="0" anchor="t">
            <a:spAutoFit/>
          </a:bodyPr>
          <a:lstStyle/>
          <a:p>
            <a:pPr algn="l"/>
            <a:r>
              <a:rPr sz="1400" b="0">
                <a:solidFill>
                  <a:srgbClr val="2C3A2E"/>
                </a:solidFill>
                <a:latin typeface="Georgia"/>
              </a:rPr>
              <a:t>Target ≥ 60%</a:t>
            </a:r>
          </a:p>
        </p:txBody>
      </p:sp>
      <p:sp>
        <p:nvSpPr>
          <p:cNvPr id="22" name="Rounded Rectangle 21"/>
          <p:cNvSpPr/>
          <p:nvPr/>
        </p:nvSpPr>
        <p:spPr>
          <a:xfrm>
            <a:off x="4297680" y="4480560"/>
            <a:ext cx="36576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4663440"/>
            <a:ext cx="3108960" cy="365760"/>
          </a:xfrm>
          <a:prstGeom prst="rect">
            <a:avLst/>
          </a:prstGeom>
          <a:noFill/>
        </p:spPr>
        <p:txBody>
          <a:bodyPr wrap="square" lIns="0" rIns="0" tIns="0" bIns="0" anchor="t">
            <a:spAutoFit/>
          </a:bodyPr>
          <a:lstStyle/>
          <a:p>
            <a:pPr algn="l"/>
            <a:r>
              <a:rPr sz="1400" b="1">
                <a:solidFill>
                  <a:srgbClr val="3E4F3B"/>
                </a:solidFill>
                <a:latin typeface="Calibri"/>
              </a:rPr>
              <a:t>Studio chat completion</a:t>
            </a:r>
          </a:p>
        </p:txBody>
      </p:sp>
      <p:sp>
        <p:nvSpPr>
          <p:cNvPr id="24" name="TextBox 23"/>
          <p:cNvSpPr txBox="1"/>
          <p:nvPr/>
        </p:nvSpPr>
        <p:spPr>
          <a:xfrm>
            <a:off x="4572000" y="5074920"/>
            <a:ext cx="3108960" cy="822960"/>
          </a:xfrm>
          <a:prstGeom prst="rect">
            <a:avLst/>
          </a:prstGeom>
          <a:noFill/>
        </p:spPr>
        <p:txBody>
          <a:bodyPr wrap="square" lIns="0" rIns="0" tIns="0" bIns="0" anchor="t">
            <a:spAutoFit/>
          </a:bodyPr>
          <a:lstStyle/>
          <a:p>
            <a:pPr algn="l"/>
            <a:r>
              <a:rPr sz="1100" b="0">
                <a:solidFill>
                  <a:srgbClr val="8A9085"/>
                </a:solidFill>
                <a:latin typeface="Calibri"/>
              </a:rPr>
              <a:t>% of chats resolved without escalation</a:t>
            </a:r>
          </a:p>
        </p:txBody>
      </p:sp>
      <p:sp>
        <p:nvSpPr>
          <p:cNvPr id="25" name="TextBox 24"/>
          <p:cNvSpPr txBox="1"/>
          <p:nvPr/>
        </p:nvSpPr>
        <p:spPr>
          <a:xfrm>
            <a:off x="4572000" y="5852160"/>
            <a:ext cx="3108960" cy="365760"/>
          </a:xfrm>
          <a:prstGeom prst="rect">
            <a:avLst/>
          </a:prstGeom>
          <a:noFill/>
        </p:spPr>
        <p:txBody>
          <a:bodyPr wrap="square" lIns="0" rIns="0" tIns="0" bIns="0" anchor="t">
            <a:spAutoFit/>
          </a:bodyPr>
          <a:lstStyle/>
          <a:p>
            <a:pPr algn="l"/>
            <a:r>
              <a:rPr sz="1400" b="0">
                <a:solidFill>
                  <a:srgbClr val="2C3A2E"/>
                </a:solidFill>
                <a:latin typeface="Georgia"/>
              </a:rPr>
              <a:t>Target ≥ 75%</a:t>
            </a:r>
          </a:p>
        </p:txBody>
      </p:sp>
      <p:sp>
        <p:nvSpPr>
          <p:cNvPr id="26" name="Rounded Rectangle 25"/>
          <p:cNvSpPr/>
          <p:nvPr/>
        </p:nvSpPr>
        <p:spPr>
          <a:xfrm>
            <a:off x="8046720" y="4480560"/>
            <a:ext cx="36576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4663440"/>
            <a:ext cx="3108960" cy="365760"/>
          </a:xfrm>
          <a:prstGeom prst="rect">
            <a:avLst/>
          </a:prstGeom>
          <a:noFill/>
        </p:spPr>
        <p:txBody>
          <a:bodyPr wrap="square" lIns="0" rIns="0" tIns="0" bIns="0" anchor="t">
            <a:spAutoFit/>
          </a:bodyPr>
          <a:lstStyle/>
          <a:p>
            <a:pPr algn="l"/>
            <a:r>
              <a:rPr sz="1400" b="1">
                <a:solidFill>
                  <a:srgbClr val="3E4F3B"/>
                </a:solidFill>
                <a:latin typeface="Calibri"/>
              </a:rPr>
              <a:t>Compliance flags caught pre-publish</a:t>
            </a:r>
          </a:p>
        </p:txBody>
      </p:sp>
      <p:sp>
        <p:nvSpPr>
          <p:cNvPr id="28" name="TextBox 27"/>
          <p:cNvSpPr txBox="1"/>
          <p:nvPr/>
        </p:nvSpPr>
        <p:spPr>
          <a:xfrm>
            <a:off x="8321040" y="5074920"/>
            <a:ext cx="3108960" cy="822960"/>
          </a:xfrm>
          <a:prstGeom prst="rect">
            <a:avLst/>
          </a:prstGeom>
          <a:noFill/>
        </p:spPr>
        <p:txBody>
          <a:bodyPr wrap="square" lIns="0" rIns="0" tIns="0" bIns="0" anchor="t">
            <a:spAutoFit/>
          </a:bodyPr>
          <a:lstStyle/>
          <a:p>
            <a:pPr algn="l"/>
            <a:r>
              <a:rPr sz="1100" b="0">
                <a:solidFill>
                  <a:srgbClr val="8A9085"/>
                </a:solidFill>
                <a:latin typeface="Calibri"/>
              </a:rPr>
              <a:t>% of cosmetic-rule issues caught in Studio review</a:t>
            </a:r>
          </a:p>
        </p:txBody>
      </p:sp>
      <p:sp>
        <p:nvSpPr>
          <p:cNvPr id="29" name="TextBox 28"/>
          <p:cNvSpPr txBox="1"/>
          <p:nvPr/>
        </p:nvSpPr>
        <p:spPr>
          <a:xfrm>
            <a:off x="8321040" y="5852160"/>
            <a:ext cx="3108960" cy="365760"/>
          </a:xfrm>
          <a:prstGeom prst="rect">
            <a:avLst/>
          </a:prstGeom>
          <a:noFill/>
        </p:spPr>
        <p:txBody>
          <a:bodyPr wrap="square" lIns="0" rIns="0" tIns="0" bIns="0" anchor="t">
            <a:spAutoFit/>
          </a:bodyPr>
          <a:lstStyle/>
          <a:p>
            <a:pPr algn="l"/>
            <a:r>
              <a:rPr sz="1400" b="0">
                <a:solidFill>
                  <a:srgbClr val="2C3A2E"/>
                </a:solidFill>
                <a:latin typeface="Georgia"/>
              </a:rPr>
              <a:t>Target 100%</a:t>
            </a:r>
          </a:p>
        </p:txBody>
      </p:sp>
      <p:sp>
        <p:nvSpPr>
          <p:cNvPr id="30" name="TextBox 29"/>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31" name="TextBox 30"/>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HOW IT WILL FEEL</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Design principles.</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468880"/>
            <a:ext cx="5486400" cy="128016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651760"/>
            <a:ext cx="4937760" cy="365760"/>
          </a:xfrm>
          <a:prstGeom prst="rect">
            <a:avLst/>
          </a:prstGeom>
          <a:noFill/>
        </p:spPr>
        <p:txBody>
          <a:bodyPr wrap="square" lIns="0" rIns="0" tIns="0" bIns="0" anchor="t">
            <a:spAutoFit/>
          </a:bodyPr>
          <a:lstStyle/>
          <a:p>
            <a:pPr algn="l"/>
            <a:r>
              <a:rPr sz="1400" b="1">
                <a:solidFill>
                  <a:srgbClr val="3E4F3B"/>
                </a:solidFill>
                <a:latin typeface="Calibri"/>
              </a:rPr>
              <a:t>Calm, never punishing</a:t>
            </a:r>
          </a:p>
        </p:txBody>
      </p:sp>
      <p:sp>
        <p:nvSpPr>
          <p:cNvPr id="8" name="TextBox 7"/>
          <p:cNvSpPr txBox="1"/>
          <p:nvPr/>
        </p:nvSpPr>
        <p:spPr>
          <a:xfrm>
            <a:off x="822960" y="3063240"/>
            <a:ext cx="4937760" cy="914400"/>
          </a:xfrm>
          <a:prstGeom prst="rect">
            <a:avLst/>
          </a:prstGeom>
          <a:noFill/>
        </p:spPr>
        <p:txBody>
          <a:bodyPr wrap="square" lIns="0" rIns="0" tIns="0" bIns="0" anchor="t">
            <a:spAutoFit/>
          </a:bodyPr>
          <a:lstStyle/>
          <a:p>
            <a:pPr algn="l"/>
            <a:r>
              <a:rPr sz="1100" b="0">
                <a:solidFill>
                  <a:srgbClr val="8A9085"/>
                </a:solidFill>
                <a:latin typeface="Calibri"/>
              </a:rPr>
              <a:t>No streaks, no FOMO. Skincare is a practice, not a leaderboard.</a:t>
            </a:r>
          </a:p>
        </p:txBody>
      </p:sp>
      <p:sp>
        <p:nvSpPr>
          <p:cNvPr id="9" name="Rounded Rectangle 8"/>
          <p:cNvSpPr/>
          <p:nvPr/>
        </p:nvSpPr>
        <p:spPr>
          <a:xfrm>
            <a:off x="6172200" y="2468880"/>
            <a:ext cx="5486400" cy="128016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651760"/>
            <a:ext cx="4937760" cy="365760"/>
          </a:xfrm>
          <a:prstGeom prst="rect">
            <a:avLst/>
          </a:prstGeom>
          <a:noFill/>
        </p:spPr>
        <p:txBody>
          <a:bodyPr wrap="square" lIns="0" rIns="0" tIns="0" bIns="0" anchor="t">
            <a:spAutoFit/>
          </a:bodyPr>
          <a:lstStyle/>
          <a:p>
            <a:pPr algn="l"/>
            <a:r>
              <a:rPr sz="1400" b="1">
                <a:solidFill>
                  <a:srgbClr val="3E4F3B"/>
                </a:solidFill>
                <a:latin typeface="Calibri"/>
              </a:rPr>
              <a:t>Cite, never invent</a:t>
            </a:r>
          </a:p>
        </p:txBody>
      </p:sp>
      <p:sp>
        <p:nvSpPr>
          <p:cNvPr id="11" name="TextBox 10"/>
          <p:cNvSpPr txBox="1"/>
          <p:nvPr/>
        </p:nvSpPr>
        <p:spPr>
          <a:xfrm>
            <a:off x="6446520" y="3063240"/>
            <a:ext cx="4937760" cy="914400"/>
          </a:xfrm>
          <a:prstGeom prst="rect">
            <a:avLst/>
          </a:prstGeom>
          <a:noFill/>
        </p:spPr>
        <p:txBody>
          <a:bodyPr wrap="square" lIns="0" rIns="0" tIns="0" bIns="0" anchor="t">
            <a:spAutoFit/>
          </a:bodyPr>
          <a:lstStyle/>
          <a:p>
            <a:pPr algn="l"/>
            <a:r>
              <a:rPr sz="1100" b="0">
                <a:solidFill>
                  <a:srgbClr val="8A9085"/>
                </a:solidFill>
                <a:latin typeface="Calibri"/>
              </a:rPr>
              <a:t>Every ingredient and sustainability claim sources to evidence. AI never makes up science.</a:t>
            </a:r>
          </a:p>
        </p:txBody>
      </p:sp>
      <p:sp>
        <p:nvSpPr>
          <p:cNvPr id="12" name="Rounded Rectangle 11"/>
          <p:cNvSpPr/>
          <p:nvPr/>
        </p:nvSpPr>
        <p:spPr>
          <a:xfrm>
            <a:off x="548640" y="3886200"/>
            <a:ext cx="5486400" cy="128016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69080"/>
            <a:ext cx="4937760" cy="365760"/>
          </a:xfrm>
          <a:prstGeom prst="rect">
            <a:avLst/>
          </a:prstGeom>
          <a:noFill/>
        </p:spPr>
        <p:txBody>
          <a:bodyPr wrap="square" lIns="0" rIns="0" tIns="0" bIns="0" anchor="t">
            <a:spAutoFit/>
          </a:bodyPr>
          <a:lstStyle/>
          <a:p>
            <a:pPr algn="l"/>
            <a:r>
              <a:rPr sz="1400" b="1">
                <a:solidFill>
                  <a:srgbClr val="3E4F3B"/>
                </a:solidFill>
                <a:latin typeface="Calibri"/>
              </a:rPr>
              <a:t>Defer to dermatologists</a:t>
            </a:r>
          </a:p>
        </p:txBody>
      </p:sp>
      <p:sp>
        <p:nvSpPr>
          <p:cNvPr id="14" name="TextBox 13"/>
          <p:cNvSpPr txBox="1"/>
          <p:nvPr/>
        </p:nvSpPr>
        <p:spPr>
          <a:xfrm>
            <a:off x="822960" y="4480560"/>
            <a:ext cx="4937760" cy="914400"/>
          </a:xfrm>
          <a:prstGeom prst="rect">
            <a:avLst/>
          </a:prstGeom>
          <a:noFill/>
        </p:spPr>
        <p:txBody>
          <a:bodyPr wrap="square" lIns="0" rIns="0" tIns="0" bIns="0" anchor="t">
            <a:spAutoFit/>
          </a:bodyPr>
          <a:lstStyle/>
          <a:p>
            <a:pPr algn="l"/>
            <a:r>
              <a:rPr sz="1100" b="0">
                <a:solidFill>
                  <a:srgbClr val="8A9085"/>
                </a:solidFill>
                <a:latin typeface="Calibri"/>
              </a:rPr>
              <a:t>When customers raise skin conditions, the AI offers general guidance and refers to the derm.</a:t>
            </a:r>
          </a:p>
        </p:txBody>
      </p:sp>
      <p:sp>
        <p:nvSpPr>
          <p:cNvPr id="15" name="Rounded Rectangle 14"/>
          <p:cNvSpPr/>
          <p:nvPr/>
        </p:nvSpPr>
        <p:spPr>
          <a:xfrm>
            <a:off x="6172200" y="3886200"/>
            <a:ext cx="5486400" cy="128016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69080"/>
            <a:ext cx="4937760" cy="365760"/>
          </a:xfrm>
          <a:prstGeom prst="rect">
            <a:avLst/>
          </a:prstGeom>
          <a:noFill/>
        </p:spPr>
        <p:txBody>
          <a:bodyPr wrap="square" lIns="0" rIns="0" tIns="0" bIns="0" anchor="t">
            <a:spAutoFit/>
          </a:bodyPr>
          <a:lstStyle/>
          <a:p>
            <a:pPr algn="l"/>
            <a:r>
              <a:rPr sz="1400" b="1">
                <a:solidFill>
                  <a:srgbClr val="3E4F3B"/>
                </a:solidFill>
                <a:latin typeface="Calibri"/>
              </a:rPr>
              <a:t>Subscription is a relationship</a:t>
            </a:r>
          </a:p>
        </p:txBody>
      </p:sp>
      <p:sp>
        <p:nvSpPr>
          <p:cNvPr id="17" name="TextBox 16"/>
          <p:cNvSpPr txBox="1"/>
          <p:nvPr/>
        </p:nvSpPr>
        <p:spPr>
          <a:xfrm>
            <a:off x="6446520" y="4480560"/>
            <a:ext cx="4937760" cy="914400"/>
          </a:xfrm>
          <a:prstGeom prst="rect">
            <a:avLst/>
          </a:prstGeom>
          <a:noFill/>
        </p:spPr>
        <p:txBody>
          <a:bodyPr wrap="square" lIns="0" rIns="0" tIns="0" bIns="0" anchor="t">
            <a:spAutoFit/>
          </a:bodyPr>
          <a:lstStyle/>
          <a:p>
            <a:pPr algn="l"/>
            <a:r>
              <a:rPr sz="1100" b="0">
                <a:solidFill>
                  <a:srgbClr val="8A9085"/>
                </a:solidFill>
                <a:latin typeface="Calibri"/>
              </a:rPr>
              <a:t>One-tap pause, skip, vacation. Never auto-charge a customer who asked you not to.</a:t>
            </a:r>
          </a:p>
        </p:txBody>
      </p:sp>
      <p:sp>
        <p:nvSpPr>
          <p:cNvPr id="18" name="Rounded Rectangle 17"/>
          <p:cNvSpPr/>
          <p:nvPr/>
        </p:nvSpPr>
        <p:spPr>
          <a:xfrm>
            <a:off x="548640" y="5303520"/>
            <a:ext cx="5486400" cy="128016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486400"/>
            <a:ext cx="4937760" cy="365760"/>
          </a:xfrm>
          <a:prstGeom prst="rect">
            <a:avLst/>
          </a:prstGeom>
          <a:noFill/>
        </p:spPr>
        <p:txBody>
          <a:bodyPr wrap="square" lIns="0" rIns="0" tIns="0" bIns="0" anchor="t">
            <a:spAutoFit/>
          </a:bodyPr>
          <a:lstStyle/>
          <a:p>
            <a:pPr algn="l"/>
            <a:r>
              <a:rPr sz="1400" b="1">
                <a:solidFill>
                  <a:srgbClr val="3E4F3B"/>
                </a:solidFill>
                <a:latin typeface="Calibri"/>
              </a:rPr>
              <a:t>Transparency over branding</a:t>
            </a:r>
          </a:p>
        </p:txBody>
      </p:sp>
      <p:sp>
        <p:nvSpPr>
          <p:cNvPr id="20" name="TextBox 19"/>
          <p:cNvSpPr txBox="1"/>
          <p:nvPr/>
        </p:nvSpPr>
        <p:spPr>
          <a:xfrm>
            <a:off x="822960" y="5897880"/>
            <a:ext cx="4937760" cy="914400"/>
          </a:xfrm>
          <a:prstGeom prst="rect">
            <a:avLst/>
          </a:prstGeom>
          <a:noFill/>
        </p:spPr>
        <p:txBody>
          <a:bodyPr wrap="square" lIns="0" rIns="0" tIns="0" bIns="0" anchor="t">
            <a:spAutoFit/>
          </a:bodyPr>
          <a:lstStyle/>
          <a:p>
            <a:pPr algn="l"/>
            <a:r>
              <a:rPr sz="1100" b="0">
                <a:solidFill>
                  <a:srgbClr val="8A9085"/>
                </a:solidFill>
                <a:latin typeface="Calibri"/>
              </a:rPr>
              <a:t>We don't say "clean" or "sustainable" without published criteria — Priscilla's stance, baked in.</a:t>
            </a:r>
          </a:p>
        </p:txBody>
      </p:sp>
      <p:sp>
        <p:nvSpPr>
          <p:cNvPr id="21" name="Rounded Rectangle 20"/>
          <p:cNvSpPr/>
          <p:nvPr/>
        </p:nvSpPr>
        <p:spPr>
          <a:xfrm>
            <a:off x="6172200" y="5303520"/>
            <a:ext cx="5486400" cy="128016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5486400"/>
            <a:ext cx="4937760" cy="365760"/>
          </a:xfrm>
          <a:prstGeom prst="rect">
            <a:avLst/>
          </a:prstGeom>
          <a:noFill/>
        </p:spPr>
        <p:txBody>
          <a:bodyPr wrap="square" lIns="0" rIns="0" tIns="0" bIns="0" anchor="t">
            <a:spAutoFit/>
          </a:bodyPr>
          <a:lstStyle/>
          <a:p>
            <a:pPr algn="l"/>
            <a:r>
              <a:rPr sz="1400" b="1">
                <a:solidFill>
                  <a:srgbClr val="3E4F3B"/>
                </a:solidFill>
                <a:latin typeface="Calibri"/>
              </a:rPr>
              <a:t>Recognition over discount</a:t>
            </a:r>
          </a:p>
        </p:txBody>
      </p:sp>
      <p:sp>
        <p:nvSpPr>
          <p:cNvPr id="23" name="TextBox 22"/>
          <p:cNvSpPr txBox="1"/>
          <p:nvPr/>
        </p:nvSpPr>
        <p:spPr>
          <a:xfrm>
            <a:off x="6446520" y="5897880"/>
            <a:ext cx="4937760" cy="914400"/>
          </a:xfrm>
          <a:prstGeom prst="rect">
            <a:avLst/>
          </a:prstGeom>
          <a:noFill/>
        </p:spPr>
        <p:txBody>
          <a:bodyPr wrap="square" lIns="0" rIns="0" tIns="0" bIns="0" anchor="t">
            <a:spAutoFit/>
          </a:bodyPr>
          <a:lstStyle/>
          <a:p>
            <a:pPr algn="l"/>
            <a:r>
              <a:rPr sz="1100" b="0">
                <a:solidFill>
                  <a:srgbClr val="8A9085"/>
                </a:solidFill>
                <a:latin typeface="Calibri"/>
              </a:rPr>
              <a:t>Honest rewards routine practice and bottle returns. Not new-buy bribes.</a:t>
            </a:r>
          </a:p>
        </p:txBody>
      </p:sp>
      <p:sp>
        <p:nvSpPr>
          <p:cNvPr id="24" name="TextBox 23"/>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25" name="TextBox 24"/>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WORKING TOGETHER</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How we'd partner.</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286000"/>
            <a:ext cx="54864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60320"/>
            <a:ext cx="4937760" cy="457200"/>
          </a:xfrm>
          <a:prstGeom prst="rect">
            <a:avLst/>
          </a:prstGeom>
          <a:noFill/>
        </p:spPr>
        <p:txBody>
          <a:bodyPr wrap="square" lIns="0" rIns="0" tIns="0" bIns="0" anchor="t">
            <a:spAutoFit/>
          </a:bodyPr>
          <a:lstStyle/>
          <a:p>
            <a:pPr algn="l"/>
            <a:r>
              <a:rPr sz="2000" b="0">
                <a:solidFill>
                  <a:srgbClr val="3E4F3B"/>
                </a:solidFill>
                <a:latin typeface="Georgia"/>
              </a:rPr>
              <a:t>Discovery sprint</a:t>
            </a:r>
          </a:p>
        </p:txBody>
      </p:sp>
      <p:sp>
        <p:nvSpPr>
          <p:cNvPr id="8" name="TextBox 7"/>
          <p:cNvSpPr txBox="1"/>
          <p:nvPr/>
        </p:nvSpPr>
        <p:spPr>
          <a:xfrm>
            <a:off x="822960" y="3154680"/>
            <a:ext cx="4937760" cy="1005840"/>
          </a:xfrm>
          <a:prstGeom prst="rect">
            <a:avLst/>
          </a:prstGeom>
          <a:noFill/>
        </p:spPr>
        <p:txBody>
          <a:bodyPr wrap="square" lIns="0" rIns="0" tIns="0" bIns="0" anchor="t">
            <a:spAutoFit/>
          </a:bodyPr>
          <a:lstStyle/>
          <a:p>
            <a:pPr algn="l"/>
            <a:r>
              <a:rPr sz="1200" b="0">
                <a:solidFill>
                  <a:srgbClr val="8A9085"/>
                </a:solidFill>
                <a:latin typeface="Calibri"/>
              </a:rPr>
              <a:t>Two weeks. Customer interviews — DTC subscriber, Target, Whole Foods, new buyer, competitor user. Brand-side compliance alignment on AI claims.</a:t>
            </a:r>
          </a:p>
        </p:txBody>
      </p:sp>
      <p:sp>
        <p:nvSpPr>
          <p:cNvPr id="9" name="Rounded Rectangle 8"/>
          <p:cNvSpPr/>
          <p:nvPr/>
        </p:nvSpPr>
        <p:spPr>
          <a:xfrm>
            <a:off x="6172200" y="2286000"/>
            <a:ext cx="54864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560320"/>
            <a:ext cx="4937760" cy="457200"/>
          </a:xfrm>
          <a:prstGeom prst="rect">
            <a:avLst/>
          </a:prstGeom>
          <a:noFill/>
        </p:spPr>
        <p:txBody>
          <a:bodyPr wrap="square" lIns="0" rIns="0" tIns="0" bIns="0" anchor="t">
            <a:spAutoFit/>
          </a:bodyPr>
          <a:lstStyle/>
          <a:p>
            <a:pPr algn="l"/>
            <a:r>
              <a:rPr sz="2000" b="0">
                <a:solidFill>
                  <a:srgbClr val="3E4F3B"/>
                </a:solidFill>
                <a:latin typeface="Georgia"/>
              </a:rPr>
              <a:t>Embedded delivery</a:t>
            </a:r>
          </a:p>
        </p:txBody>
      </p:sp>
      <p:sp>
        <p:nvSpPr>
          <p:cNvPr id="11" name="TextBox 10"/>
          <p:cNvSpPr txBox="1"/>
          <p:nvPr/>
        </p:nvSpPr>
        <p:spPr>
          <a:xfrm>
            <a:off x="6446520" y="3154680"/>
            <a:ext cx="4937760" cy="1005840"/>
          </a:xfrm>
          <a:prstGeom prst="rect">
            <a:avLst/>
          </a:prstGeom>
          <a:noFill/>
        </p:spPr>
        <p:txBody>
          <a:bodyPr wrap="square" lIns="0" rIns="0" tIns="0" bIns="0" anchor="t">
            <a:spAutoFit/>
          </a:bodyPr>
          <a:lstStyle/>
          <a:p>
            <a:pPr algn="l"/>
            <a:r>
              <a:rPr sz="1200" b="0">
                <a:solidFill>
                  <a:srgbClr val="8A9085"/>
                </a:solidFill>
                <a:latin typeface="Calibri"/>
              </a:rPr>
              <a:t>A small team — lead engineer, mobile engineer, designer, bilingual QA — works as an extension of yours. Weekly demos.</a:t>
            </a:r>
          </a:p>
        </p:txBody>
      </p:sp>
      <p:sp>
        <p:nvSpPr>
          <p:cNvPr id="12" name="Rounded Rectangle 11"/>
          <p:cNvSpPr/>
          <p:nvPr/>
        </p:nvSpPr>
        <p:spPr>
          <a:xfrm>
            <a:off x="548640" y="4251960"/>
            <a:ext cx="54864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4937760" cy="457200"/>
          </a:xfrm>
          <a:prstGeom prst="rect">
            <a:avLst/>
          </a:prstGeom>
          <a:noFill/>
        </p:spPr>
        <p:txBody>
          <a:bodyPr wrap="square" lIns="0" rIns="0" tIns="0" bIns="0" anchor="t">
            <a:spAutoFit/>
          </a:bodyPr>
          <a:lstStyle/>
          <a:p>
            <a:pPr algn="l"/>
            <a:r>
              <a:rPr sz="2000" b="0">
                <a:solidFill>
                  <a:srgbClr val="3E4F3B"/>
                </a:solidFill>
                <a:latin typeface="Georgia"/>
              </a:rPr>
              <a:t>Brand-side compliance review</a:t>
            </a:r>
          </a:p>
        </p:txBody>
      </p:sp>
      <p:sp>
        <p:nvSpPr>
          <p:cNvPr id="14" name="TextBox 13"/>
          <p:cNvSpPr txBox="1"/>
          <p:nvPr/>
        </p:nvSpPr>
        <p:spPr>
          <a:xfrm>
            <a:off x="822960" y="5120640"/>
            <a:ext cx="4937760" cy="1005840"/>
          </a:xfrm>
          <a:prstGeom prst="rect">
            <a:avLst/>
          </a:prstGeom>
          <a:noFill/>
        </p:spPr>
        <p:txBody>
          <a:bodyPr wrap="square" lIns="0" rIns="0" tIns="0" bIns="0" anchor="t">
            <a:spAutoFit/>
          </a:bodyPr>
          <a:lstStyle/>
          <a:p>
            <a:pPr algn="l"/>
            <a:r>
              <a:rPr sz="1200" b="0">
                <a:solidFill>
                  <a:srgbClr val="8A9085"/>
                </a:solidFill>
                <a:latin typeface="Calibri"/>
              </a:rPr>
              <a:t>Every customer-facing ingredient, sustainability, or routine claim reviewed by your editorial / legal team. Non-negotiable.</a:t>
            </a:r>
          </a:p>
        </p:txBody>
      </p:sp>
      <p:sp>
        <p:nvSpPr>
          <p:cNvPr id="15" name="Rounded Rectangle 14"/>
          <p:cNvSpPr/>
          <p:nvPr/>
        </p:nvSpPr>
        <p:spPr>
          <a:xfrm>
            <a:off x="6172200" y="4251960"/>
            <a:ext cx="5486400" cy="1828800"/>
          </a:xfrm>
          <a:prstGeom prst="roundRect">
            <a:avLst>
              <a:gd name="adj" fmla="val 12000"/>
            </a:avLst>
          </a:prstGeom>
          <a:solidFill>
            <a:srgbClr val="FFFFFF"/>
          </a:solidFill>
          <a:ln w="9525">
            <a:solidFill>
              <a:srgbClr val="E0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526280"/>
            <a:ext cx="4937760" cy="457200"/>
          </a:xfrm>
          <a:prstGeom prst="rect">
            <a:avLst/>
          </a:prstGeom>
          <a:noFill/>
        </p:spPr>
        <p:txBody>
          <a:bodyPr wrap="square" lIns="0" rIns="0" tIns="0" bIns="0" anchor="t">
            <a:spAutoFit/>
          </a:bodyPr>
          <a:lstStyle/>
          <a:p>
            <a:pPr algn="l"/>
            <a:r>
              <a:rPr sz="2000" b="0">
                <a:solidFill>
                  <a:srgbClr val="3E4F3B"/>
                </a:solidFill>
                <a:latin typeface="Georgia"/>
              </a:rPr>
              <a:t>Always your data</a:t>
            </a:r>
          </a:p>
        </p:txBody>
      </p:sp>
      <p:sp>
        <p:nvSpPr>
          <p:cNvPr id="17" name="TextBox 16"/>
          <p:cNvSpPr txBox="1"/>
          <p:nvPr/>
        </p:nvSpPr>
        <p:spPr>
          <a:xfrm>
            <a:off x="6446520" y="5120640"/>
            <a:ext cx="4937760" cy="1005840"/>
          </a:xfrm>
          <a:prstGeom prst="rect">
            <a:avLst/>
          </a:prstGeom>
          <a:noFill/>
        </p:spPr>
        <p:txBody>
          <a:bodyPr wrap="square" lIns="0" rIns="0" tIns="0" bIns="0" anchor="t">
            <a:spAutoFit/>
          </a:bodyPr>
          <a:lstStyle/>
          <a:p>
            <a:pPr algn="l"/>
            <a:r>
              <a:rPr sz="1200" b="0">
                <a:solidFill>
                  <a:srgbClr val="8A9085"/>
                </a:solidFill>
                <a:latin typeface="Calibri"/>
              </a:rPr>
              <a:t>Source code, customer data, AI logs, the Sustainability Facts library all live in your accounts.</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19" name="TextBox 18"/>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3E4F3B"/>
                </a:solidFill>
                <a:latin typeface="Calibri"/>
              </a:rPr>
              <a:t>WHY THIS WORKS FOR COCOKIND</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C3A2E"/>
                </a:solidFill>
                <a:latin typeface="Georgia"/>
              </a:rPr>
              <a:t>The bet behind the build.</a:t>
            </a:r>
          </a:p>
        </p:txBody>
      </p:sp>
      <p:sp>
        <p:nvSpPr>
          <p:cNvPr id="5" name="Rectangle 4"/>
          <p:cNvSpPr/>
          <p:nvPr/>
        </p:nvSpPr>
        <p:spPr>
          <a:xfrm>
            <a:off x="548640" y="1691640"/>
            <a:ext cx="640080" cy="25400"/>
          </a:xfrm>
          <a:prstGeom prst="rect">
            <a:avLst/>
          </a:prstGeom>
          <a:solidFill>
            <a:srgbClr val="6E8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286000"/>
            <a:ext cx="73152" cy="868680"/>
          </a:xfrm>
          <a:prstGeom prst="rect">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31720"/>
            <a:ext cx="10515600" cy="365760"/>
          </a:xfrm>
          <a:prstGeom prst="rect">
            <a:avLst/>
          </a:prstGeom>
          <a:noFill/>
        </p:spPr>
        <p:txBody>
          <a:bodyPr wrap="square" lIns="0" rIns="0" tIns="0" bIns="0" anchor="t">
            <a:spAutoFit/>
          </a:bodyPr>
          <a:lstStyle/>
          <a:p>
            <a:pPr algn="l"/>
            <a:r>
              <a:rPr sz="2000" b="0">
                <a:solidFill>
                  <a:srgbClr val="2C3A2E"/>
                </a:solidFill>
                <a:latin typeface="Georgia"/>
              </a:rPr>
              <a:t>Transparency is your moat</a:t>
            </a:r>
          </a:p>
        </p:txBody>
      </p:sp>
      <p:sp>
        <p:nvSpPr>
          <p:cNvPr id="8" name="TextBox 7"/>
          <p:cNvSpPr txBox="1"/>
          <p:nvPr/>
        </p:nvSpPr>
        <p:spPr>
          <a:xfrm>
            <a:off x="868680" y="2788920"/>
            <a:ext cx="10515600" cy="365760"/>
          </a:xfrm>
          <a:prstGeom prst="rect">
            <a:avLst/>
          </a:prstGeom>
          <a:noFill/>
        </p:spPr>
        <p:txBody>
          <a:bodyPr wrap="square" lIns="0" rIns="0" tIns="0" bIns="0" anchor="t">
            <a:spAutoFit/>
          </a:bodyPr>
          <a:lstStyle/>
          <a:p>
            <a:pPr algn="l"/>
            <a:r>
              <a:rPr sz="1200" b="0">
                <a:solidFill>
                  <a:srgbClr val="8A9085"/>
                </a:solidFill>
                <a:latin typeface="Calibri"/>
              </a:rPr>
              <a:t>You stopped calling the brand 'clean' because the word is meaningless. The app is where 'meaningful' lives — Sustainability Facts, peer-reviewed evidence, end-of-life data. Competitors can't fake it.</a:t>
            </a:r>
          </a:p>
        </p:txBody>
      </p:sp>
      <p:sp>
        <p:nvSpPr>
          <p:cNvPr id="9" name="Rectangle 8"/>
          <p:cNvSpPr/>
          <p:nvPr/>
        </p:nvSpPr>
        <p:spPr>
          <a:xfrm>
            <a:off x="548640" y="3246120"/>
            <a:ext cx="73152" cy="868680"/>
          </a:xfrm>
          <a:prstGeom prst="rect">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91840"/>
            <a:ext cx="10515600" cy="365760"/>
          </a:xfrm>
          <a:prstGeom prst="rect">
            <a:avLst/>
          </a:prstGeom>
          <a:noFill/>
        </p:spPr>
        <p:txBody>
          <a:bodyPr wrap="square" lIns="0" rIns="0" tIns="0" bIns="0" anchor="t">
            <a:spAutoFit/>
          </a:bodyPr>
          <a:lstStyle/>
          <a:p>
            <a:pPr algn="l"/>
            <a:r>
              <a:rPr sz="2000" b="0">
                <a:solidFill>
                  <a:srgbClr val="2C3A2E"/>
                </a:solidFill>
                <a:latin typeface="Georgia"/>
              </a:rPr>
              <a:t>Routine is the LTV story</a:t>
            </a:r>
          </a:p>
        </p:txBody>
      </p:sp>
      <p:sp>
        <p:nvSpPr>
          <p:cNvPr id="11" name="TextBox 10"/>
          <p:cNvSpPr txBox="1"/>
          <p:nvPr/>
        </p:nvSpPr>
        <p:spPr>
          <a:xfrm>
            <a:off x="868680" y="3749040"/>
            <a:ext cx="10515600" cy="365760"/>
          </a:xfrm>
          <a:prstGeom prst="rect">
            <a:avLst/>
          </a:prstGeom>
          <a:noFill/>
        </p:spPr>
        <p:txBody>
          <a:bodyPr wrap="square" lIns="0" rIns="0" tIns="0" bIns="0" anchor="t">
            <a:spAutoFit/>
          </a:bodyPr>
          <a:lstStyle/>
          <a:p>
            <a:pPr algn="l"/>
            <a:r>
              <a:rPr sz="1200" b="0">
                <a:solidFill>
                  <a:srgbClr val="8A9085"/>
                </a:solidFill>
                <a:latin typeface="Calibri"/>
              </a:rPr>
              <a:t>A daily-routine customer with 3+ subscriptions is the highest LTV in skincare. The Routine + Refill flow makes that easier to keep.</a:t>
            </a:r>
          </a:p>
        </p:txBody>
      </p:sp>
      <p:sp>
        <p:nvSpPr>
          <p:cNvPr id="12" name="Rectangle 11"/>
          <p:cNvSpPr/>
          <p:nvPr/>
        </p:nvSpPr>
        <p:spPr>
          <a:xfrm>
            <a:off x="548640" y="4206240"/>
            <a:ext cx="73152" cy="868680"/>
          </a:xfrm>
          <a:prstGeom prst="rect">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251960"/>
            <a:ext cx="10515600" cy="365760"/>
          </a:xfrm>
          <a:prstGeom prst="rect">
            <a:avLst/>
          </a:prstGeom>
          <a:noFill/>
        </p:spPr>
        <p:txBody>
          <a:bodyPr wrap="square" lIns="0" rIns="0" tIns="0" bIns="0" anchor="t">
            <a:spAutoFit/>
          </a:bodyPr>
          <a:lstStyle/>
          <a:p>
            <a:pPr algn="l"/>
            <a:r>
              <a:rPr sz="2000" b="0">
                <a:solidFill>
                  <a:srgbClr val="2C3A2E"/>
                </a:solidFill>
                <a:latin typeface="Georgia"/>
              </a:rPr>
              <a:t>Compliance is a feature</a:t>
            </a:r>
          </a:p>
        </p:txBody>
      </p:sp>
      <p:sp>
        <p:nvSpPr>
          <p:cNvPr id="14" name="TextBox 13"/>
          <p:cNvSpPr txBox="1"/>
          <p:nvPr/>
        </p:nvSpPr>
        <p:spPr>
          <a:xfrm>
            <a:off x="868680" y="4709160"/>
            <a:ext cx="10515600" cy="365760"/>
          </a:xfrm>
          <a:prstGeom prst="rect">
            <a:avLst/>
          </a:prstGeom>
          <a:noFill/>
        </p:spPr>
        <p:txBody>
          <a:bodyPr wrap="square" lIns="0" rIns="0" tIns="0" bIns="0" anchor="t">
            <a:spAutoFit/>
          </a:bodyPr>
          <a:lstStyle/>
          <a:p>
            <a:pPr algn="l"/>
            <a:r>
              <a:rPr sz="1200" b="0">
                <a:solidFill>
                  <a:srgbClr val="8A9085"/>
                </a:solidFill>
                <a:latin typeface="Calibri"/>
              </a:rPr>
              <a:t>Most skincare brands run until the FDA notices. Building cosmetic-rule guardrails into the AI from day one is what lets you grow safely past Target into international.</a:t>
            </a:r>
          </a:p>
        </p:txBody>
      </p:sp>
      <p:sp>
        <p:nvSpPr>
          <p:cNvPr id="15" name="Rectangle 14"/>
          <p:cNvSpPr/>
          <p:nvPr/>
        </p:nvSpPr>
        <p:spPr>
          <a:xfrm>
            <a:off x="548640" y="5166360"/>
            <a:ext cx="73152" cy="868680"/>
          </a:xfrm>
          <a:prstGeom prst="rect">
            <a:avLst/>
          </a:prstGeom>
          <a:solidFill>
            <a:srgbClr val="6E8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212080"/>
            <a:ext cx="10515600" cy="365760"/>
          </a:xfrm>
          <a:prstGeom prst="rect">
            <a:avLst/>
          </a:prstGeom>
          <a:noFill/>
        </p:spPr>
        <p:txBody>
          <a:bodyPr wrap="square" lIns="0" rIns="0" tIns="0" bIns="0" anchor="t">
            <a:spAutoFit/>
          </a:bodyPr>
          <a:lstStyle/>
          <a:p>
            <a:pPr algn="l"/>
            <a:r>
              <a:rPr sz="2000" b="0">
                <a:solidFill>
                  <a:srgbClr val="2C3A2E"/>
                </a:solidFill>
                <a:latin typeface="Georgia"/>
              </a:rPr>
              <a:t>AI in service of evidence</a:t>
            </a:r>
          </a:p>
        </p:txBody>
      </p:sp>
      <p:sp>
        <p:nvSpPr>
          <p:cNvPr id="17" name="TextBox 16"/>
          <p:cNvSpPr txBox="1"/>
          <p:nvPr/>
        </p:nvSpPr>
        <p:spPr>
          <a:xfrm>
            <a:off x="868680" y="5669280"/>
            <a:ext cx="10515600" cy="365760"/>
          </a:xfrm>
          <a:prstGeom prst="rect">
            <a:avLst/>
          </a:prstGeom>
          <a:noFill/>
        </p:spPr>
        <p:txBody>
          <a:bodyPr wrap="square" lIns="0" rIns="0" tIns="0" bIns="0" anchor="t">
            <a:spAutoFit/>
          </a:bodyPr>
          <a:lstStyle/>
          <a:p>
            <a:pPr algn="l"/>
            <a:r>
              <a:rPr sz="1200" b="0">
                <a:solidFill>
                  <a:srgbClr val="8A9085"/>
                </a:solidFill>
                <a:latin typeface="Calibri"/>
              </a:rPr>
              <a:t>We use AI to coach, recommend, translate, predict. Never to diagnose. Never to invent. The brand's reputation is safer for the building.</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9085"/>
                </a:solidFill>
                <a:latin typeface="Calibri"/>
              </a:rPr>
              <a:t>Cocokind · Mobile App Pitch</a:t>
            </a:r>
          </a:p>
        </p:txBody>
      </p:sp>
      <p:sp>
        <p:nvSpPr>
          <p:cNvPr id="19" name="TextBox 18"/>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9085"/>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3E4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228600"/>
          </a:xfrm>
          <a:prstGeom prst="rect">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875520" y="1097280"/>
            <a:ext cx="365760" cy="365760"/>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10544" y="2615184"/>
            <a:ext cx="256032" cy="256032"/>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308592" y="3639312"/>
            <a:ext cx="402336" cy="402336"/>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26496" y="4974336"/>
            <a:ext cx="292608" cy="292608"/>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31552" y="5742432"/>
            <a:ext cx="219456" cy="219456"/>
          </a:xfrm>
          <a:prstGeom prst="ellipse">
            <a:avLst/>
          </a:prstGeom>
          <a:solidFill>
            <a:srgbClr val="C9A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02920"/>
            <a:ext cx="7315200" cy="274320"/>
          </a:xfrm>
          <a:prstGeom prst="rect">
            <a:avLst/>
          </a:prstGeom>
          <a:noFill/>
        </p:spPr>
        <p:txBody>
          <a:bodyPr wrap="square" lIns="0" rIns="0" tIns="0" bIns="0" anchor="t">
            <a:spAutoFit/>
          </a:bodyPr>
          <a:lstStyle/>
          <a:p>
            <a:pPr algn="l"/>
            <a:r>
              <a:rPr sz="1100" b="1">
                <a:solidFill>
                  <a:srgbClr val="C9A85E"/>
                </a:solidFill>
                <a:latin typeface="Calibri"/>
              </a:rPr>
              <a:t>NEXT STEP</a:t>
            </a:r>
          </a:p>
        </p:txBody>
      </p:sp>
      <p:sp>
        <p:nvSpPr>
          <p:cNvPr id="11" name="TextBox 10"/>
          <p:cNvSpPr txBox="1"/>
          <p:nvPr/>
        </p:nvSpPr>
        <p:spPr>
          <a:xfrm>
            <a:off x="548640" y="1005840"/>
            <a:ext cx="10058400" cy="1828800"/>
          </a:xfrm>
          <a:prstGeom prst="rect">
            <a:avLst/>
          </a:prstGeom>
          <a:noFill/>
        </p:spPr>
        <p:txBody>
          <a:bodyPr wrap="square" lIns="0" rIns="0" tIns="0" bIns="0" anchor="t">
            <a:spAutoFit/>
          </a:bodyPr>
          <a:lstStyle/>
          <a:p>
            <a:pPr algn="l"/>
            <a:r>
              <a:rPr sz="5400" b="0">
                <a:solidFill>
                  <a:srgbClr val="FFFFFF"/>
                </a:solidFill>
                <a:latin typeface="Georgia"/>
              </a:rPr>
              <a:t>A two-week paid discovery.</a:t>
            </a:r>
          </a:p>
        </p:txBody>
      </p:sp>
      <p:sp>
        <p:nvSpPr>
          <p:cNvPr id="12" name="TextBox 11"/>
          <p:cNvSpPr txBox="1"/>
          <p:nvPr/>
        </p:nvSpPr>
        <p:spPr>
          <a:xfrm>
            <a:off x="548640" y="2468880"/>
            <a:ext cx="9601200" cy="1828800"/>
          </a:xfrm>
          <a:prstGeom prst="rect">
            <a:avLst/>
          </a:prstGeom>
          <a:noFill/>
        </p:spPr>
        <p:txBody>
          <a:bodyPr wrap="square" lIns="0" rIns="0" tIns="0" bIns="0" anchor="t">
            <a:spAutoFit/>
          </a:bodyPr>
          <a:lstStyle/>
          <a:p>
            <a:pPr algn="l"/>
            <a:r>
              <a:rPr sz="1800" b="0">
                <a:solidFill>
                  <a:srgbClr val="F1E7C9"/>
                </a:solidFill>
                <a:latin typeface="Calibri"/>
              </a:rPr>
              <a:t>We sit with your team. We talk to ten of your customers — DTC subscriber, Target, Whole Foods, new buyer, competitor user. We sit with your editorial team and align on what the AI can and can't say about ingredients and packaging. We come back with a lockable Phase 1 scope and a working prototype of the Facts and Routine flows in EN and ES.</a:t>
            </a:r>
          </a:p>
        </p:txBody>
      </p:sp>
      <p:sp>
        <p:nvSpPr>
          <p:cNvPr id="13" name="TextBox 12"/>
          <p:cNvSpPr txBox="1"/>
          <p:nvPr/>
        </p:nvSpPr>
        <p:spPr>
          <a:xfrm>
            <a:off x="548640" y="4663440"/>
            <a:ext cx="10058400" cy="457200"/>
          </a:xfrm>
          <a:prstGeom prst="rect">
            <a:avLst/>
          </a:prstGeom>
          <a:noFill/>
        </p:spPr>
        <p:txBody>
          <a:bodyPr wrap="square" lIns="0" rIns="0" tIns="0" bIns="0" anchor="t">
            <a:spAutoFit/>
          </a:bodyPr>
          <a:lstStyle/>
          <a:p>
            <a:pPr algn="l"/>
            <a:r>
              <a:rPr sz="1100" b="1">
                <a:solidFill>
                  <a:srgbClr val="C9A85E"/>
                </a:solidFill>
                <a:latin typeface="Calibri"/>
              </a:rPr>
              <a:t>WHAT YOU GET</a:t>
            </a:r>
          </a:p>
        </p:txBody>
      </p:sp>
      <p:sp>
        <p:nvSpPr>
          <p:cNvPr id="14" name="TextBox 13"/>
          <p:cNvSpPr txBox="1"/>
          <p:nvPr/>
        </p:nvSpPr>
        <p:spPr>
          <a:xfrm>
            <a:off x="548640" y="5029200"/>
            <a:ext cx="10058400" cy="1828800"/>
          </a:xfrm>
          <a:prstGeom prst="rect">
            <a:avLst/>
          </a:prstGeom>
          <a:noFill/>
        </p:spPr>
        <p:txBody>
          <a:bodyPr wrap="square" lIns="0" rIns="0" tIns="0" bIns="0" anchor="t">
            <a:spAutoFit/>
          </a:bodyPr>
          <a:lstStyle/>
          <a:p>
            <a:pPr algn="l"/>
            <a:r>
              <a:rPr sz="1400" b="0">
                <a:solidFill>
                  <a:srgbClr val="FFFFFF"/>
                </a:solidFill>
                <a:latin typeface="Calibri"/>
              </a:rPr>
              <a:t>•  A lockable feature scope, costed and timeboxed</a:t>
            </a:r>
          </a:p>
          <a:p>
            <a:pPr algn="l"/>
            <a:r>
              <a:rPr sz="1400" b="0">
                <a:solidFill>
                  <a:srgbClr val="FFFFFF"/>
                </a:solidFill>
                <a:latin typeface="Calibri"/>
              </a:rPr>
              <a:t>•  An interactive prototype of two core flows</a:t>
            </a:r>
          </a:p>
          <a:p>
            <a:pPr algn="l"/>
            <a:r>
              <a:rPr sz="1400" b="0">
                <a:solidFill>
                  <a:srgbClr val="FFFFFF"/>
                </a:solidFill>
                <a:latin typeface="Calibri"/>
              </a:rPr>
              <a:t>•  Brand-side compliance alignment on AI claims</a:t>
            </a:r>
          </a:p>
          <a:p>
            <a:pPr algn="l"/>
            <a:r>
              <a:rPr sz="1400" b="0">
                <a:solidFill>
                  <a:srgbClr val="FFFFFF"/>
                </a:solidFill>
                <a:latin typeface="Calibri"/>
              </a:rPr>
              <a:t>•  A go / no-go recommendation. Yours either way.</a:t>
            </a:r>
          </a:p>
        </p:txBody>
      </p:sp>
      <p:sp>
        <p:nvSpPr>
          <p:cNvPr id="15" name="TextBox 14"/>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F1E7C9"/>
                </a:solidFill>
                <a:latin typeface="Calibri"/>
              </a:rPr>
              <a:t>Cocokind · Mobile App Pitch</a:t>
            </a:r>
          </a:p>
        </p:txBody>
      </p:sp>
      <p:sp>
        <p:nvSpPr>
          <p:cNvPr id="16" name="TextBox 15"/>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F1E7C9"/>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