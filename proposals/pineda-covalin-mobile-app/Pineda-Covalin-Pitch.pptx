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2286000"/>
          </a:xfrm>
          <a:prstGeom prst="rect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0"/>
            <a:ext cx="4419295" cy="731520"/>
          </a:xfrm>
          <a:prstGeom prst="rect">
            <a:avLst/>
          </a:prstGeom>
          <a:solidFill>
            <a:srgbClr val="D8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93808" y="1207008"/>
            <a:ext cx="329184" cy="329184"/>
          </a:xfrm>
          <a:prstGeom prst="ellipse">
            <a:avLst/>
          </a:prstGeom>
          <a:solidFill>
            <a:srgbClr val="D8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10544" y="2798064"/>
            <a:ext cx="256032" cy="256032"/>
          </a:xfrm>
          <a:prstGeom prst="ellipse">
            <a:avLst/>
          </a:prstGeom>
          <a:solidFill>
            <a:srgbClr val="D8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25711" y="3547871"/>
            <a:ext cx="402336" cy="402336"/>
          </a:xfrm>
          <a:prstGeom prst="ellipse">
            <a:avLst/>
          </a:prstGeom>
          <a:solidFill>
            <a:srgbClr val="D8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43616" y="4974336"/>
            <a:ext cx="292608" cy="292608"/>
          </a:xfrm>
          <a:prstGeom prst="ellipse">
            <a:avLst/>
          </a:prstGeom>
          <a:solidFill>
            <a:srgbClr val="D8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11712" y="5925312"/>
            <a:ext cx="219456" cy="219456"/>
          </a:xfrm>
          <a:prstGeom prst="ellipse">
            <a:avLst/>
          </a:prstGeom>
          <a:solidFill>
            <a:srgbClr val="D8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914400"/>
            <a:ext cx="73152" cy="2194560"/>
          </a:xfrm>
          <a:prstGeom prst="rect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02747"/>
                </a:solidFill>
                <a:latin typeface="Calibri"/>
              </a:rPr>
              <a:t>MOBILE APP ·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32588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0">
                <a:solidFill>
                  <a:srgbClr val="2A1A14"/>
                </a:solidFill>
                <a:latin typeface="Georgia"/>
              </a:rPr>
              <a:t>Pineda Covalín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68880"/>
            <a:ext cx="6858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A02747"/>
                </a:solidFill>
                <a:latin typeface="Georgia"/>
              </a:rPr>
              <a:t>El alma de México,</a:t>
            </a:r>
          </a:p>
          <a:p>
            <a:pPr algn="l"/>
            <a:r>
              <a:rPr sz="2600" b="0">
                <a:solidFill>
                  <a:srgbClr val="A02747"/>
                </a:solidFill>
                <a:latin typeface="Georgia"/>
              </a:rPr>
              <a:t>en el bolsillo de cada cliente.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206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866"/>
                </a:solidFill>
                <a:latin typeface="Calibri"/>
              </a:rPr>
              <a:t>A pocket museum, a luxury gift concierge, a traveler's companion.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Prepared for the Pineda Covalín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The brand's customer is global. The relationship shouldn't end at the airport.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>
                <a:solidFill>
                  <a:srgbClr val="A02747"/>
                </a:solidFill>
                <a:latin typeface="Georgia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of Mexican sales come from</a:t>
            </a:r>
          </a:p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tourism — airport, hotel, museum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866"/>
                </a:solidFill>
                <a:latin typeface="Calibri"/>
              </a:rPr>
              <a:t>Most of those buyers are never seen again.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>
                <a:solidFill>
                  <a:srgbClr val="A02747"/>
                </a:solidFill>
                <a:latin typeface="Georgia"/>
              </a:rPr>
              <a:t>12+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airport boutiques and museum</a:t>
            </a:r>
          </a:p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stores carry your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866"/>
                </a:solidFill>
                <a:latin typeface="Calibri"/>
              </a:rPr>
              <a:t>Each is a discovery moment in search of a follow-up.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>
                <a:solidFill>
                  <a:srgbClr val="A02747"/>
                </a:solidFill>
                <a:latin typeface="Georgia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languages your customers read,</a:t>
            </a:r>
          </a:p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in five regions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866"/>
                </a:solidFill>
                <a:latin typeface="Calibri"/>
              </a:rPr>
              <a:t>The story behind every piece deserves all of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Not another store — a cultural companion to a beautiful object.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A14"/>
                </a:solidFill>
                <a:latin typeface="Georgia"/>
              </a:rPr>
              <a:t>Pineda Covalín's product is not silk. It is the cultural story woven into silk — Huichol cosmology, the monarch's migration, pre-Hispanic codices, the work of Frida and Diego.</a:t>
            </a:r>
          </a:p>
          <a:p>
            <a:pPr algn="l"/>
            <a:r>
              <a:rPr sz="2000" b="0">
                <a:solidFill>
                  <a:srgbClr val="2A1A14"/>
                </a:solidFill>
                <a:latin typeface="Georgia"/>
              </a:rPr>
              <a:t/>
            </a:r>
          </a:p>
          <a:p>
            <a:pPr algn="l"/>
            <a:r>
              <a:rPr sz="2000" b="0">
                <a:solidFill>
                  <a:srgbClr val="2A1A14"/>
                </a:solidFill>
                <a:latin typeface="Georgia"/>
              </a:rPr>
              <a:t>Most international buyers walk away from an airport boutique with the silk and none of the story. The app gives every piece a passport, makes the gift a cinematic moment, and turns a one-time tourist purchase into an ongoing relationship — in the customer's language, wherever they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A1A14"/>
                </a:solidFill>
                <a:latin typeface="Calibri"/>
              </a:rPr>
              <a:t>• Captures the tourist customer who would otherwise vanish after one purchase</a:t>
            </a:r>
          </a:p>
          <a:p>
            <a:pPr algn="l"/>
            <a:r>
              <a:rPr sz="1300" b="0">
                <a:solidFill>
                  <a:srgbClr val="2A1A14"/>
                </a:solidFill>
                <a:latin typeface="Calibri"/>
              </a:rPr>
              <a:t>• Elevates the gift — half the volume — from object to scheduled cultural moment</a:t>
            </a:r>
          </a:p>
          <a:p>
            <a:pPr algn="l"/>
            <a:r>
              <a:rPr sz="1300" b="0">
                <a:solidFill>
                  <a:srgbClr val="2A1A14"/>
                </a:solidFill>
                <a:latin typeface="Calibri"/>
              </a:rPr>
              <a:t>• Gives the brand's existing 40+ retail footprint a digital companion that travels with the 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Six pillars — five customer-facing, one internal.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D8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D89B3D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A14"/>
                </a:solidFill>
                <a:latin typeface="Georgia"/>
              </a:rPr>
              <a:t>The Atelier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Each piece carries its passport — motif, technique, artist, audio guide.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94560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194560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A0274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A14"/>
                </a:solidFill>
                <a:latin typeface="Georgia"/>
              </a:rPr>
              <a:t>Mercado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3375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Luxury shop curated by collection — Huichol, Frida, Monarcas, Día de Muertos, Codices.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94560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2194560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5B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5B2A52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A14"/>
                </a:solidFill>
                <a:latin typeface="Georgia"/>
              </a:rPr>
              <a:t>Gift Concierge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375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Wrapping, video message, scheduled unboxing — gifting as cinema.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16552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416552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2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99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C6E6B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56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A14"/>
                </a:solidFill>
                <a:latin typeface="Georgia"/>
              </a:rPr>
              <a:t>Traveler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59552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Tourist mode: boutiques, appointments, tax-refund, buy-in-city collect-at-airport.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416552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43400" y="4416552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6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599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E1A30"/>
                </a:solidFill>
                <a:latin typeface="Georg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056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A14"/>
                </a:solidFill>
                <a:latin typeface="Georgia"/>
              </a:rPr>
              <a:t>Collector's Archive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559552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Every owned piece registered. Mariposa-cycle tiers reward access, not discounts.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416552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60" y="4416552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2A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599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A1A14"/>
                </a:solidFill>
                <a:latin typeface="Georg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056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A14"/>
                </a:solidFill>
                <a:latin typeface="Georgia"/>
              </a:rPr>
              <a:t>El Estudio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559552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Internal-facing web admin portal — Atelier editor, translations, calendar, concierge.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PHASE 1 · LAUNCH (MONTHS 0–4)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Foundations: Atelier, Mercado, Gift, Traveler, Archive.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866"/>
                </a:solidFill>
                <a:latin typeface="Calibri"/>
              </a:rPr>
              <a:t>Everything a customer needs in their first 90 days with the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Multilingual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EN/ES at launch — FR/IT/JP/ZH expandable. Apple/Google sign-in.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Multi-currency, multi-region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MX/US/EU/Asia-Pacific storefronts. Currency follows the customer.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The Atelier passport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Scan QR / NFC tag — motif, artist, technique, artisan community.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90-second audio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Voiced by curators in the customer's language. Listen on the plane.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Mercado by collection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Browse Frida · Huichol · Monarcas · Día de Muertos · Codices.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Cultural-calendar drops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Día de Muertos, monarch migration, Frida birthday, Independence Day.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Gift Concierge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Signature wrapping, handwritten card, 30-sec video, scheduled unboxing.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Predictive gift reminders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Learns each customer's gifting cadence. Mother's Day, anniversaries.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67512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2960" y="704088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67848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Travel mode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7086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Boutiques, museum stores, hotels, studio. Appointment booking, tax-refund.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667512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46520" y="704088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67848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Buy-in-city, collect-at-airport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7086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Purchase in Polanco; pick up at MEX gate on departure.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76809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2960" y="80467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77906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Collector's Archive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80924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Register every piece. Digital certificate of authenticity.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76809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46520" y="80467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77906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Mariposa-cycle tiers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80924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Huevo · Oruga · Crisálida · Mariposa. Access, not discounts.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86868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22960" y="90525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0" y="87965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Cultural docent (AI)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9098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Multilingual chat about any motif, technique, collection.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72200" y="86868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446520" y="90525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20840" y="87965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Visual search (AI)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0840" y="9098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Photograph any motif — find related products and their story.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96926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22960" y="100584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7280" y="98023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Scarf-tying studio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" y="10104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Video library of 30+ techniques. Parisian, ascot, headwrap, bag-handle.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72200" y="96926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446520" y="100584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20840" y="98023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Atelier services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20840" y="10104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Book cleaning, restoration, edge repair. Hotel pickup for tourists.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PHASE 2 · DEPTH (MONTHS 5–9)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AR, authenticity, gifting at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866"/>
                </a:solidFill>
                <a:latin typeface="Calibri"/>
              </a:rPr>
              <a:t>The features that turn a passport app into a complete cultural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AR scarf try-on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Cloth-drape simulation in your phone's camera mirror.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AR framing preview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Scarf as wall art — see the piece scaled to your wall before buying.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Tour-mode docent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AI generates a private curatorial essay on YOUR collection.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Voice-driven shopping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Speak in any language; results in voice + visuals.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Image-to-occasion matcher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Upload an outfit photo; AI suggests the right piece.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Photo authenticity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Vision model flags suspected counterfeits from a tag photo.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Heritage marketplace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Brand-curated re-release of vintage and discontinued pieces.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Gift-narration video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Auto-generated 60-sec film at the unbox moment.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67512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2960" y="704088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67848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Corporate gifting portal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7086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Bulk orders, dedications, white-glove handler. The diplomatic-gift origin business, modernised.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667512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46520" y="704088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67848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Predictive demand sensing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7086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Wishlists + waitlists + cultural calendar guide reprints.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PHASE 3 · CULTURAL AUTHORITY (MONTHS 10+)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From an app to a cultural institution.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866"/>
                </a:solidFill>
                <a:latin typeface="Calibri"/>
              </a:rPr>
              <a:t>Long-form storytelling, community, and operational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Editorial / culture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Long-form journal, artisan profiles, museum partner stories.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Atelier livestreams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Behind-the-scenes from the Polanco studio. Silk being printed live.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Limited-edition lottery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Fair distribution for high-demand collaborations.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AI bespoke concept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VIP only. Concept sketch routes to atelier for human design — never AI as final art.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Multilingual content scaling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Spanish-first, AI drafts EN/FR/IT/JP/ZH for editor review.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Counterfeit listing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Scans Mercado Libre, eBay, Amazon, Instagram for fakes.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VIP signal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Surfaces emerging high-value collectors before they self-identify.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Cultural-tour itineraries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App-curated cultural day in Mexico City — studio + Frida house + boutique.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Onboarding — under 90 seconds, in any language.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866"/>
                </a:solidFill>
                <a:latin typeface="Calibri"/>
              </a:rPr>
              <a:t>The international tourist must feel at home in the first screen. Language is offered before anything else.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A02747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Bienvenido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Welcome in six languages.</a:t>
            </a:r>
          </a:p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Tap your language; everything follows.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60904" y="4114800"/>
            <a:ext cx="164592" cy="365760"/>
          </a:xfrm>
          <a:prstGeom prst="rightArrow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A02747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Sign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Apple, Google, or email.</a:t>
            </a:r>
          </a:p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No forms. Tourists never read forms.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46904" y="4114800"/>
            <a:ext cx="164592" cy="365760"/>
          </a:xfrm>
          <a:prstGeom prst="rightArrow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0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A02747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Why we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Plain-language privacy note.</a:t>
            </a:r>
          </a:p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Opt-in to each data category.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32904" y="4114800"/>
            <a:ext cx="164592" cy="365760"/>
          </a:xfrm>
          <a:prstGeom prst="rightArrow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06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A02747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What do you love?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Pick three motifs:</a:t>
            </a:r>
          </a:p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Frida · Huichol · Monarcas · Codices · Día de Muertos.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518904" y="4114800"/>
            <a:ext cx="164592" cy="365760"/>
          </a:xfrm>
          <a:prstGeom prst="rightArrow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92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A02747"/>
                </a:solidFill>
                <a:latin typeface="Georgi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First moment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Scan a piece you own —</a:t>
            </a:r>
          </a:p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or explore the new drop.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02747"/>
                </a:solidFill>
                <a:latin typeface="Calibri"/>
              </a:rPr>
              <a:t>DESIGN PRINCIPLE   —   Language is the first form of welcome. Earn permission before asking for data.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USER FLOW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The tourist — from airport impulse to ongoing relationship.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866"/>
                </a:solidFill>
                <a:latin typeface="Calibri"/>
              </a:rPr>
              <a:t>40% of Mexican sales come from tourism. Most of those customers are never seen again. This is how we change that.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AIRPORT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Buys a Monarca scarf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Sees the piece at MEX boutique on departure. The associate hands her a small card: "scan to unlock the story."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THE PLANE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Opens the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Six-language welcome. Picks Japanese. Scans the tag. The Atelier opens — audio guide in Japanese, voiced by a curator.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Listens to the 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1:32 of a curator narrating the monarch's 4,500-km migration. Saves the piece to her digital archive. Reads about the Hidalgo workshop where it was printed.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WEEKS LATER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Returns for the gift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Mother's Day approaching. App suggests a Frida pocket square based on her motif preferences. She uses gift mode — wrapping, card, 30-sec video.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YEARS LATER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Crisálida tier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Now has 8 pieces registered. Invitation to the Polanco studio next time she's in Mexico. The relationship that began at a duty-free counter is now a 5-year story.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USER FLOW ·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The gift — half the volume, treated like the moment it 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866"/>
                </a:solidFill>
                <a:latin typeface="Calibri"/>
              </a:rPr>
              <a:t>Most apps treat gifting as a checkbox. We treat it as cinema.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CHOOSE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Asks the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"For my mother-in-law, contemporary Mexican art, $300." Three curated picks with reasoning. She picks the Codex Borgia square.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WRAP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Customise the parcel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Cempasúchil-paper wrapping, raffia tie, handwritten-style card in Spanish. Adds a 30-second video message recorded in the app.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Plan the moment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Delivery scheduled for Mother's Day morning. Recipient gets a notification when the parcel ships, another when it's delivered.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UNBOX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The recipient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Mother-in-law installs the app, taps "I just opened it." The video plays. Then the Atelier story unlocks — in Spanish, voiced by the original curator.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CONTINUE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A new relationship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The recipient keeps the app. The piece is registered to her now. Her own collector journey begins. One gift becomes two customers.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USER FLOW ·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The collector — Huevo to Mariposa.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866"/>
                </a:solidFill>
                <a:latin typeface="Calibri"/>
              </a:rPr>
              <a:t>Recognition replaces discounts. The tier ladder rewards what the brand actually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HUEVO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First piece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Registers their first scarf. App welcomes them as a collector. Shows the full Monarcas series and what's coming next.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ORUGA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Three pieces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Cultural calendar drops are now sent 24 hours before public. Care reminders specific to each piece. Tour-mode docent generates a private essay on their growing collection.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CRISÁLIDA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Six pieces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Invited to the Polanco studio next visit. Concierge messaging line opens — direct line to a stylist for the next purchase or gift.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MARIPOSA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Twelve pieces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Numbered editions reserved for them in advance. Annual signed piece. Invitation to the atelier livestream when their next-favourite series goes to print.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FOREVER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Becomes the 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Collection of 30+ pieces. Featured (with consent) in the brand's editorial. Their lineage of Pineda Covalín pieces becomes part of the brand's institutional record.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VISUAL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What it looks like in hand.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866"/>
                </a:solidFill>
                <a:latin typeface="Calibri"/>
              </a:rPr>
              <a:t>Wireframe-fidelity mockups in the brand palette — warm cream, cochineal carmine, saffron / cempasúchil gold.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6 languages · sign-in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36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036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Cultural calendar drop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Mercado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Browse by collection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092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092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Numbered edition · ask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Atelier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Audio guide · story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Scan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Authenticity verified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8892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8036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8036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El Docente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Multilingual AI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12064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12064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Gift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Scheduled unboxing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6948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6092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36092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Archive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Crisálida tier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0976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60120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60120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Travel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866"/>
                </a:solidFill>
                <a:latin typeface="Calibri"/>
              </a:rPr>
              <a:t>Boutiques · airport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02747"/>
                </a:solidFill>
                <a:latin typeface="Calibri"/>
              </a:rPr>
              <a:t>Full interactive HTML mockup available — opens in any browser, in the brand palette.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INTELLIGENCE · TIER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AI in service of the cultural story.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866"/>
                </a:solidFill>
                <a:latin typeface="Calibri"/>
              </a:rPr>
              <a:t>Every Tier 1 feature deepens the brand's authority. None replaces human craft.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A02747"/>
                </a:solidFill>
                <a:latin typeface="Georgia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Cultural docent (chat)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Multilingual conversational guide to motifs, techniques, collections. Sources curated by the brand.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A02747"/>
                </a:solidFill>
                <a:latin typeface="Georgia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Translation with cultural fidelity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Keeps Día de Muertos, Huichol, tehuana untranslated; explains concepts for non-Mexican audiences.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A02747"/>
                </a:solidFill>
                <a:latin typeface="Georgia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Gift recommender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Three curated picks with reasoning, in any language, for any occasion and budget.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A02747"/>
                </a:solidFill>
                <a:latin typeface="Georgia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Outfit &amp; occasion advisor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"A scarf for a wedding in Mexico City in October" — color theory, motif fit, cultural appropriateness.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A02747"/>
                </a:solidFill>
                <a:latin typeface="Georgia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Visual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Photograph any motif — find related products in catalog and heritage archive, plus their story.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A02747"/>
                </a:solidFill>
                <a:latin typeface="Georgia"/>
              </a:rP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Atelier passport summaries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One-paragraph plain-language origin stories for every SKU, editor-reviewed before publish.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INTELLIGENCE · TIER 2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AI that powers the gift, the loop, and the back office.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866"/>
                </a:solidFill>
                <a:latin typeface="Calibri"/>
              </a:rPr>
              <a:t>Phase 2 customer-facing AI plus operational AI the customer never sees.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A02747"/>
                </a:solidFill>
                <a:latin typeface="Georgia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AR scarf try-on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Phone-camera cloth-drape simulation. Match the motif to the outfit before you buy.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A02747"/>
                </a:solidFill>
                <a:latin typeface="Georgia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Photo authenticity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Vision model trained on real pieces flags suspected counterfeits from a tag photo.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A02747"/>
                </a:solidFill>
                <a:latin typeface="Georgia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Tour-mode private essay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AI writes a personal curatorial essay on YOUR registered collection.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A02747"/>
                </a:solidFill>
                <a:latin typeface="Georgia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Voice-driven shopping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Speak in your native language; results in voice + visuals. For tourists not literate in UI languages.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A02747"/>
                </a:solidFill>
                <a:latin typeface="Georgia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Gift-narration video (auto)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60-second film at the unbox moment, in the recipient's language, voiced by their region's curator.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A02747"/>
                </a:solidFill>
                <a:latin typeface="Georgia"/>
              </a:rP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Demand sensing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Wishlists + waitlists + cultural calendar predict which pieces to reprint, in which markets.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0644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" y="6035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035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A02747"/>
                </a:solidFill>
                <a:latin typeface="Georgia"/>
              </a:rPr>
              <a:t>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943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Multilingual content scaling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62636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Spanish-first; AI drafts EN/FR/IT/JP/ZH; editors review. Lets the brand publish across regions without 5× the team.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580644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0" y="6035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6035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A02747"/>
                </a:solidFill>
                <a:latin typeface="Georgia"/>
              </a:rPr>
              <a:t>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5943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1A14"/>
                </a:solidFill>
                <a:latin typeface="Calibri"/>
              </a:rPr>
              <a:t>Counterfeit listing detection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62636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AI scans marketplaces and Instagram for suspected fakes; flags for the legal team.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DATA WITH CONSENT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What we collect — and what we won't.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866"/>
                </a:solidFill>
                <a:latin typeface="Calibri"/>
              </a:rPr>
              <a:t>Default to opt-in per category. A self-serve "what we know about you" screen, always.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944368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Identity &amp;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35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email, name, address — for orders and shipping.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651760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19088" y="2944368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2743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Language &amp; 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3035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UI language, country, currency — multi-region brand essential.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38728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831336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30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Motif preferences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227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Frida / Huichol / Monarcas / Codices / Día de Muertos.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538728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19088" y="3831336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3630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Buyer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39227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gift vs self — drives the entire experience.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25696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71830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51713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Travel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80974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"visiting Mexico in November" — boutique appointments.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4425696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19088" y="471830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8" y="451713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Collection size &amp;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480974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for collector recognition and completion suggestions.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12664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560527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4041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Occasion patterns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6967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Mother's Day, anniversaries, holiday gifting cadence.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5312664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19088" y="560527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3408" y="54041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1A14"/>
                </a:solidFill>
                <a:latin typeface="Calibri"/>
              </a:rPr>
              <a:t>Channel of origin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56967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airport / museum / boutique / hotel / online — attribution.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08076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126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 DO NOT COLLECT  ·  precise GPS  ·  contacts  ·  social-graph imports  ·  third-party ad-tracking IDs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HOW IT'S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A modern stack — boring where it should be, sharp where it counts.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A14"/>
                </a:solidFill>
                <a:latin typeface="Calibri"/>
              </a:rPr>
              <a:t>•  React Native + Expo (iOS &amp; Android)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A14"/>
                </a:solidFill>
                <a:latin typeface="Calibri"/>
              </a:rPr>
              <a:t>•  OTA updates — fast cultural-calendar drops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A14"/>
                </a:solidFill>
                <a:latin typeface="Calibri"/>
              </a:rPr>
              <a:t>•  Apple / Google sign-in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Commerce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A14"/>
                </a:solidFill>
                <a:latin typeface="Calibri"/>
              </a:rPr>
              <a:t>•  Shopify or VTEX storefront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A14"/>
                </a:solidFill>
                <a:latin typeface="Calibri"/>
              </a:rPr>
              <a:t>•  Multi-currency · multi-region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A14"/>
                </a:solidFill>
                <a:latin typeface="Calibri"/>
              </a:rPr>
              <a:t>•  RevenueCat for any digital memberships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Cultural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A14"/>
                </a:solidFill>
                <a:latin typeface="Calibri"/>
              </a:rPr>
              <a:t>•  Node + TypeScript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A14"/>
                </a:solidFill>
                <a:latin typeface="Calibri"/>
              </a:rPr>
              <a:t>•  Postgres + pgvector for motif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A14"/>
                </a:solidFill>
                <a:latin typeface="Calibri"/>
              </a:rPr>
              <a:t>•  QR for v1; NFC for premium pieces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72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A14"/>
                </a:solidFill>
                <a:latin typeface="Calibri"/>
              </a:rPr>
              <a:t>•  Claude (Sonnet 4.6 chat, Haiku 4.5 batch)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A14"/>
                </a:solidFill>
                <a:latin typeface="Calibri"/>
              </a:rPr>
              <a:t>•  Embeddings for collection / motif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A14"/>
                </a:solidFill>
                <a:latin typeface="Calibri"/>
              </a:rPr>
              <a:t>•  PostHog analytics, Sentry errors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EL ESTUDIO · WEB ADMIN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The internal twin of the mobile app.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866"/>
                </a:solidFill>
                <a:latin typeface="Calibri"/>
              </a:rPr>
              <a:t>The customer uses the mobile app. Your team uses El Estudio. Same backend, same brand language — different surface for different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743200"/>
            <a:ext cx="39319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788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SHOPIFY / VTEX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1089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Catalog · orders · payments — unchanged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11064240" cy="640080"/>
          </a:xfrm>
          <a:prstGeom prst="roundRect">
            <a:avLst>
              <a:gd name="adj" fmla="val 12000"/>
            </a:avLst>
          </a:prstGeom>
          <a:solidFill>
            <a:srgbClr val="F7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04487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A02747"/>
                </a:solidFill>
                <a:latin typeface="Calibri"/>
              </a:rPr>
              <a:t>SHARED API · Postgres · Auth · AI gateway · Object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7316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MOBILE APP — IOS &amp; ANDROID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A14"/>
                </a:solidFill>
                <a:latin typeface="Calibri"/>
              </a:rPr>
              <a:t>Customer-facing · Atelier · Mercado · Gift Concierge · Traveler · Collector's Archive · El Docente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4754880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2A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77316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EL ESTUDIO — WEB ADMIN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1208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1A14"/>
                </a:solidFill>
                <a:latin typeface="Calibri"/>
              </a:rPr>
              <a:t>Internal · Atelier editor · translation workflow · cultural calendar · concierge inbox · VIP admin · authenticity ·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BUILT FOR YOUR TEAM   —   editors, curators, concierge, B2B managers, analysts. Bilingual ES/EN. Brand-palette UI.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HOW WE'LL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Roadmap — first nine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11064240" cy="25400"/>
          </a:xfrm>
          <a:prstGeom prst="rect">
            <a:avLst/>
          </a:prstGeom>
          <a:solidFill>
            <a:srgbClr val="E6D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Weeks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A1A14"/>
                </a:solidFill>
                <a:latin typeface="Georgia"/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Customer interviews (tourist, collector, corporate gifter, EU buyer, US buyer). Audit existing data. Lock Phase 1 scope. Brand language workshop.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Weeks 3–16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A1A14"/>
                </a:solidFill>
                <a:latin typeface="Georgia"/>
              </a:rPr>
              <a:t>Phase 1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Atelier, Mercado, Gift, Traveler, Archive. EN/ES at launch. Tier 1 AI. Soft launch from Polanco studio.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Weeks 17–32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A1A14"/>
                </a:solidFill>
                <a:latin typeface="Georgia"/>
              </a:rPr>
              <a:t>Phase 2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AR try-on, photo authenticity, corporate gifting portal, gift-narration video. Add FR/JP/ZH languages.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9556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1540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Weeks 33–40+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A1A14"/>
                </a:solidFill>
                <a:latin typeface="Georgia"/>
              </a:rPr>
              <a:t>Phase 3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Editorial engine, atelier livestreams, AI bespoke concept, demand sensing.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HOW WE'LL KNOW IT'S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The metrics that matter.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02747"/>
                </a:solidFill>
                <a:latin typeface="Calibri"/>
              </a:rPr>
              <a:t>Tourist retention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% of airport / museum buyers who install the app and register their piece within 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1A14"/>
                </a:solidFill>
                <a:latin typeface="Georgia"/>
              </a:rPr>
              <a:t>Target ≥ 35% by month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02747"/>
                </a:solidFill>
                <a:latin typeface="Calibri"/>
              </a:rPr>
              <a:t>Gift uptake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% of orders placed through gift-mode with scheduled unboxing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1A14"/>
                </a:solidFill>
                <a:latin typeface="Georgia"/>
              </a:rPr>
              <a:t>Target ≥ 40% by month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02747"/>
                </a:solidFill>
                <a:latin typeface="Calibri"/>
              </a:rPr>
              <a:t>Recipient activation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% of gift recipients who install the app and open the Atelier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1A14"/>
                </a:solidFill>
                <a:latin typeface="Georgia"/>
              </a:rPr>
              <a:t>Target ≥ 55%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02747"/>
                </a:solidFill>
                <a:latin typeface="Calibri"/>
              </a:rPr>
              <a:t>Collector depth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Average pieces registered per active 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1A14"/>
                </a:solidFill>
                <a:latin typeface="Georgia"/>
              </a:rPr>
              <a:t>Target ≥ 3 by month 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02747"/>
                </a:solidFill>
                <a:latin typeface="Calibri"/>
              </a:rPr>
              <a:t>Cross-language 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% of sessions in EN, FR, JP, ZH (non-ES)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1A14"/>
                </a:solidFill>
                <a:latin typeface="Georgia"/>
              </a:rPr>
              <a:t>Target ≥ 50% by month 12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02747"/>
                </a:solidFill>
                <a:latin typeface="Calibri"/>
              </a:rPr>
              <a:t>Authenticity confidence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% of pieces verified through the in-app authenticity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1A14"/>
                </a:solidFill>
                <a:latin typeface="Georgia"/>
              </a:rPr>
              <a:t>Target ≥ 70% of new sales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HOW IT WILL FEEL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Design principles.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02747"/>
                </a:solidFill>
                <a:latin typeface="Calibri"/>
              </a:rPr>
              <a:t>Calm, never kitsch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The motifs are bold; the interface is restrained. The silk does the talking.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46888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51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02747"/>
                </a:solidFill>
                <a:latin typeface="Calibri"/>
              </a:rPr>
              <a:t>Language is welcome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0632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Every customer's first language matters. Translation is cultural, not literal.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02747"/>
                </a:solidFill>
                <a:latin typeface="Calibri"/>
              </a:rPr>
              <a:t>Authenticity above 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AI never generates final designs or motifs. The cultural craft is the brand. Guard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862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02747"/>
                </a:solidFill>
                <a:latin typeface="Calibri"/>
              </a:rPr>
              <a:t>Gift as a moment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805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Half the volume is gifting. We design the moment, not just the checkout.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0352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02747"/>
                </a:solidFill>
                <a:latin typeface="Calibri"/>
              </a:rPr>
              <a:t>Recognition replaces discounts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Luxury earns loyalty through access — studio visits, advance drops, signed pieces. Not coupons.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530352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486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02747"/>
                </a:solidFill>
                <a:latin typeface="Calibri"/>
              </a:rPr>
              <a:t>Local trust, global 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8978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866"/>
                </a:solidFill>
                <a:latin typeface="Calibri"/>
              </a:rPr>
              <a:t>Built in México, for the world. The studio is the centre; every region is a guest of honour.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How we'd partner.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A02747"/>
                </a:solidFill>
                <a:latin typeface="Georgia"/>
              </a:rPr>
              <a:t>Discovery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866"/>
                </a:solidFill>
                <a:latin typeface="Calibri"/>
              </a:rPr>
              <a:t>Two weeks. We sit at the Polanco studio. Talk to ten of your customers — tourist, collector, corporate gifter, three regions. Walk away with a signed Phase 1 scope, even if you don't build with 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8600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560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A02747"/>
                </a:solidFill>
                <a:latin typeface="Georgia"/>
              </a:rPr>
              <a:t>Embedded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546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866"/>
                </a:solidFill>
                <a:latin typeface="Calibri"/>
              </a:rPr>
              <a:t>A small team — a lead engineer, a mobile engineer, a designer, a Spanish-language QA — works as an extension of yours. Weekly demos, never a black box.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A02747"/>
                </a:solidFill>
                <a:latin typeface="Georgia"/>
              </a:rPr>
              <a:t>Cultural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866"/>
                </a:solidFill>
                <a:latin typeface="Calibri"/>
              </a:rPr>
              <a:t>Every customer-facing string of cultural content reviewed by a curator the brand chooses. AI generates; humans approve.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25196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526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A02747"/>
                </a:solidFill>
                <a:latin typeface="Georgia"/>
              </a:rPr>
              <a:t>Always your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1206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866"/>
                </a:solidFill>
                <a:latin typeface="Calibri"/>
              </a:rPr>
              <a:t>Source code, customer data, model logs all live in your accounts. Multi-region storage to honour data-residency rules.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2747"/>
                </a:solidFill>
                <a:latin typeface="Calibri"/>
              </a:rPr>
              <a:t>WHY THIS WORKS FOR PINEDA COVALÍN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1A14"/>
                </a:solidFill>
                <a:latin typeface="Georgia"/>
              </a:rPr>
              <a:t>The bet behind the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A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73152" cy="868680"/>
          </a:xfrm>
          <a:prstGeom prst="rect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A14"/>
                </a:solidFill>
                <a:latin typeface="Georgia"/>
              </a:rPr>
              <a:t>Your story is your 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866"/>
                </a:solidFill>
                <a:latin typeface="Calibri"/>
              </a:rPr>
              <a:t>No global luxury house can claim authentic Mexican cultural craft. The Atelier passport puts that authority in the customer's hand, in their language.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73152" cy="868680"/>
          </a:xfrm>
          <a:prstGeom prst="rect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A14"/>
                </a:solidFill>
                <a:latin typeface="Georgia"/>
              </a:rPr>
              <a:t>The tourist is your hidden 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49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866"/>
                </a:solidFill>
                <a:latin typeface="Calibri"/>
              </a:rPr>
              <a:t>40% of your sales walk away never to return. The app makes them collectors. Even a 10% retention shift is the largest growth lever you have.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73152" cy="868680"/>
          </a:xfrm>
          <a:prstGeom prst="rect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51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A14"/>
                </a:solidFill>
                <a:latin typeface="Georgia"/>
              </a:rPr>
              <a:t>The gift is a Trojan horse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866"/>
                </a:solidFill>
                <a:latin typeface="Calibri"/>
              </a:rPr>
              <a:t>Half your volume creates a new customer at every unboxing — your recipient flow is acquisition disguised as service.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6360"/>
            <a:ext cx="73152" cy="868680"/>
          </a:xfrm>
          <a:prstGeom prst="rect">
            <a:avLst/>
          </a:prstGeom>
          <a:solidFill>
            <a:srgbClr val="A0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1A14"/>
                </a:solidFill>
                <a:latin typeface="Georgia"/>
              </a:rPr>
              <a:t>Built to honour, not exploit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69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866"/>
                </a:solidFill>
                <a:latin typeface="Calibri"/>
              </a:rPr>
              <a:t>AI in service of cultural craft, never replacing it. The brand's reputation grows safer, not riskier, in the building.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866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866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93808" y="932688"/>
            <a:ext cx="329184" cy="329184"/>
          </a:xfrm>
          <a:prstGeom prst="ellipse">
            <a:avLst/>
          </a:prstGeom>
          <a:solidFill>
            <a:srgbClr val="D8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10544" y="2432303"/>
            <a:ext cx="256032" cy="256032"/>
          </a:xfrm>
          <a:prstGeom prst="ellipse">
            <a:avLst/>
          </a:prstGeom>
          <a:solidFill>
            <a:srgbClr val="D8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08592" y="3456432"/>
            <a:ext cx="402336" cy="402336"/>
          </a:xfrm>
          <a:prstGeom prst="ellipse">
            <a:avLst/>
          </a:prstGeom>
          <a:solidFill>
            <a:srgbClr val="D8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26496" y="4791456"/>
            <a:ext cx="292608" cy="292608"/>
          </a:xfrm>
          <a:prstGeom prst="ellipse">
            <a:avLst/>
          </a:prstGeom>
          <a:solidFill>
            <a:srgbClr val="D8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31552" y="5742432"/>
            <a:ext cx="219456" cy="219456"/>
          </a:xfrm>
          <a:prstGeom prst="ellipse">
            <a:avLst/>
          </a:prstGeom>
          <a:solidFill>
            <a:srgbClr val="D8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0" y="4114800"/>
            <a:ext cx="182880" cy="182880"/>
          </a:xfrm>
          <a:prstGeom prst="ellipse">
            <a:avLst/>
          </a:prstGeom>
          <a:solidFill>
            <a:srgbClr val="D8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89B3D"/>
                </a:solidFill>
                <a:latin typeface="Calibri"/>
              </a:rPr>
              <a:t>NEXT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0584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>
                <a:solidFill>
                  <a:srgbClr val="FFFFFF"/>
                </a:solidFill>
                <a:latin typeface="Georgia"/>
              </a:rPr>
              <a:t>A two-week paid discovery.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7E0D8"/>
                </a:solidFill>
                <a:latin typeface="Calibri"/>
              </a:rPr>
              <a:t>We sit at the Polanco studio. We talk to ten of your customers — a tourist, a collector, a corporate gifter, three regions. We audit what you already know about them. We come back with a lockable Phase 1 scope and a working interactive prototype of the Atelier, the gift flow, and the docent in three languages.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89B3D"/>
                </a:solidFill>
                <a:latin typeface="Calibri"/>
              </a:rPr>
              <a:t>WHAT YOU 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lockable feature scope, costed and timeboxed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An interactive prototype of three core flows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summary of the customer interviews and what we heard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go / no-go recommendation. Yours either way.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7E0D8"/>
                </a:solidFill>
                <a:latin typeface="Calibri"/>
              </a:rPr>
              <a:t>Pineda Covalín · Mobile App Pitch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7E0D8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