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192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9295" cy="1828800"/>
          </a:xfrm>
          <a:prstGeom prst="rect">
            <a:avLst/>
          </a:prstGeom>
          <a:solidFill>
            <a:srgbClr val="A82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0"/>
            <a:ext cx="4419295" cy="457200"/>
          </a:xfrm>
          <a:prstGeom prst="rect">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0" y="1097280"/>
            <a:ext cx="365760" cy="365760"/>
          </a:xfrm>
          <a:prstGeom prst="ellipse">
            <a:avLst/>
          </a:prstGeom>
          <a:solidFill>
            <a:srgbClr val="D4A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20272" y="2633472"/>
            <a:ext cx="219456" cy="219456"/>
          </a:xfrm>
          <a:prstGeom prst="ellipse">
            <a:avLst/>
          </a:prstGeom>
          <a:solidFill>
            <a:srgbClr val="D4A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45168" y="3675888"/>
            <a:ext cx="329184" cy="329184"/>
          </a:xfrm>
          <a:prstGeom prst="ellipse">
            <a:avLst/>
          </a:prstGeom>
          <a:solidFill>
            <a:srgbClr val="D4A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44784" y="4992624"/>
            <a:ext cx="256032" cy="256032"/>
          </a:xfrm>
          <a:prstGeom prst="ellipse">
            <a:avLst/>
          </a:prstGeom>
          <a:solidFill>
            <a:srgbClr val="D4A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0" y="6035040"/>
            <a:ext cx="182880" cy="182880"/>
          </a:xfrm>
          <a:prstGeom prst="ellipse">
            <a:avLst/>
          </a:prstGeom>
          <a:solidFill>
            <a:srgbClr val="D4A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914400"/>
            <a:ext cx="73152" cy="2194560"/>
          </a:xfrm>
          <a:prstGeom prst="rect">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914400"/>
            <a:ext cx="6400800" cy="365760"/>
          </a:xfrm>
          <a:prstGeom prst="rect">
            <a:avLst/>
          </a:prstGeom>
          <a:noFill/>
        </p:spPr>
        <p:txBody>
          <a:bodyPr wrap="square" lIns="0" rIns="0" tIns="0" bIns="0" anchor="t">
            <a:spAutoFit/>
          </a:bodyPr>
          <a:lstStyle/>
          <a:p>
            <a:pPr algn="l"/>
            <a:r>
              <a:rPr sz="1100" b="1">
                <a:solidFill>
                  <a:srgbClr val="A82E60"/>
                </a:solidFill>
                <a:latin typeface="Calibri"/>
              </a:rPr>
              <a:t>MOBILE APP · PITCH</a:t>
            </a:r>
          </a:p>
        </p:txBody>
      </p:sp>
      <p:sp>
        <p:nvSpPr>
          <p:cNvPr id="13" name="TextBox 12"/>
          <p:cNvSpPr txBox="1"/>
          <p:nvPr/>
        </p:nvSpPr>
        <p:spPr>
          <a:xfrm>
            <a:off x="777240" y="1325880"/>
            <a:ext cx="7315200" cy="1828800"/>
          </a:xfrm>
          <a:prstGeom prst="rect">
            <a:avLst/>
          </a:prstGeom>
          <a:noFill/>
        </p:spPr>
        <p:txBody>
          <a:bodyPr wrap="square" lIns="0" rIns="0" tIns="0" bIns="0" anchor="t">
            <a:spAutoFit/>
          </a:bodyPr>
          <a:lstStyle/>
          <a:p>
            <a:pPr algn="l"/>
            <a:r>
              <a:rPr sz="6600" b="0">
                <a:solidFill>
                  <a:srgbClr val="1A1A1A"/>
                </a:solidFill>
                <a:latin typeface="Georgia"/>
              </a:rPr>
              <a:t>The Ten Spot.</a:t>
            </a:r>
          </a:p>
        </p:txBody>
      </p:sp>
      <p:sp>
        <p:nvSpPr>
          <p:cNvPr id="14" name="TextBox 13"/>
          <p:cNvSpPr txBox="1"/>
          <p:nvPr/>
        </p:nvSpPr>
        <p:spPr>
          <a:xfrm>
            <a:off x="777240" y="2468880"/>
            <a:ext cx="6858000" cy="1463040"/>
          </a:xfrm>
          <a:prstGeom prst="rect">
            <a:avLst/>
          </a:prstGeom>
          <a:noFill/>
        </p:spPr>
        <p:txBody>
          <a:bodyPr wrap="square" lIns="0" rIns="0" tIns="0" bIns="0" anchor="t">
            <a:spAutoFit/>
          </a:bodyPr>
          <a:lstStyle/>
          <a:p>
            <a:pPr algn="l"/>
            <a:r>
              <a:rPr sz="2800" b="0">
                <a:solidFill>
                  <a:srgbClr val="A82E60"/>
                </a:solidFill>
                <a:latin typeface="Georgia"/>
              </a:rPr>
              <a:t>Book the spot.</a:t>
            </a:r>
          </a:p>
          <a:p>
            <a:pPr algn="l"/>
            <a:r>
              <a:rPr sz="2800" b="0">
                <a:solidFill>
                  <a:srgbClr val="A82E60"/>
                </a:solidFill>
                <a:latin typeface="Georgia"/>
              </a:rPr>
              <a:t>Skip the spa.</a:t>
            </a:r>
          </a:p>
        </p:txBody>
      </p:sp>
      <p:sp>
        <p:nvSpPr>
          <p:cNvPr id="15" name="TextBox 14"/>
          <p:cNvSpPr txBox="1"/>
          <p:nvPr/>
        </p:nvSpPr>
        <p:spPr>
          <a:xfrm>
            <a:off x="777240" y="5120640"/>
            <a:ext cx="6858000" cy="365760"/>
          </a:xfrm>
          <a:prstGeom prst="rect">
            <a:avLst/>
          </a:prstGeom>
          <a:noFill/>
        </p:spPr>
        <p:txBody>
          <a:bodyPr wrap="square" lIns="0" rIns="0" tIns="0" bIns="0" anchor="t">
            <a:spAutoFit/>
          </a:bodyPr>
          <a:lstStyle/>
          <a:p>
            <a:pPr algn="l"/>
            <a:r>
              <a:rPr sz="1400" b="0">
                <a:solidFill>
                  <a:srgbClr val="8A8485"/>
                </a:solidFill>
                <a:latin typeface="Calibri"/>
              </a:rPr>
              <a:t>33+ beauty bars across North America. One app.</a:t>
            </a:r>
          </a:p>
        </p:txBody>
      </p:sp>
      <p:sp>
        <p:nvSpPr>
          <p:cNvPr id="16" name="TextBox 15"/>
          <p:cNvSpPr txBox="1"/>
          <p:nvPr/>
        </p:nvSpPr>
        <p:spPr>
          <a:xfrm>
            <a:off x="777240" y="5486400"/>
            <a:ext cx="6858000" cy="274320"/>
          </a:xfrm>
          <a:prstGeom prst="rect">
            <a:avLst/>
          </a:prstGeom>
          <a:noFill/>
        </p:spPr>
        <p:txBody>
          <a:bodyPr wrap="square" lIns="0" rIns="0" tIns="0" bIns="0" anchor="t">
            <a:spAutoFit/>
          </a:bodyPr>
          <a:lstStyle/>
          <a:p>
            <a:pPr algn="l"/>
            <a:r>
              <a:rPr sz="1100" b="0">
                <a:solidFill>
                  <a:srgbClr val="8A8485"/>
                </a:solidFill>
                <a:latin typeface="Calibri"/>
              </a:rPr>
              <a:t>Prepared for the Ten Spot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WHY NOW</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Booking is the product. The brand has earned 33+ locations.</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194560"/>
            <a:ext cx="3657600" cy="36576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26080" cy="1280160"/>
          </a:xfrm>
          <a:prstGeom prst="rect">
            <a:avLst/>
          </a:prstGeom>
          <a:noFill/>
        </p:spPr>
        <p:txBody>
          <a:bodyPr wrap="square" lIns="0" rIns="0" tIns="0" bIns="0" anchor="t">
            <a:spAutoFit/>
          </a:bodyPr>
          <a:lstStyle/>
          <a:p>
            <a:pPr algn="l"/>
            <a:r>
              <a:rPr sz="5800" b="0">
                <a:solidFill>
                  <a:srgbClr val="A82E60"/>
                </a:solidFill>
                <a:latin typeface="Georgia"/>
              </a:rPr>
              <a:t>33+</a:t>
            </a:r>
          </a:p>
        </p:txBody>
      </p:sp>
      <p:sp>
        <p:nvSpPr>
          <p:cNvPr id="8" name="TextBox 7"/>
          <p:cNvSpPr txBox="1"/>
          <p:nvPr/>
        </p:nvSpPr>
        <p:spPr>
          <a:xfrm>
            <a:off x="914400" y="3749040"/>
            <a:ext cx="2926080" cy="914400"/>
          </a:xfrm>
          <a:prstGeom prst="rect">
            <a:avLst/>
          </a:prstGeom>
          <a:noFill/>
        </p:spPr>
        <p:txBody>
          <a:bodyPr wrap="square" lIns="0" rIns="0" tIns="0" bIns="0" anchor="t">
            <a:spAutoFit/>
          </a:bodyPr>
          <a:lstStyle/>
          <a:p>
            <a:pPr algn="l"/>
            <a:r>
              <a:rPr sz="1400" b="1">
                <a:solidFill>
                  <a:srgbClr val="1A1A1A"/>
                </a:solidFill>
                <a:latin typeface="Calibri"/>
              </a:rPr>
              <a:t>beauty bars across</a:t>
            </a:r>
          </a:p>
          <a:p>
            <a:pPr algn="l"/>
            <a:r>
              <a:rPr sz="1400" b="1">
                <a:solidFill>
                  <a:srgbClr val="1A1A1A"/>
                </a:solidFill>
                <a:latin typeface="Calibri"/>
              </a:rPr>
              <a:t>North America</a:t>
            </a:r>
          </a:p>
        </p:txBody>
      </p:sp>
      <p:sp>
        <p:nvSpPr>
          <p:cNvPr id="9" name="TextBox 8"/>
          <p:cNvSpPr txBox="1"/>
          <p:nvPr/>
        </p:nvSpPr>
        <p:spPr>
          <a:xfrm>
            <a:off x="914400" y="4846320"/>
            <a:ext cx="2926080" cy="914400"/>
          </a:xfrm>
          <a:prstGeom prst="rect">
            <a:avLst/>
          </a:prstGeom>
          <a:noFill/>
        </p:spPr>
        <p:txBody>
          <a:bodyPr wrap="square" lIns="0" rIns="0" tIns="0" bIns="0" anchor="t">
            <a:spAutoFit/>
          </a:bodyPr>
          <a:lstStyle/>
          <a:p>
            <a:pPr algn="l"/>
            <a:r>
              <a:rPr sz="1200" b="0">
                <a:solidFill>
                  <a:srgbClr val="8A8485"/>
                </a:solidFill>
                <a:latin typeface="Calibri"/>
              </a:rPr>
              <a:t>Largest multi-service beauty-bar franchise in NA. Largest opportunity to lead on app-booking.</a:t>
            </a:r>
          </a:p>
        </p:txBody>
      </p:sp>
      <p:sp>
        <p:nvSpPr>
          <p:cNvPr id="10" name="Rounded Rectangle 9"/>
          <p:cNvSpPr/>
          <p:nvPr/>
        </p:nvSpPr>
        <p:spPr>
          <a:xfrm>
            <a:off x="4389120" y="2194560"/>
            <a:ext cx="3657600" cy="36576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560320"/>
            <a:ext cx="2926080" cy="1280160"/>
          </a:xfrm>
          <a:prstGeom prst="rect">
            <a:avLst/>
          </a:prstGeom>
          <a:noFill/>
        </p:spPr>
        <p:txBody>
          <a:bodyPr wrap="square" lIns="0" rIns="0" tIns="0" bIns="0" anchor="t">
            <a:spAutoFit/>
          </a:bodyPr>
          <a:lstStyle/>
          <a:p>
            <a:pPr algn="l"/>
            <a:r>
              <a:rPr sz="5800" b="0">
                <a:solidFill>
                  <a:srgbClr val="A82E60"/>
                </a:solidFill>
                <a:latin typeface="Georgia"/>
              </a:rPr>
              <a:t>4 wk</a:t>
            </a:r>
          </a:p>
        </p:txBody>
      </p:sp>
      <p:sp>
        <p:nvSpPr>
          <p:cNvPr id="12" name="TextBox 11"/>
          <p:cNvSpPr txBox="1"/>
          <p:nvPr/>
        </p:nvSpPr>
        <p:spPr>
          <a:xfrm>
            <a:off x="4754880" y="3749040"/>
            <a:ext cx="2926080" cy="914400"/>
          </a:xfrm>
          <a:prstGeom prst="rect">
            <a:avLst/>
          </a:prstGeom>
          <a:noFill/>
        </p:spPr>
        <p:txBody>
          <a:bodyPr wrap="square" lIns="0" rIns="0" tIns="0" bIns="0" anchor="t">
            <a:spAutoFit/>
          </a:bodyPr>
          <a:lstStyle/>
          <a:p>
            <a:pPr algn="l"/>
            <a:r>
              <a:rPr sz="1400" b="1">
                <a:solidFill>
                  <a:srgbClr val="1A1A1A"/>
                </a:solidFill>
                <a:latin typeface="Calibri"/>
              </a:rPr>
              <a:t>average customer cadence —</a:t>
            </a:r>
          </a:p>
          <a:p>
            <a:pPr algn="l"/>
            <a:r>
              <a:rPr sz="1400" b="1">
                <a:solidFill>
                  <a:srgbClr val="1A1A1A"/>
                </a:solidFill>
                <a:latin typeface="Calibri"/>
              </a:rPr>
              <a:t>wax, lash, brow</a:t>
            </a:r>
          </a:p>
        </p:txBody>
      </p:sp>
      <p:sp>
        <p:nvSpPr>
          <p:cNvPr id="13" name="TextBox 12"/>
          <p:cNvSpPr txBox="1"/>
          <p:nvPr/>
        </p:nvSpPr>
        <p:spPr>
          <a:xfrm>
            <a:off x="4754880" y="4846320"/>
            <a:ext cx="2926080" cy="914400"/>
          </a:xfrm>
          <a:prstGeom prst="rect">
            <a:avLst/>
          </a:prstGeom>
          <a:noFill/>
        </p:spPr>
        <p:txBody>
          <a:bodyPr wrap="square" lIns="0" rIns="0" tIns="0" bIns="0" anchor="t">
            <a:spAutoFit/>
          </a:bodyPr>
          <a:lstStyle/>
          <a:p>
            <a:pPr algn="l"/>
            <a:r>
              <a:rPr sz="1200" b="0">
                <a:solidFill>
                  <a:srgbClr val="8A8485"/>
                </a:solidFill>
                <a:latin typeface="Calibri"/>
              </a:rPr>
              <a:t>Recurring customer = highest LTV in the category. The app keeps her in the loop.</a:t>
            </a:r>
          </a:p>
        </p:txBody>
      </p:sp>
      <p:sp>
        <p:nvSpPr>
          <p:cNvPr id="14" name="Rounded Rectangle 13"/>
          <p:cNvSpPr/>
          <p:nvPr/>
        </p:nvSpPr>
        <p:spPr>
          <a:xfrm>
            <a:off x="8229600" y="2194560"/>
            <a:ext cx="3657600" cy="36576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2560320"/>
            <a:ext cx="2926080" cy="1280160"/>
          </a:xfrm>
          <a:prstGeom prst="rect">
            <a:avLst/>
          </a:prstGeom>
          <a:noFill/>
        </p:spPr>
        <p:txBody>
          <a:bodyPr wrap="square" lIns="0" rIns="0" tIns="0" bIns="0" anchor="t">
            <a:spAutoFit/>
          </a:bodyPr>
          <a:lstStyle/>
          <a:p>
            <a:pPr algn="l"/>
            <a:r>
              <a:rPr sz="5800" b="0">
                <a:solidFill>
                  <a:srgbClr val="A82E60"/>
                </a:solidFill>
                <a:latin typeface="Georgia"/>
              </a:rPr>
              <a:t>68%</a:t>
            </a:r>
          </a:p>
        </p:txBody>
      </p:sp>
      <p:sp>
        <p:nvSpPr>
          <p:cNvPr id="16" name="TextBox 15"/>
          <p:cNvSpPr txBox="1"/>
          <p:nvPr/>
        </p:nvSpPr>
        <p:spPr>
          <a:xfrm>
            <a:off x="8595360" y="3749040"/>
            <a:ext cx="2926080" cy="914400"/>
          </a:xfrm>
          <a:prstGeom prst="rect">
            <a:avLst/>
          </a:prstGeom>
          <a:noFill/>
        </p:spPr>
        <p:txBody>
          <a:bodyPr wrap="square" lIns="0" rIns="0" tIns="0" bIns="0" anchor="t">
            <a:spAutoFit/>
          </a:bodyPr>
          <a:lstStyle/>
          <a:p>
            <a:pPr algn="l"/>
            <a:r>
              <a:rPr sz="1400" b="1">
                <a:solidFill>
                  <a:srgbClr val="1A1A1A"/>
                </a:solidFill>
                <a:latin typeface="Calibri"/>
              </a:rPr>
              <a:t>of bookings can be self-served</a:t>
            </a:r>
          </a:p>
          <a:p>
            <a:pPr algn="l"/>
            <a:r>
              <a:rPr sz="1400" b="1">
                <a:solidFill>
                  <a:srgbClr val="1A1A1A"/>
                </a:solidFill>
                <a:latin typeface="Calibri"/>
              </a:rPr>
              <a:t>on a great app (industry data)</a:t>
            </a:r>
          </a:p>
        </p:txBody>
      </p:sp>
      <p:sp>
        <p:nvSpPr>
          <p:cNvPr id="17" name="TextBox 16"/>
          <p:cNvSpPr txBox="1"/>
          <p:nvPr/>
        </p:nvSpPr>
        <p:spPr>
          <a:xfrm>
            <a:off x="8595360" y="4846320"/>
            <a:ext cx="2926080" cy="914400"/>
          </a:xfrm>
          <a:prstGeom prst="rect">
            <a:avLst/>
          </a:prstGeom>
          <a:noFill/>
        </p:spPr>
        <p:txBody>
          <a:bodyPr wrap="square" lIns="0" rIns="0" tIns="0" bIns="0" anchor="t">
            <a:spAutoFit/>
          </a:bodyPr>
          <a:lstStyle/>
          <a:p>
            <a:pPr algn="l"/>
            <a:r>
              <a:rPr sz="1200" b="0">
                <a:solidFill>
                  <a:srgbClr val="8A8485"/>
                </a:solidFill>
                <a:latin typeface="Calibri"/>
              </a:rPr>
              <a:t>Each location saves 10–15 hr/week of phone-bound staff time.</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THE VISION</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Not another store — a booking + relationship engine.</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0972800" cy="2286000"/>
          </a:xfrm>
          <a:prstGeom prst="rect">
            <a:avLst/>
          </a:prstGeom>
          <a:noFill/>
        </p:spPr>
        <p:txBody>
          <a:bodyPr wrap="square" lIns="0" rIns="0" tIns="0" bIns="0" anchor="t">
            <a:spAutoFit/>
          </a:bodyPr>
          <a:lstStyle/>
          <a:p>
            <a:pPr algn="l"/>
            <a:r>
              <a:rPr sz="2000" b="0">
                <a:solidFill>
                  <a:srgbClr val="1A1A1A"/>
                </a:solidFill>
                <a:latin typeface="Georgia"/>
              </a:rPr>
              <a:t>The Ten Spot's customer books recurring services every 3–4 weeks across multiple locations. The app should make booking effortless and the prep + aftercare educational. A flow that knows your favorite location and favorite technician. An automated calendar of "your next appointments are due." Service-specific prep guides (don't shave 24 hours before a wax) and aftercare (no sun for 48 hours after laser). And a membership wallet that travels across all 33+ locations.</a:t>
            </a:r>
          </a:p>
        </p:txBody>
      </p:sp>
      <p:sp>
        <p:nvSpPr>
          <p:cNvPr id="7" name="TextBox 6"/>
          <p:cNvSpPr txBox="1"/>
          <p:nvPr/>
        </p:nvSpPr>
        <p:spPr>
          <a:xfrm>
            <a:off x="548640" y="5303520"/>
            <a:ext cx="10972800" cy="365760"/>
          </a:xfrm>
          <a:prstGeom prst="rect">
            <a:avLst/>
          </a:prstGeom>
          <a:noFill/>
        </p:spPr>
        <p:txBody>
          <a:bodyPr wrap="square" lIns="0" rIns="0" tIns="0" bIns="0" anchor="t">
            <a:spAutoFit/>
          </a:bodyPr>
          <a:lstStyle/>
          <a:p>
            <a:pPr algn="l"/>
            <a:r>
              <a:rPr sz="1000" b="1">
                <a:solidFill>
                  <a:srgbClr val="A82E60"/>
                </a:solidFill>
                <a:latin typeface="Calibri"/>
              </a:rPr>
              <a:t>WHY IT MATTERS</a:t>
            </a:r>
          </a:p>
        </p:txBody>
      </p:sp>
      <p:sp>
        <p:nvSpPr>
          <p:cNvPr id="8" name="TextBox 7"/>
          <p:cNvSpPr txBox="1"/>
          <p:nvPr/>
        </p:nvSpPr>
        <p:spPr>
          <a:xfrm>
            <a:off x="548640" y="5577840"/>
            <a:ext cx="10972800" cy="1371600"/>
          </a:xfrm>
          <a:prstGeom prst="rect">
            <a:avLst/>
          </a:prstGeom>
          <a:noFill/>
        </p:spPr>
        <p:txBody>
          <a:bodyPr wrap="square" lIns="0" rIns="0" tIns="0" bIns="0" anchor="t">
            <a:spAutoFit/>
          </a:bodyPr>
          <a:lstStyle/>
          <a:p>
            <a:pPr algn="l"/>
            <a:r>
              <a:rPr sz="1300" b="0">
                <a:solidFill>
                  <a:srgbClr val="1A1A1A"/>
                </a:solidFill>
                <a:latin typeface="Calibri"/>
              </a:rPr>
              <a:t>• Self-served booking saves each franchise 10–15 hr/week of phone-bound staff time</a:t>
            </a:r>
          </a:p>
          <a:p>
            <a:pPr algn="l"/>
            <a:r>
              <a:rPr sz="1300" b="0">
                <a:solidFill>
                  <a:srgbClr val="1A1A1A"/>
                </a:solidFill>
                <a:latin typeface="Calibri"/>
              </a:rPr>
              <a:t>• Cadence-aware push notifications keep customers booking on the brand's natural rhythm</a:t>
            </a:r>
          </a:p>
          <a:p>
            <a:pPr algn="l"/>
            <a:r>
              <a:rPr sz="1300" b="0">
                <a:solidFill>
                  <a:srgbClr val="1A1A1A"/>
                </a:solidFill>
                <a:latin typeface="Calibri"/>
              </a:rPr>
              <a:t>• Multi-location wallet + membership lets customers move between locations without friction</a:t>
            </a:r>
          </a:p>
        </p:txBody>
      </p:sp>
      <p:sp>
        <p:nvSpPr>
          <p:cNvPr id="9" name="TextBox 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10" name="TextBox 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PRODUCT OVERVIEW</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Six pillars — five customer-facing, one internal.</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194560"/>
            <a:ext cx="3657600" cy="2057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194560"/>
            <a:ext cx="91440" cy="205740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3108960" cy="365760"/>
          </a:xfrm>
          <a:prstGeom prst="rect">
            <a:avLst/>
          </a:prstGeom>
          <a:noFill/>
        </p:spPr>
        <p:txBody>
          <a:bodyPr wrap="square" lIns="0" rIns="0" tIns="0" bIns="0" anchor="t">
            <a:spAutoFit/>
          </a:bodyPr>
          <a:lstStyle/>
          <a:p>
            <a:pPr algn="l"/>
            <a:r>
              <a:rPr sz="2000" b="1">
                <a:solidFill>
                  <a:srgbClr val="E85A8C"/>
                </a:solidFill>
                <a:latin typeface="Georgia"/>
              </a:rPr>
              <a:t>1</a:t>
            </a:r>
          </a:p>
        </p:txBody>
      </p:sp>
      <p:sp>
        <p:nvSpPr>
          <p:cNvPr id="9" name="TextBox 8"/>
          <p:cNvSpPr txBox="1"/>
          <p:nvPr/>
        </p:nvSpPr>
        <p:spPr>
          <a:xfrm>
            <a:off x="822960" y="2834640"/>
            <a:ext cx="3108960" cy="457200"/>
          </a:xfrm>
          <a:prstGeom prst="rect">
            <a:avLst/>
          </a:prstGeom>
          <a:noFill/>
        </p:spPr>
        <p:txBody>
          <a:bodyPr wrap="square" lIns="0" rIns="0" tIns="0" bIns="0" anchor="t">
            <a:spAutoFit/>
          </a:bodyPr>
          <a:lstStyle/>
          <a:p>
            <a:pPr algn="l"/>
            <a:r>
              <a:rPr sz="2000" b="0">
                <a:solidFill>
                  <a:srgbClr val="1A1A1A"/>
                </a:solidFill>
                <a:latin typeface="Georgia"/>
              </a:rPr>
              <a:t>Book</a:t>
            </a:r>
          </a:p>
        </p:txBody>
      </p:sp>
      <p:sp>
        <p:nvSpPr>
          <p:cNvPr id="10" name="TextBox 9"/>
          <p:cNvSpPr txBox="1"/>
          <p:nvPr/>
        </p:nvSpPr>
        <p:spPr>
          <a:xfrm>
            <a:off x="822960" y="3337560"/>
            <a:ext cx="3108960" cy="914400"/>
          </a:xfrm>
          <a:prstGeom prst="rect">
            <a:avLst/>
          </a:prstGeom>
          <a:noFill/>
        </p:spPr>
        <p:txBody>
          <a:bodyPr wrap="square" lIns="0" rIns="0" tIns="0" bIns="0" anchor="t">
            <a:spAutoFit/>
          </a:bodyPr>
          <a:lstStyle/>
          <a:p>
            <a:pPr algn="l"/>
            <a:r>
              <a:rPr sz="1100" b="0">
                <a:solidFill>
                  <a:srgbClr val="8A8485"/>
                </a:solidFill>
                <a:latin typeface="Calibri"/>
              </a:rPr>
              <a:t>One-tap re-book. Location + technician + service. Wait-list when full.</a:t>
            </a:r>
          </a:p>
        </p:txBody>
      </p:sp>
      <p:sp>
        <p:nvSpPr>
          <p:cNvPr id="11" name="Rounded Rectangle 10"/>
          <p:cNvSpPr/>
          <p:nvPr/>
        </p:nvSpPr>
        <p:spPr>
          <a:xfrm>
            <a:off x="4343400" y="2194560"/>
            <a:ext cx="3657600" cy="2057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2194560"/>
            <a:ext cx="91440" cy="2057400"/>
          </a:xfrm>
          <a:prstGeom prst="roundRect">
            <a:avLst>
              <a:gd name="adj" fmla="val 12000"/>
            </a:avLst>
          </a:prstGeom>
          <a:solidFill>
            <a:srgbClr val="D4A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108960" cy="365760"/>
          </a:xfrm>
          <a:prstGeom prst="rect">
            <a:avLst/>
          </a:prstGeom>
          <a:noFill/>
        </p:spPr>
        <p:txBody>
          <a:bodyPr wrap="square" lIns="0" rIns="0" tIns="0" bIns="0" anchor="t">
            <a:spAutoFit/>
          </a:bodyPr>
          <a:lstStyle/>
          <a:p>
            <a:pPr algn="l"/>
            <a:r>
              <a:rPr sz="2000" b="1">
                <a:solidFill>
                  <a:srgbClr val="D4A85A"/>
                </a:solidFill>
                <a:latin typeface="Georgia"/>
              </a:rPr>
              <a:t>2</a:t>
            </a:r>
          </a:p>
        </p:txBody>
      </p:sp>
      <p:sp>
        <p:nvSpPr>
          <p:cNvPr id="14" name="TextBox 13"/>
          <p:cNvSpPr txBox="1"/>
          <p:nvPr/>
        </p:nvSpPr>
        <p:spPr>
          <a:xfrm>
            <a:off x="4617720" y="2834640"/>
            <a:ext cx="3108960" cy="457200"/>
          </a:xfrm>
          <a:prstGeom prst="rect">
            <a:avLst/>
          </a:prstGeom>
          <a:noFill/>
        </p:spPr>
        <p:txBody>
          <a:bodyPr wrap="square" lIns="0" rIns="0" tIns="0" bIns="0" anchor="t">
            <a:spAutoFit/>
          </a:bodyPr>
          <a:lstStyle/>
          <a:p>
            <a:pPr algn="l"/>
            <a:r>
              <a:rPr sz="2000" b="0">
                <a:solidFill>
                  <a:srgbClr val="1A1A1A"/>
                </a:solidFill>
                <a:latin typeface="Georgia"/>
              </a:rPr>
              <a:t>Your Spot</a:t>
            </a:r>
          </a:p>
        </p:txBody>
      </p:sp>
      <p:sp>
        <p:nvSpPr>
          <p:cNvPr id="15" name="TextBox 14"/>
          <p:cNvSpPr txBox="1"/>
          <p:nvPr/>
        </p:nvSpPr>
        <p:spPr>
          <a:xfrm>
            <a:off x="4617720" y="3337560"/>
            <a:ext cx="3108960" cy="914400"/>
          </a:xfrm>
          <a:prstGeom prst="rect">
            <a:avLst/>
          </a:prstGeom>
          <a:noFill/>
        </p:spPr>
        <p:txBody>
          <a:bodyPr wrap="square" lIns="0" rIns="0" tIns="0" bIns="0" anchor="t">
            <a:spAutoFit/>
          </a:bodyPr>
          <a:lstStyle/>
          <a:p>
            <a:pPr algn="l"/>
            <a:r>
              <a:rPr sz="1100" b="0">
                <a:solidFill>
                  <a:srgbClr val="8A8485"/>
                </a:solidFill>
                <a:latin typeface="Calibri"/>
              </a:rPr>
              <a:t>Favorite location, favorite tech, service history. Cadence-aware.</a:t>
            </a:r>
          </a:p>
        </p:txBody>
      </p:sp>
      <p:sp>
        <p:nvSpPr>
          <p:cNvPr id="16" name="Rounded Rectangle 15"/>
          <p:cNvSpPr/>
          <p:nvPr/>
        </p:nvSpPr>
        <p:spPr>
          <a:xfrm>
            <a:off x="8138160" y="2194560"/>
            <a:ext cx="3657600" cy="2057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38160" y="2194560"/>
            <a:ext cx="91440" cy="2057400"/>
          </a:xfrm>
          <a:prstGeom prst="roundRect">
            <a:avLst>
              <a:gd name="adj" fmla="val 12000"/>
            </a:avLst>
          </a:prstGeom>
          <a:solidFill>
            <a:srgbClr val="B5D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377440"/>
            <a:ext cx="3108960" cy="365760"/>
          </a:xfrm>
          <a:prstGeom prst="rect">
            <a:avLst/>
          </a:prstGeom>
          <a:noFill/>
        </p:spPr>
        <p:txBody>
          <a:bodyPr wrap="square" lIns="0" rIns="0" tIns="0" bIns="0" anchor="t">
            <a:spAutoFit/>
          </a:bodyPr>
          <a:lstStyle/>
          <a:p>
            <a:pPr algn="l"/>
            <a:r>
              <a:rPr sz="2000" b="1">
                <a:solidFill>
                  <a:srgbClr val="B5D4C4"/>
                </a:solidFill>
                <a:latin typeface="Georgia"/>
              </a:rPr>
              <a:t>3</a:t>
            </a:r>
          </a:p>
        </p:txBody>
      </p:sp>
      <p:sp>
        <p:nvSpPr>
          <p:cNvPr id="19" name="TextBox 18"/>
          <p:cNvSpPr txBox="1"/>
          <p:nvPr/>
        </p:nvSpPr>
        <p:spPr>
          <a:xfrm>
            <a:off x="8412480" y="2834640"/>
            <a:ext cx="3108960" cy="457200"/>
          </a:xfrm>
          <a:prstGeom prst="rect">
            <a:avLst/>
          </a:prstGeom>
          <a:noFill/>
        </p:spPr>
        <p:txBody>
          <a:bodyPr wrap="square" lIns="0" rIns="0" tIns="0" bIns="0" anchor="t">
            <a:spAutoFit/>
          </a:bodyPr>
          <a:lstStyle/>
          <a:p>
            <a:pPr algn="l"/>
            <a:r>
              <a:rPr sz="2000" b="0">
                <a:solidFill>
                  <a:srgbClr val="1A1A1A"/>
                </a:solidFill>
                <a:latin typeface="Georgia"/>
              </a:rPr>
              <a:t>Prep + After</a:t>
            </a:r>
          </a:p>
        </p:txBody>
      </p:sp>
      <p:sp>
        <p:nvSpPr>
          <p:cNvPr id="20" name="TextBox 19"/>
          <p:cNvSpPr txBox="1"/>
          <p:nvPr/>
        </p:nvSpPr>
        <p:spPr>
          <a:xfrm>
            <a:off x="8412480" y="3337560"/>
            <a:ext cx="3108960" cy="914400"/>
          </a:xfrm>
          <a:prstGeom prst="rect">
            <a:avLst/>
          </a:prstGeom>
          <a:noFill/>
        </p:spPr>
        <p:txBody>
          <a:bodyPr wrap="square" lIns="0" rIns="0" tIns="0" bIns="0" anchor="t">
            <a:spAutoFit/>
          </a:bodyPr>
          <a:lstStyle/>
          <a:p>
            <a:pPr algn="l"/>
            <a:r>
              <a:rPr sz="1100" b="0">
                <a:solidFill>
                  <a:srgbClr val="8A8485"/>
                </a:solidFill>
                <a:latin typeface="Calibri"/>
              </a:rPr>
              <a:t>Service-specific care: don't shave before wax, no sun after laser.</a:t>
            </a:r>
          </a:p>
        </p:txBody>
      </p:sp>
      <p:sp>
        <p:nvSpPr>
          <p:cNvPr id="21" name="Rounded Rectangle 20"/>
          <p:cNvSpPr/>
          <p:nvPr/>
        </p:nvSpPr>
        <p:spPr>
          <a:xfrm>
            <a:off x="548640" y="4416552"/>
            <a:ext cx="3657600" cy="2057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4416552"/>
            <a:ext cx="91440" cy="2057400"/>
          </a:xfrm>
          <a:prstGeom prst="roundRect">
            <a:avLst>
              <a:gd name="adj" fmla="val 12000"/>
            </a:avLst>
          </a:prstGeom>
          <a:solidFill>
            <a:srgbClr val="A82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99432"/>
            <a:ext cx="3108960" cy="365760"/>
          </a:xfrm>
          <a:prstGeom prst="rect">
            <a:avLst/>
          </a:prstGeom>
          <a:noFill/>
        </p:spPr>
        <p:txBody>
          <a:bodyPr wrap="square" lIns="0" rIns="0" tIns="0" bIns="0" anchor="t">
            <a:spAutoFit/>
          </a:bodyPr>
          <a:lstStyle/>
          <a:p>
            <a:pPr algn="l"/>
            <a:r>
              <a:rPr sz="2000" b="1">
                <a:solidFill>
                  <a:srgbClr val="A82E60"/>
                </a:solidFill>
                <a:latin typeface="Georgia"/>
              </a:rPr>
              <a:t>4</a:t>
            </a:r>
          </a:p>
        </p:txBody>
      </p:sp>
      <p:sp>
        <p:nvSpPr>
          <p:cNvPr id="24" name="TextBox 23"/>
          <p:cNvSpPr txBox="1"/>
          <p:nvPr/>
        </p:nvSpPr>
        <p:spPr>
          <a:xfrm>
            <a:off x="822960" y="5056632"/>
            <a:ext cx="3108960" cy="457200"/>
          </a:xfrm>
          <a:prstGeom prst="rect">
            <a:avLst/>
          </a:prstGeom>
          <a:noFill/>
        </p:spPr>
        <p:txBody>
          <a:bodyPr wrap="square" lIns="0" rIns="0" tIns="0" bIns="0" anchor="t">
            <a:spAutoFit/>
          </a:bodyPr>
          <a:lstStyle/>
          <a:p>
            <a:pPr algn="l"/>
            <a:r>
              <a:rPr sz="2000" b="0">
                <a:solidFill>
                  <a:srgbClr val="1A1A1A"/>
                </a:solidFill>
                <a:latin typeface="Georgia"/>
              </a:rPr>
              <a:t>The Calendar</a:t>
            </a:r>
          </a:p>
        </p:txBody>
      </p:sp>
      <p:sp>
        <p:nvSpPr>
          <p:cNvPr id="25" name="TextBox 24"/>
          <p:cNvSpPr txBox="1"/>
          <p:nvPr/>
        </p:nvSpPr>
        <p:spPr>
          <a:xfrm>
            <a:off x="822960" y="5559552"/>
            <a:ext cx="3108960" cy="914400"/>
          </a:xfrm>
          <a:prstGeom prst="rect">
            <a:avLst/>
          </a:prstGeom>
          <a:noFill/>
        </p:spPr>
        <p:txBody>
          <a:bodyPr wrap="square" lIns="0" rIns="0" tIns="0" bIns="0" anchor="t">
            <a:spAutoFit/>
          </a:bodyPr>
          <a:lstStyle/>
          <a:p>
            <a:pPr algn="l"/>
            <a:r>
              <a:rPr sz="1100" b="0">
                <a:solidFill>
                  <a:srgbClr val="8A8485"/>
                </a:solidFill>
                <a:latin typeface="Calibri"/>
              </a:rPr>
              <a:t>Recurring care, automated. Series tracking (laser 3 of 6).</a:t>
            </a:r>
          </a:p>
        </p:txBody>
      </p:sp>
      <p:sp>
        <p:nvSpPr>
          <p:cNvPr id="26" name="Rounded Rectangle 25"/>
          <p:cNvSpPr/>
          <p:nvPr/>
        </p:nvSpPr>
        <p:spPr>
          <a:xfrm>
            <a:off x="4343400" y="4416552"/>
            <a:ext cx="3657600" cy="2057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343400" y="4416552"/>
            <a:ext cx="91440" cy="20574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599432"/>
            <a:ext cx="3108960" cy="365760"/>
          </a:xfrm>
          <a:prstGeom prst="rect">
            <a:avLst/>
          </a:prstGeom>
          <a:noFill/>
        </p:spPr>
        <p:txBody>
          <a:bodyPr wrap="square" lIns="0" rIns="0" tIns="0" bIns="0" anchor="t">
            <a:spAutoFit/>
          </a:bodyPr>
          <a:lstStyle/>
          <a:p>
            <a:pPr algn="l"/>
            <a:r>
              <a:rPr sz="2000" b="1">
                <a:solidFill>
                  <a:srgbClr val="1A1A1A"/>
                </a:solidFill>
                <a:latin typeface="Georgia"/>
              </a:rPr>
              <a:t>5</a:t>
            </a:r>
          </a:p>
        </p:txBody>
      </p:sp>
      <p:sp>
        <p:nvSpPr>
          <p:cNvPr id="29" name="TextBox 28"/>
          <p:cNvSpPr txBox="1"/>
          <p:nvPr/>
        </p:nvSpPr>
        <p:spPr>
          <a:xfrm>
            <a:off x="4617720" y="5056632"/>
            <a:ext cx="3108960" cy="457200"/>
          </a:xfrm>
          <a:prstGeom prst="rect">
            <a:avLst/>
          </a:prstGeom>
          <a:noFill/>
        </p:spPr>
        <p:txBody>
          <a:bodyPr wrap="square" lIns="0" rIns="0" tIns="0" bIns="0" anchor="t">
            <a:spAutoFit/>
          </a:bodyPr>
          <a:lstStyle/>
          <a:p>
            <a:pPr algn="l"/>
            <a:r>
              <a:rPr sz="2000" b="0">
                <a:solidFill>
                  <a:srgbClr val="1A1A1A"/>
                </a:solidFill>
                <a:latin typeface="Georgia"/>
              </a:rPr>
              <a:t>Membership / Shop</a:t>
            </a:r>
          </a:p>
        </p:txBody>
      </p:sp>
      <p:sp>
        <p:nvSpPr>
          <p:cNvPr id="30" name="TextBox 29"/>
          <p:cNvSpPr txBox="1"/>
          <p:nvPr/>
        </p:nvSpPr>
        <p:spPr>
          <a:xfrm>
            <a:off x="4617720" y="5559552"/>
            <a:ext cx="3108960" cy="914400"/>
          </a:xfrm>
          <a:prstGeom prst="rect">
            <a:avLst/>
          </a:prstGeom>
          <a:noFill/>
        </p:spPr>
        <p:txBody>
          <a:bodyPr wrap="square" lIns="0" rIns="0" tIns="0" bIns="0" anchor="t">
            <a:spAutoFit/>
          </a:bodyPr>
          <a:lstStyle/>
          <a:p>
            <a:pPr algn="l"/>
            <a:r>
              <a:rPr sz="1100" b="0">
                <a:solidFill>
                  <a:srgbClr val="8A8485"/>
                </a:solidFill>
                <a:latin typeface="Calibri"/>
              </a:rPr>
              <a:t>Member tier. Gift cards. Multi-location credit.</a:t>
            </a:r>
          </a:p>
        </p:txBody>
      </p:sp>
      <p:sp>
        <p:nvSpPr>
          <p:cNvPr id="31" name="Rounded Rectangle 30"/>
          <p:cNvSpPr/>
          <p:nvPr/>
        </p:nvSpPr>
        <p:spPr>
          <a:xfrm>
            <a:off x="8138160" y="4416552"/>
            <a:ext cx="3657600" cy="2057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38160" y="4416552"/>
            <a:ext cx="91440" cy="2057400"/>
          </a:xfrm>
          <a:prstGeom prst="roundRect">
            <a:avLst>
              <a:gd name="adj" fmla="val 12000"/>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599432"/>
            <a:ext cx="3108960" cy="365760"/>
          </a:xfrm>
          <a:prstGeom prst="rect">
            <a:avLst/>
          </a:prstGeom>
          <a:noFill/>
        </p:spPr>
        <p:txBody>
          <a:bodyPr wrap="square" lIns="0" rIns="0" tIns="0" bIns="0" anchor="t">
            <a:spAutoFit/>
          </a:bodyPr>
          <a:lstStyle/>
          <a:p>
            <a:pPr algn="l"/>
            <a:r>
              <a:rPr sz="2000" b="1">
                <a:solidFill>
                  <a:srgbClr val="4A4A4A"/>
                </a:solidFill>
                <a:latin typeface="Georgia"/>
              </a:rPr>
              <a:t>6</a:t>
            </a:r>
          </a:p>
        </p:txBody>
      </p:sp>
      <p:sp>
        <p:nvSpPr>
          <p:cNvPr id="34" name="TextBox 33"/>
          <p:cNvSpPr txBox="1"/>
          <p:nvPr/>
        </p:nvSpPr>
        <p:spPr>
          <a:xfrm>
            <a:off x="8412480" y="5056632"/>
            <a:ext cx="3108960" cy="457200"/>
          </a:xfrm>
          <a:prstGeom prst="rect">
            <a:avLst/>
          </a:prstGeom>
          <a:noFill/>
        </p:spPr>
        <p:txBody>
          <a:bodyPr wrap="square" lIns="0" rIns="0" tIns="0" bIns="0" anchor="t">
            <a:spAutoFit/>
          </a:bodyPr>
          <a:lstStyle/>
          <a:p>
            <a:pPr algn="l"/>
            <a:r>
              <a:rPr sz="2000" b="0">
                <a:solidFill>
                  <a:srgbClr val="1A1A1A"/>
                </a:solidFill>
                <a:latin typeface="Georgia"/>
              </a:rPr>
              <a:t>The Studio</a:t>
            </a:r>
          </a:p>
        </p:txBody>
      </p:sp>
      <p:sp>
        <p:nvSpPr>
          <p:cNvPr id="35" name="TextBox 34"/>
          <p:cNvSpPr txBox="1"/>
          <p:nvPr/>
        </p:nvSpPr>
        <p:spPr>
          <a:xfrm>
            <a:off x="8412480" y="5559552"/>
            <a:ext cx="3108960" cy="914400"/>
          </a:xfrm>
          <a:prstGeom prst="rect">
            <a:avLst/>
          </a:prstGeom>
          <a:noFill/>
        </p:spPr>
        <p:txBody>
          <a:bodyPr wrap="square" lIns="0" rIns="0" tIns="0" bIns="0" anchor="t">
            <a:spAutoFit/>
          </a:bodyPr>
          <a:lstStyle/>
          <a:p>
            <a:pPr algn="l"/>
            <a:r>
              <a:rPr sz="1100" b="0">
                <a:solidFill>
                  <a:srgbClr val="8A8485"/>
                </a:solidFill>
                <a:latin typeface="Calibri"/>
              </a:rPr>
              <a:t>Internal-facing web admin — multi-location dashboard, scheduling, franchise admin.</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PHASE 1 · LAUNCH (MONTHS 0–4)</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Foundations: Book, Your Spot, Prep+After, Calendar, Wallet.</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A8485"/>
                </a:solidFill>
                <a:latin typeface="Calibri"/>
              </a:rPr>
              <a:t>Everything a customer needs in their first 90 days.</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1A1A1A"/>
                </a:solidFill>
                <a:latin typeface="Calibri"/>
              </a:rPr>
              <a:t>Multilingual onboarding</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A8485"/>
                </a:solidFill>
                <a:latin typeface="Calibri"/>
              </a:rPr>
              <a:t>EN + FR at launch.</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1A1A1A"/>
                </a:solidFill>
                <a:latin typeface="Calibri"/>
              </a:rPr>
              <a:t>Location auto-detect</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A8485"/>
                </a:solidFill>
                <a:latin typeface="Calibri"/>
              </a:rPr>
              <a:t>Home location set; cross-location travel mode.</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1A1A1A"/>
                </a:solidFill>
                <a:latin typeface="Calibri"/>
              </a:rPr>
              <a:t>Book flow · multi-service</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A8485"/>
                </a:solidFill>
                <a:latin typeface="Calibri"/>
              </a:rPr>
              <a:t>Combo bookings (wax + brow, etc.) in one slot.</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1A1A1A"/>
                </a:solidFill>
                <a:latin typeface="Calibri"/>
              </a:rPr>
              <a:t>Wait-list</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A8485"/>
                </a:solidFill>
                <a:latin typeface="Calibri"/>
              </a:rPr>
              <a:t>Push notification when a slot opens.</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1A1A1A"/>
                </a:solidFill>
                <a:latin typeface="Calibri"/>
              </a:rPr>
              <a:t>Service browser</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A8485"/>
                </a:solidFill>
                <a:latin typeface="Calibri"/>
              </a:rPr>
              <a:t>Nails · wax · laser · skin. Filter by location.</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1A1A1A"/>
                </a:solidFill>
                <a:latin typeface="Calibri"/>
              </a:rPr>
              <a:t>Technician selection</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A8485"/>
                </a:solidFill>
                <a:latin typeface="Calibri"/>
              </a:rPr>
              <a:t>Photo + bio (opt-in by tech). Re-book the same person.</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1A1A1A"/>
                </a:solidFill>
                <a:latin typeface="Calibri"/>
              </a:rPr>
              <a:t>One-tap re-book</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A8485"/>
                </a:solidFill>
                <a:latin typeface="Calibri"/>
              </a:rPr>
              <a:t>"Same as last time."</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1A1A1A"/>
                </a:solidFill>
                <a:latin typeface="Calibri"/>
              </a:rPr>
              <a:t>Your Spot · favorites</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A8485"/>
                </a:solidFill>
                <a:latin typeface="Calibri"/>
              </a:rPr>
              <a:t>Home location, favorite tech, history.</a:t>
            </a:r>
          </a:p>
        </p:txBody>
      </p:sp>
      <p:sp>
        <p:nvSpPr>
          <p:cNvPr id="39" name="Rounded Rectangle 38"/>
          <p:cNvSpPr/>
          <p:nvPr/>
        </p:nvSpPr>
        <p:spPr>
          <a:xfrm>
            <a:off x="548640" y="667512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2960" y="704088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6784848"/>
            <a:ext cx="4754880" cy="365760"/>
          </a:xfrm>
          <a:prstGeom prst="rect">
            <a:avLst/>
          </a:prstGeom>
          <a:noFill/>
        </p:spPr>
        <p:txBody>
          <a:bodyPr wrap="square" lIns="0" rIns="0" tIns="0" bIns="0" anchor="t">
            <a:spAutoFit/>
          </a:bodyPr>
          <a:lstStyle/>
          <a:p>
            <a:pPr algn="l"/>
            <a:r>
              <a:rPr sz="1400" b="1">
                <a:solidFill>
                  <a:srgbClr val="1A1A1A"/>
                </a:solidFill>
                <a:latin typeface="Calibri"/>
              </a:rPr>
              <a:t>Cadence-aware push</a:t>
            </a:r>
          </a:p>
        </p:txBody>
      </p:sp>
      <p:sp>
        <p:nvSpPr>
          <p:cNvPr id="42" name="TextBox 41"/>
          <p:cNvSpPr txBox="1"/>
          <p:nvPr/>
        </p:nvSpPr>
        <p:spPr>
          <a:xfrm>
            <a:off x="1097280" y="7086600"/>
            <a:ext cx="4754880" cy="457200"/>
          </a:xfrm>
          <a:prstGeom prst="rect">
            <a:avLst/>
          </a:prstGeom>
          <a:noFill/>
        </p:spPr>
        <p:txBody>
          <a:bodyPr wrap="square" lIns="0" rIns="0" tIns="0" bIns="0" anchor="t">
            <a:spAutoFit/>
          </a:bodyPr>
          <a:lstStyle/>
          <a:p>
            <a:pPr algn="l"/>
            <a:r>
              <a:rPr sz="1100" b="0">
                <a:solidFill>
                  <a:srgbClr val="8A8485"/>
                </a:solidFill>
                <a:latin typeface="Calibri"/>
              </a:rPr>
              <a:t>"Your wax is due in 6 days."</a:t>
            </a:r>
          </a:p>
        </p:txBody>
      </p:sp>
      <p:sp>
        <p:nvSpPr>
          <p:cNvPr id="43" name="Rounded Rectangle 42"/>
          <p:cNvSpPr/>
          <p:nvPr/>
        </p:nvSpPr>
        <p:spPr>
          <a:xfrm>
            <a:off x="6172200" y="667512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446520" y="704088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0840" y="6784848"/>
            <a:ext cx="4754880" cy="365760"/>
          </a:xfrm>
          <a:prstGeom prst="rect">
            <a:avLst/>
          </a:prstGeom>
          <a:noFill/>
        </p:spPr>
        <p:txBody>
          <a:bodyPr wrap="square" lIns="0" rIns="0" tIns="0" bIns="0" anchor="t">
            <a:spAutoFit/>
          </a:bodyPr>
          <a:lstStyle/>
          <a:p>
            <a:pPr algn="l"/>
            <a:r>
              <a:rPr sz="1400" b="1">
                <a:solidFill>
                  <a:srgbClr val="1A1A1A"/>
                </a:solidFill>
                <a:latin typeface="Calibri"/>
              </a:rPr>
              <a:t>Prep guides per service</a:t>
            </a:r>
          </a:p>
        </p:txBody>
      </p:sp>
      <p:sp>
        <p:nvSpPr>
          <p:cNvPr id="46" name="TextBox 45"/>
          <p:cNvSpPr txBox="1"/>
          <p:nvPr/>
        </p:nvSpPr>
        <p:spPr>
          <a:xfrm>
            <a:off x="6720840" y="7086600"/>
            <a:ext cx="4754880" cy="457200"/>
          </a:xfrm>
          <a:prstGeom prst="rect">
            <a:avLst/>
          </a:prstGeom>
          <a:noFill/>
        </p:spPr>
        <p:txBody>
          <a:bodyPr wrap="square" lIns="0" rIns="0" tIns="0" bIns="0" anchor="t">
            <a:spAutoFit/>
          </a:bodyPr>
          <a:lstStyle/>
          <a:p>
            <a:pPr algn="l"/>
            <a:r>
              <a:rPr sz="1100" b="0">
                <a:solidFill>
                  <a:srgbClr val="8A8485"/>
                </a:solidFill>
                <a:latin typeface="Calibri"/>
              </a:rPr>
              <a:t>"Don't shave 24 hr before wax."</a:t>
            </a:r>
          </a:p>
        </p:txBody>
      </p:sp>
      <p:sp>
        <p:nvSpPr>
          <p:cNvPr id="47" name="Rounded Rectangle 46"/>
          <p:cNvSpPr/>
          <p:nvPr/>
        </p:nvSpPr>
        <p:spPr>
          <a:xfrm>
            <a:off x="548640" y="76809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22960" y="80467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7790688"/>
            <a:ext cx="4754880" cy="365760"/>
          </a:xfrm>
          <a:prstGeom prst="rect">
            <a:avLst/>
          </a:prstGeom>
          <a:noFill/>
        </p:spPr>
        <p:txBody>
          <a:bodyPr wrap="square" lIns="0" rIns="0" tIns="0" bIns="0" anchor="t">
            <a:spAutoFit/>
          </a:bodyPr>
          <a:lstStyle/>
          <a:p>
            <a:pPr algn="l"/>
            <a:r>
              <a:rPr sz="1400" b="1">
                <a:solidFill>
                  <a:srgbClr val="1A1A1A"/>
                </a:solidFill>
                <a:latin typeface="Calibri"/>
              </a:rPr>
              <a:t>Aftercare push</a:t>
            </a:r>
          </a:p>
        </p:txBody>
      </p:sp>
      <p:sp>
        <p:nvSpPr>
          <p:cNvPr id="50" name="TextBox 49"/>
          <p:cNvSpPr txBox="1"/>
          <p:nvPr/>
        </p:nvSpPr>
        <p:spPr>
          <a:xfrm>
            <a:off x="1097280" y="8092440"/>
            <a:ext cx="4754880" cy="457200"/>
          </a:xfrm>
          <a:prstGeom prst="rect">
            <a:avLst/>
          </a:prstGeom>
          <a:noFill/>
        </p:spPr>
        <p:txBody>
          <a:bodyPr wrap="square" lIns="0" rIns="0" tIns="0" bIns="0" anchor="t">
            <a:spAutoFit/>
          </a:bodyPr>
          <a:lstStyle/>
          <a:p>
            <a:pPr algn="l"/>
            <a:r>
              <a:rPr sz="1100" b="0">
                <a:solidFill>
                  <a:srgbClr val="8A8485"/>
                </a:solidFill>
                <a:latin typeface="Calibri"/>
              </a:rPr>
              <a:t>"Your laser was yesterday — read this 2-min guide."</a:t>
            </a:r>
          </a:p>
        </p:txBody>
      </p:sp>
      <p:sp>
        <p:nvSpPr>
          <p:cNvPr id="51" name="Rounded Rectangle 50"/>
          <p:cNvSpPr/>
          <p:nvPr/>
        </p:nvSpPr>
        <p:spPr>
          <a:xfrm>
            <a:off x="6172200" y="76809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446520" y="80467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20840" y="7790688"/>
            <a:ext cx="4754880" cy="365760"/>
          </a:xfrm>
          <a:prstGeom prst="rect">
            <a:avLst/>
          </a:prstGeom>
          <a:noFill/>
        </p:spPr>
        <p:txBody>
          <a:bodyPr wrap="square" lIns="0" rIns="0" tIns="0" bIns="0" anchor="t">
            <a:spAutoFit/>
          </a:bodyPr>
          <a:lstStyle/>
          <a:p>
            <a:pPr algn="l"/>
            <a:r>
              <a:rPr sz="1400" b="1">
                <a:solidFill>
                  <a:srgbClr val="1A1A1A"/>
                </a:solidFill>
                <a:latin typeface="Calibri"/>
              </a:rPr>
              <a:t>The Calendar</a:t>
            </a:r>
          </a:p>
        </p:txBody>
      </p:sp>
      <p:sp>
        <p:nvSpPr>
          <p:cNvPr id="54" name="TextBox 53"/>
          <p:cNvSpPr txBox="1"/>
          <p:nvPr/>
        </p:nvSpPr>
        <p:spPr>
          <a:xfrm>
            <a:off x="6720840" y="8092440"/>
            <a:ext cx="4754880" cy="457200"/>
          </a:xfrm>
          <a:prstGeom prst="rect">
            <a:avLst/>
          </a:prstGeom>
          <a:noFill/>
        </p:spPr>
        <p:txBody>
          <a:bodyPr wrap="square" lIns="0" rIns="0" tIns="0" bIns="0" anchor="t">
            <a:spAutoFit/>
          </a:bodyPr>
          <a:lstStyle/>
          <a:p>
            <a:pPr algn="l"/>
            <a:r>
              <a:rPr sz="1100" b="0">
                <a:solidFill>
                  <a:srgbClr val="8A8485"/>
                </a:solidFill>
                <a:latin typeface="Calibri"/>
              </a:rPr>
              <a:t>Recurring schedule + laser series tracking.</a:t>
            </a:r>
          </a:p>
        </p:txBody>
      </p:sp>
      <p:sp>
        <p:nvSpPr>
          <p:cNvPr id="55" name="Rounded Rectangle 54"/>
          <p:cNvSpPr/>
          <p:nvPr/>
        </p:nvSpPr>
        <p:spPr>
          <a:xfrm>
            <a:off x="548640" y="86868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22960" y="90525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7280" y="8796528"/>
            <a:ext cx="4754880" cy="365760"/>
          </a:xfrm>
          <a:prstGeom prst="rect">
            <a:avLst/>
          </a:prstGeom>
          <a:noFill/>
        </p:spPr>
        <p:txBody>
          <a:bodyPr wrap="square" lIns="0" rIns="0" tIns="0" bIns="0" anchor="t">
            <a:spAutoFit/>
          </a:bodyPr>
          <a:lstStyle/>
          <a:p>
            <a:pPr algn="l"/>
            <a:r>
              <a:rPr sz="1400" b="1">
                <a:solidFill>
                  <a:srgbClr val="1A1A1A"/>
                </a:solidFill>
                <a:latin typeface="Calibri"/>
              </a:rPr>
              <a:t>Membership wallet</a:t>
            </a:r>
          </a:p>
        </p:txBody>
      </p:sp>
      <p:sp>
        <p:nvSpPr>
          <p:cNvPr id="58" name="TextBox 57"/>
          <p:cNvSpPr txBox="1"/>
          <p:nvPr/>
        </p:nvSpPr>
        <p:spPr>
          <a:xfrm>
            <a:off x="1097280" y="9098280"/>
            <a:ext cx="4754880" cy="457200"/>
          </a:xfrm>
          <a:prstGeom prst="rect">
            <a:avLst/>
          </a:prstGeom>
          <a:noFill/>
        </p:spPr>
        <p:txBody>
          <a:bodyPr wrap="square" lIns="0" rIns="0" tIns="0" bIns="0" anchor="t">
            <a:spAutoFit/>
          </a:bodyPr>
          <a:lstStyle/>
          <a:p>
            <a:pPr algn="l"/>
            <a:r>
              <a:rPr sz="1100" b="0">
                <a:solidFill>
                  <a:srgbClr val="8A8485"/>
                </a:solidFill>
                <a:latin typeface="Calibri"/>
              </a:rPr>
              <a:t>Multi-location credit + gift card balance.</a:t>
            </a:r>
          </a:p>
        </p:txBody>
      </p:sp>
      <p:sp>
        <p:nvSpPr>
          <p:cNvPr id="59" name="Rounded Rectangle 58"/>
          <p:cNvSpPr/>
          <p:nvPr/>
        </p:nvSpPr>
        <p:spPr>
          <a:xfrm>
            <a:off x="6172200" y="86868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446520" y="90525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20840" y="8796528"/>
            <a:ext cx="4754880" cy="365760"/>
          </a:xfrm>
          <a:prstGeom prst="rect">
            <a:avLst/>
          </a:prstGeom>
          <a:noFill/>
        </p:spPr>
        <p:txBody>
          <a:bodyPr wrap="square" lIns="0" rIns="0" tIns="0" bIns="0" anchor="t">
            <a:spAutoFit/>
          </a:bodyPr>
          <a:lstStyle/>
          <a:p>
            <a:pPr algn="l"/>
            <a:r>
              <a:rPr sz="1400" b="1">
                <a:solidFill>
                  <a:srgbClr val="1A1A1A"/>
                </a:solidFill>
                <a:latin typeface="Calibri"/>
              </a:rPr>
              <a:t>Concierge chat (AI)</a:t>
            </a:r>
          </a:p>
        </p:txBody>
      </p:sp>
      <p:sp>
        <p:nvSpPr>
          <p:cNvPr id="62" name="TextBox 61"/>
          <p:cNvSpPr txBox="1"/>
          <p:nvPr/>
        </p:nvSpPr>
        <p:spPr>
          <a:xfrm>
            <a:off x="6720840" y="9098280"/>
            <a:ext cx="4754880" cy="457200"/>
          </a:xfrm>
          <a:prstGeom prst="rect">
            <a:avLst/>
          </a:prstGeom>
          <a:noFill/>
        </p:spPr>
        <p:txBody>
          <a:bodyPr wrap="square" lIns="0" rIns="0" tIns="0" bIns="0" anchor="t">
            <a:spAutoFit/>
          </a:bodyPr>
          <a:lstStyle/>
          <a:p>
            <a:pPr algn="l"/>
            <a:r>
              <a:rPr sz="1100" b="0">
                <a:solidFill>
                  <a:srgbClr val="8A8485"/>
                </a:solidFill>
                <a:latin typeface="Calibri"/>
              </a:rPr>
              <a:t>Bilingual EN/FR booking + prep coach.</a:t>
            </a:r>
          </a:p>
        </p:txBody>
      </p:sp>
      <p:sp>
        <p:nvSpPr>
          <p:cNvPr id="63" name="Rounded Rectangle 62"/>
          <p:cNvSpPr/>
          <p:nvPr/>
        </p:nvSpPr>
        <p:spPr>
          <a:xfrm>
            <a:off x="548640" y="96926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22960" y="100584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97280" y="9802368"/>
            <a:ext cx="4754880" cy="365760"/>
          </a:xfrm>
          <a:prstGeom prst="rect">
            <a:avLst/>
          </a:prstGeom>
          <a:noFill/>
        </p:spPr>
        <p:txBody>
          <a:bodyPr wrap="square" lIns="0" rIns="0" tIns="0" bIns="0" anchor="t">
            <a:spAutoFit/>
          </a:bodyPr>
          <a:lstStyle/>
          <a:p>
            <a:pPr algn="l"/>
            <a:r>
              <a:rPr sz="1400" b="1">
                <a:solidFill>
                  <a:srgbClr val="1A1A1A"/>
                </a:solidFill>
                <a:latin typeface="Calibri"/>
              </a:rPr>
              <a:t>Visual search</a:t>
            </a:r>
          </a:p>
        </p:txBody>
      </p:sp>
      <p:sp>
        <p:nvSpPr>
          <p:cNvPr id="66" name="TextBox 65"/>
          <p:cNvSpPr txBox="1"/>
          <p:nvPr/>
        </p:nvSpPr>
        <p:spPr>
          <a:xfrm>
            <a:off x="1097280" y="10104120"/>
            <a:ext cx="4754880" cy="457200"/>
          </a:xfrm>
          <a:prstGeom prst="rect">
            <a:avLst/>
          </a:prstGeom>
          <a:noFill/>
        </p:spPr>
        <p:txBody>
          <a:bodyPr wrap="square" lIns="0" rIns="0" tIns="0" bIns="0" anchor="t">
            <a:spAutoFit/>
          </a:bodyPr>
          <a:lstStyle/>
          <a:p>
            <a:pPr algn="l"/>
            <a:r>
              <a:rPr sz="1100" b="0">
                <a:solidFill>
                  <a:srgbClr val="8A8485"/>
                </a:solidFill>
                <a:latin typeface="Calibri"/>
              </a:rPr>
              <a:t>Nail look from Instagram → matching service.</a:t>
            </a:r>
          </a:p>
        </p:txBody>
      </p:sp>
      <p:sp>
        <p:nvSpPr>
          <p:cNvPr id="67" name="Rounded Rectangle 66"/>
          <p:cNvSpPr/>
          <p:nvPr/>
        </p:nvSpPr>
        <p:spPr>
          <a:xfrm>
            <a:off x="6172200" y="96926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6446520" y="100584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20840" y="9802368"/>
            <a:ext cx="4754880" cy="365760"/>
          </a:xfrm>
          <a:prstGeom prst="rect">
            <a:avLst/>
          </a:prstGeom>
          <a:noFill/>
        </p:spPr>
        <p:txBody>
          <a:bodyPr wrap="square" lIns="0" rIns="0" tIns="0" bIns="0" anchor="t">
            <a:spAutoFit/>
          </a:bodyPr>
          <a:lstStyle/>
          <a:p>
            <a:pPr algn="l"/>
            <a:r>
              <a:rPr sz="1400" b="1">
                <a:solidFill>
                  <a:srgbClr val="1A1A1A"/>
                </a:solidFill>
                <a:latin typeface="Calibri"/>
              </a:rPr>
              <a:t>The Studio (web admin)</a:t>
            </a:r>
          </a:p>
        </p:txBody>
      </p:sp>
      <p:sp>
        <p:nvSpPr>
          <p:cNvPr id="70" name="TextBox 69"/>
          <p:cNvSpPr txBox="1"/>
          <p:nvPr/>
        </p:nvSpPr>
        <p:spPr>
          <a:xfrm>
            <a:off x="6720840" y="10104120"/>
            <a:ext cx="4754880" cy="457200"/>
          </a:xfrm>
          <a:prstGeom prst="rect">
            <a:avLst/>
          </a:prstGeom>
          <a:noFill/>
        </p:spPr>
        <p:txBody>
          <a:bodyPr wrap="square" lIns="0" rIns="0" tIns="0" bIns="0" anchor="t">
            <a:spAutoFit/>
          </a:bodyPr>
          <a:lstStyle/>
          <a:p>
            <a:pPr algn="l"/>
            <a:r>
              <a:rPr sz="1100" b="0">
                <a:solidFill>
                  <a:srgbClr val="8A8485"/>
                </a:solidFill>
                <a:latin typeface="Calibri"/>
              </a:rPr>
              <a:t>Multi-location dashboard, scheduling, franchise admin.</a:t>
            </a:r>
          </a:p>
        </p:txBody>
      </p:sp>
      <p:sp>
        <p:nvSpPr>
          <p:cNvPr id="71" name="TextBox 7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72" name="TextBox 7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PHASE 2 · DEPTH (MONTHS 5–9)</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Booking integration deepening, B2B, multi-city.</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A8485"/>
                </a:solidFill>
                <a:latin typeface="Calibri"/>
              </a:rPr>
              <a:t>Features that turn launch into the booking standard for the category.</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1A1A1A"/>
                </a:solidFill>
                <a:latin typeface="Calibri"/>
              </a:rPr>
              <a:t>Booker / Mindbody two-way sync</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A8485"/>
                </a:solidFill>
                <a:latin typeface="Calibri"/>
              </a:rPr>
              <a:t>Real-time tech availability across systems.</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1A1A1A"/>
                </a:solidFill>
                <a:latin typeface="Calibri"/>
              </a:rPr>
              <a:t>Photo skin-prep check (cautious)</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A8485"/>
                </a:solidFill>
                <a:latin typeface="Calibri"/>
              </a:rPr>
              <a:t>Opt-in pre-laser flag. Never diagnostic.</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1A1A1A"/>
                </a:solidFill>
                <a:latin typeface="Calibri"/>
              </a:rPr>
              <a:t>Franchise-owner B2B portal</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A8485"/>
                </a:solidFill>
                <a:latin typeface="Calibri"/>
              </a:rPr>
              <a:t>Per-franchise dashboard with revenue + retention.</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1A1A1A"/>
                </a:solidFill>
                <a:latin typeface="Calibri"/>
              </a:rPr>
              <a:t>Multi-city travel mode</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A8485"/>
                </a:solidFill>
                <a:latin typeface="Calibri"/>
              </a:rPr>
              <a:t>"I'm in NYC for the weekend — find a Ten Spot."</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1A1A1A"/>
                </a:solidFill>
                <a:latin typeface="Calibri"/>
              </a:rPr>
              <a:t>Loyalty redesign</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A8485"/>
                </a:solidFill>
                <a:latin typeface="Calibri"/>
              </a:rPr>
              <a:t>Cadence-based tiers, not just dollars.</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1A1A1A"/>
                </a:solidFill>
                <a:latin typeface="Calibri"/>
              </a:rPr>
              <a:t>Gift card scheduled-delivery</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A8485"/>
                </a:solidFill>
                <a:latin typeface="Calibri"/>
              </a:rPr>
              <a:t>Wedding / shower / birthday rituals.</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1A1A1A"/>
                </a:solidFill>
                <a:latin typeface="Calibri"/>
              </a:rPr>
              <a:t>Returns triage AI</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A8485"/>
                </a:solidFill>
                <a:latin typeface="Calibri"/>
              </a:rPr>
              <a:t>No-show vs cancel-fee dispute resolution.</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1A1A1A"/>
                </a:solidFill>
                <a:latin typeface="Calibri"/>
              </a:rPr>
              <a:t>Demand-sensing AI</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A8485"/>
                </a:solidFill>
                <a:latin typeface="Calibri"/>
              </a:rPr>
              <a:t>Surfaces under-utilised time slots.</a:t>
            </a:r>
          </a:p>
        </p:txBody>
      </p:sp>
      <p:sp>
        <p:nvSpPr>
          <p:cNvPr id="39" name="TextBox 3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40" name="TextBox 3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PHASE 3 · CULTURAL AUTHORITY (MONTHS 10+)</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From an app to the booking standard.</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A8485"/>
                </a:solidFill>
                <a:latin typeface="Calibri"/>
              </a:rPr>
              <a:t>Long-form storytelling, community, operational AI.</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1A1A1A"/>
                </a:solidFill>
                <a:latin typeface="Calibri"/>
              </a:rPr>
              <a:t>Editorial / journal</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A8485"/>
                </a:solidFill>
                <a:latin typeface="Calibri"/>
              </a:rPr>
              <a:t>Long-form on bodily autonomy, beauty-bar history, technician craft.</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1A1A1A"/>
                </a:solidFill>
                <a:latin typeface="Calibri"/>
              </a:rPr>
              <a:t>Annual VOICES film series</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A8485"/>
                </a:solidFill>
                <a:latin typeface="Calibri"/>
              </a:rPr>
              <a:t>Long-tenure technicians, founder stories.</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1A1A1A"/>
                </a:solidFill>
                <a:latin typeface="Calibri"/>
              </a:rPr>
              <a:t>Multilingual content scaling AI</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A8485"/>
                </a:solidFill>
                <a:latin typeface="Calibri"/>
              </a:rPr>
              <a:t>EN-first, AI drafts FR/ES for editor review.</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1A1A1A"/>
                </a:solidFill>
                <a:latin typeface="Calibri"/>
              </a:rPr>
              <a:t>Counterfeit gift-card detection</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A8485"/>
                </a:solidFill>
                <a:latin typeface="Calibri"/>
              </a:rPr>
              <a:t>Resale market monitoring.</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1A1A1A"/>
                </a:solidFill>
                <a:latin typeface="Calibri"/>
              </a:rPr>
              <a:t>VIP signal detection</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A8485"/>
                </a:solidFill>
                <a:latin typeface="Calibri"/>
              </a:rPr>
              <a:t>Concierge welcomes high-frequency customers.</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1A1A1A"/>
                </a:solidFill>
                <a:latin typeface="Calibri"/>
              </a:rPr>
              <a:t>Franchise-recruitment portal</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A8485"/>
                </a:solidFill>
                <a:latin typeface="Calibri"/>
              </a:rPr>
              <a:t>Prospective franchise owner pipeline.</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1A1A1A"/>
                </a:solidFill>
                <a:latin typeface="Calibri"/>
              </a:rPr>
              <a:t>Demand-sensing for pricing</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A8485"/>
                </a:solidFill>
                <a:latin typeface="Calibri"/>
              </a:rPr>
              <a:t>Surfaces optimal pricing per service per location.</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1A1A1A"/>
                </a:solidFill>
                <a:latin typeface="Calibri"/>
              </a:rPr>
              <a:t>Multi-state data residency</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A8485"/>
                </a:solidFill>
                <a:latin typeface="Calibri"/>
              </a:rPr>
              <a:t>As US expansion grows — separate data store per state if required.</a:t>
            </a:r>
          </a:p>
        </p:txBody>
      </p:sp>
      <p:sp>
        <p:nvSpPr>
          <p:cNvPr id="39" name="TextBox 3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40" name="TextBox 3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USER EXPERIENCE</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Onboarding — under 90 seconds, in EN or FR.</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First screen is location-aware. Your home location auto-set. Your favorite services surface first.</a:t>
            </a:r>
          </a:p>
        </p:txBody>
      </p:sp>
      <p:sp>
        <p:nvSpPr>
          <p:cNvPr id="7" name="Rounded Rectangle 6"/>
          <p:cNvSpPr/>
          <p:nvPr/>
        </p:nvSpPr>
        <p:spPr>
          <a:xfrm>
            <a:off x="548640" y="2651760"/>
            <a:ext cx="210312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26080"/>
            <a:ext cx="1554480" cy="457200"/>
          </a:xfrm>
          <a:prstGeom prst="rect">
            <a:avLst/>
          </a:prstGeom>
          <a:noFill/>
        </p:spPr>
        <p:txBody>
          <a:bodyPr wrap="square" lIns="0" rIns="0" tIns="0" bIns="0" anchor="t">
            <a:spAutoFit/>
          </a:bodyPr>
          <a:lstStyle/>
          <a:p>
            <a:pPr algn="l"/>
            <a:r>
              <a:rPr sz="2800" b="0">
                <a:solidFill>
                  <a:srgbClr val="A82E60"/>
                </a:solidFill>
                <a:latin typeface="Georgia"/>
              </a:rPr>
              <a:t>01</a:t>
            </a:r>
          </a:p>
        </p:txBody>
      </p:sp>
      <p:sp>
        <p:nvSpPr>
          <p:cNvPr id="9" name="TextBox 8"/>
          <p:cNvSpPr txBox="1"/>
          <p:nvPr/>
        </p:nvSpPr>
        <p:spPr>
          <a:xfrm>
            <a:off x="822960" y="3566160"/>
            <a:ext cx="1554480" cy="457200"/>
          </a:xfrm>
          <a:prstGeom prst="rect">
            <a:avLst/>
          </a:prstGeom>
          <a:noFill/>
        </p:spPr>
        <p:txBody>
          <a:bodyPr wrap="square" lIns="0" rIns="0" tIns="0" bIns="0" anchor="t">
            <a:spAutoFit/>
          </a:bodyPr>
          <a:lstStyle/>
          <a:p>
            <a:pPr algn="l"/>
            <a:r>
              <a:rPr sz="1400" b="1">
                <a:solidFill>
                  <a:srgbClr val="1A1A1A"/>
                </a:solidFill>
                <a:latin typeface="Calibri"/>
              </a:rPr>
              <a:t>Bonjour</a:t>
            </a:r>
          </a:p>
        </p:txBody>
      </p:sp>
      <p:sp>
        <p:nvSpPr>
          <p:cNvPr id="10" name="TextBox 9"/>
          <p:cNvSpPr txBox="1"/>
          <p:nvPr/>
        </p:nvSpPr>
        <p:spPr>
          <a:xfrm>
            <a:off x="822960" y="4069080"/>
            <a:ext cx="1554480" cy="1828800"/>
          </a:xfrm>
          <a:prstGeom prst="rect">
            <a:avLst/>
          </a:prstGeom>
          <a:noFill/>
        </p:spPr>
        <p:txBody>
          <a:bodyPr wrap="square" lIns="0" rIns="0" tIns="0" bIns="0" anchor="t">
            <a:spAutoFit/>
          </a:bodyPr>
          <a:lstStyle/>
          <a:p>
            <a:pPr algn="l"/>
            <a:r>
              <a:rPr sz="1100" b="0">
                <a:solidFill>
                  <a:srgbClr val="8A8485"/>
                </a:solidFill>
                <a:latin typeface="Calibri"/>
              </a:rPr>
              <a:t>Welcome in two languages.</a:t>
            </a:r>
          </a:p>
          <a:p>
            <a:pPr algn="l"/>
            <a:r>
              <a:rPr sz="1100" b="0">
                <a:solidFill>
                  <a:srgbClr val="8A8485"/>
                </a:solidFill>
                <a:latin typeface="Calibri"/>
              </a:rPr>
              <a:t>Tap your language; everything follows.</a:t>
            </a:r>
          </a:p>
        </p:txBody>
      </p:sp>
      <p:sp>
        <p:nvSpPr>
          <p:cNvPr id="11" name="Right Arrow 10"/>
          <p:cNvSpPr/>
          <p:nvPr/>
        </p:nvSpPr>
        <p:spPr>
          <a:xfrm>
            <a:off x="2660904" y="4114800"/>
            <a:ext cx="164592"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4640" y="2651760"/>
            <a:ext cx="210312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2926080"/>
            <a:ext cx="1554480" cy="457200"/>
          </a:xfrm>
          <a:prstGeom prst="rect">
            <a:avLst/>
          </a:prstGeom>
          <a:noFill/>
        </p:spPr>
        <p:txBody>
          <a:bodyPr wrap="square" lIns="0" rIns="0" tIns="0" bIns="0" anchor="t">
            <a:spAutoFit/>
          </a:bodyPr>
          <a:lstStyle/>
          <a:p>
            <a:pPr algn="l"/>
            <a:r>
              <a:rPr sz="2800" b="0">
                <a:solidFill>
                  <a:srgbClr val="A82E60"/>
                </a:solidFill>
                <a:latin typeface="Georgia"/>
              </a:rPr>
              <a:t>02</a:t>
            </a:r>
          </a:p>
        </p:txBody>
      </p:sp>
      <p:sp>
        <p:nvSpPr>
          <p:cNvPr id="14" name="TextBox 13"/>
          <p:cNvSpPr txBox="1"/>
          <p:nvPr/>
        </p:nvSpPr>
        <p:spPr>
          <a:xfrm>
            <a:off x="3108960" y="3566160"/>
            <a:ext cx="1554480" cy="457200"/>
          </a:xfrm>
          <a:prstGeom prst="rect">
            <a:avLst/>
          </a:prstGeom>
          <a:noFill/>
        </p:spPr>
        <p:txBody>
          <a:bodyPr wrap="square" lIns="0" rIns="0" tIns="0" bIns="0" anchor="t">
            <a:spAutoFit/>
          </a:bodyPr>
          <a:lstStyle/>
          <a:p>
            <a:pPr algn="l"/>
            <a:r>
              <a:rPr sz="1400" b="1">
                <a:solidFill>
                  <a:srgbClr val="1A1A1A"/>
                </a:solidFill>
                <a:latin typeface="Calibri"/>
              </a:rPr>
              <a:t>Sign in</a:t>
            </a:r>
          </a:p>
        </p:txBody>
      </p:sp>
      <p:sp>
        <p:nvSpPr>
          <p:cNvPr id="15" name="TextBox 14"/>
          <p:cNvSpPr txBox="1"/>
          <p:nvPr/>
        </p:nvSpPr>
        <p:spPr>
          <a:xfrm>
            <a:off x="3108960" y="4069080"/>
            <a:ext cx="1554480" cy="1828800"/>
          </a:xfrm>
          <a:prstGeom prst="rect">
            <a:avLst/>
          </a:prstGeom>
          <a:noFill/>
        </p:spPr>
        <p:txBody>
          <a:bodyPr wrap="square" lIns="0" rIns="0" tIns="0" bIns="0" anchor="t">
            <a:spAutoFit/>
          </a:bodyPr>
          <a:lstStyle/>
          <a:p>
            <a:pPr algn="l"/>
            <a:r>
              <a:rPr sz="1100" b="0">
                <a:solidFill>
                  <a:srgbClr val="8A8485"/>
                </a:solidFill>
                <a:latin typeface="Calibri"/>
              </a:rPr>
              <a:t>Apple, Google, or email.</a:t>
            </a:r>
          </a:p>
          <a:p>
            <a:pPr algn="l"/>
            <a:r>
              <a:rPr sz="1100" b="0">
                <a:solidFill>
                  <a:srgbClr val="8A8485"/>
                </a:solidFill>
                <a:latin typeface="Calibri"/>
              </a:rPr>
              <a:t>Phone optional (text reminders).</a:t>
            </a:r>
          </a:p>
        </p:txBody>
      </p:sp>
      <p:sp>
        <p:nvSpPr>
          <p:cNvPr id="16" name="Right Arrow 15"/>
          <p:cNvSpPr/>
          <p:nvPr/>
        </p:nvSpPr>
        <p:spPr>
          <a:xfrm>
            <a:off x="4946904" y="4114800"/>
            <a:ext cx="164592"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0640" y="2651760"/>
            <a:ext cx="210312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2926080"/>
            <a:ext cx="1554480" cy="457200"/>
          </a:xfrm>
          <a:prstGeom prst="rect">
            <a:avLst/>
          </a:prstGeom>
          <a:noFill/>
        </p:spPr>
        <p:txBody>
          <a:bodyPr wrap="square" lIns="0" rIns="0" tIns="0" bIns="0" anchor="t">
            <a:spAutoFit/>
          </a:bodyPr>
          <a:lstStyle/>
          <a:p>
            <a:pPr algn="l"/>
            <a:r>
              <a:rPr sz="2800" b="0">
                <a:solidFill>
                  <a:srgbClr val="A82E60"/>
                </a:solidFill>
                <a:latin typeface="Georgia"/>
              </a:rPr>
              <a:t>03</a:t>
            </a:r>
          </a:p>
        </p:txBody>
      </p:sp>
      <p:sp>
        <p:nvSpPr>
          <p:cNvPr id="19" name="TextBox 18"/>
          <p:cNvSpPr txBox="1"/>
          <p:nvPr/>
        </p:nvSpPr>
        <p:spPr>
          <a:xfrm>
            <a:off x="5394960" y="3566160"/>
            <a:ext cx="1554480" cy="457200"/>
          </a:xfrm>
          <a:prstGeom prst="rect">
            <a:avLst/>
          </a:prstGeom>
          <a:noFill/>
        </p:spPr>
        <p:txBody>
          <a:bodyPr wrap="square" lIns="0" rIns="0" tIns="0" bIns="0" anchor="t">
            <a:spAutoFit/>
          </a:bodyPr>
          <a:lstStyle/>
          <a:p>
            <a:pPr algn="l"/>
            <a:r>
              <a:rPr sz="1400" b="1">
                <a:solidFill>
                  <a:srgbClr val="1A1A1A"/>
                </a:solidFill>
                <a:latin typeface="Calibri"/>
              </a:rPr>
              <a:t>Your home</a:t>
            </a:r>
          </a:p>
        </p:txBody>
      </p:sp>
      <p:sp>
        <p:nvSpPr>
          <p:cNvPr id="20" name="TextBox 19"/>
          <p:cNvSpPr txBox="1"/>
          <p:nvPr/>
        </p:nvSpPr>
        <p:spPr>
          <a:xfrm>
            <a:off x="5394960" y="4069080"/>
            <a:ext cx="1554480" cy="1828800"/>
          </a:xfrm>
          <a:prstGeom prst="rect">
            <a:avLst/>
          </a:prstGeom>
          <a:noFill/>
        </p:spPr>
        <p:txBody>
          <a:bodyPr wrap="square" lIns="0" rIns="0" tIns="0" bIns="0" anchor="t">
            <a:spAutoFit/>
          </a:bodyPr>
          <a:lstStyle/>
          <a:p>
            <a:pPr algn="l"/>
            <a:r>
              <a:rPr sz="1100" b="0">
                <a:solidFill>
                  <a:srgbClr val="8A8485"/>
                </a:solidFill>
                <a:latin typeface="Calibri"/>
              </a:rPr>
              <a:t>Auto-detect or pick from</a:t>
            </a:r>
          </a:p>
          <a:p>
            <a:pPr algn="l"/>
            <a:r>
              <a:rPr sz="1100" b="0">
                <a:solidFill>
                  <a:srgbClr val="8A8485"/>
                </a:solidFill>
                <a:latin typeface="Calibri"/>
              </a:rPr>
              <a:t>33+ locations.</a:t>
            </a:r>
          </a:p>
        </p:txBody>
      </p:sp>
      <p:sp>
        <p:nvSpPr>
          <p:cNvPr id="21" name="Right Arrow 20"/>
          <p:cNvSpPr/>
          <p:nvPr/>
        </p:nvSpPr>
        <p:spPr>
          <a:xfrm>
            <a:off x="7232904" y="4114800"/>
            <a:ext cx="164592"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2651760"/>
            <a:ext cx="210312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2926080"/>
            <a:ext cx="1554480" cy="457200"/>
          </a:xfrm>
          <a:prstGeom prst="rect">
            <a:avLst/>
          </a:prstGeom>
          <a:noFill/>
        </p:spPr>
        <p:txBody>
          <a:bodyPr wrap="square" lIns="0" rIns="0" tIns="0" bIns="0" anchor="t">
            <a:spAutoFit/>
          </a:bodyPr>
          <a:lstStyle/>
          <a:p>
            <a:pPr algn="l"/>
            <a:r>
              <a:rPr sz="2800" b="0">
                <a:solidFill>
                  <a:srgbClr val="A82E60"/>
                </a:solidFill>
                <a:latin typeface="Georgia"/>
              </a:rPr>
              <a:t>04</a:t>
            </a:r>
          </a:p>
        </p:txBody>
      </p:sp>
      <p:sp>
        <p:nvSpPr>
          <p:cNvPr id="24" name="TextBox 23"/>
          <p:cNvSpPr txBox="1"/>
          <p:nvPr/>
        </p:nvSpPr>
        <p:spPr>
          <a:xfrm>
            <a:off x="7680960" y="3566160"/>
            <a:ext cx="1554480" cy="457200"/>
          </a:xfrm>
          <a:prstGeom prst="rect">
            <a:avLst/>
          </a:prstGeom>
          <a:noFill/>
        </p:spPr>
        <p:txBody>
          <a:bodyPr wrap="square" lIns="0" rIns="0" tIns="0" bIns="0" anchor="t">
            <a:spAutoFit/>
          </a:bodyPr>
          <a:lstStyle/>
          <a:p>
            <a:pPr algn="l"/>
            <a:r>
              <a:rPr sz="1400" b="1">
                <a:solidFill>
                  <a:srgbClr val="1A1A1A"/>
                </a:solidFill>
                <a:latin typeface="Calibri"/>
              </a:rPr>
              <a:t>Your services</a:t>
            </a:r>
          </a:p>
        </p:txBody>
      </p:sp>
      <p:sp>
        <p:nvSpPr>
          <p:cNvPr id="25" name="TextBox 24"/>
          <p:cNvSpPr txBox="1"/>
          <p:nvPr/>
        </p:nvSpPr>
        <p:spPr>
          <a:xfrm>
            <a:off x="7680960" y="4069080"/>
            <a:ext cx="1554480" cy="1828800"/>
          </a:xfrm>
          <a:prstGeom prst="rect">
            <a:avLst/>
          </a:prstGeom>
          <a:noFill/>
        </p:spPr>
        <p:txBody>
          <a:bodyPr wrap="square" lIns="0" rIns="0" tIns="0" bIns="0" anchor="t">
            <a:spAutoFit/>
          </a:bodyPr>
          <a:lstStyle/>
          <a:p>
            <a:pPr algn="l"/>
            <a:r>
              <a:rPr sz="1100" b="0">
                <a:solidFill>
                  <a:srgbClr val="8A8485"/>
                </a:solidFill>
                <a:latin typeface="Calibri"/>
              </a:rPr>
              <a:t>Nails · wax · laser · skin.</a:t>
            </a:r>
          </a:p>
          <a:p>
            <a:pPr algn="l"/>
            <a:r>
              <a:rPr sz="1100" b="0">
                <a:solidFill>
                  <a:srgbClr val="8A8485"/>
                </a:solidFill>
                <a:latin typeface="Calibri"/>
              </a:rPr>
              <a:t>Which do you book?</a:t>
            </a:r>
          </a:p>
        </p:txBody>
      </p:sp>
      <p:sp>
        <p:nvSpPr>
          <p:cNvPr id="26" name="Right Arrow 25"/>
          <p:cNvSpPr/>
          <p:nvPr/>
        </p:nvSpPr>
        <p:spPr>
          <a:xfrm>
            <a:off x="9518904" y="4114800"/>
            <a:ext cx="164592"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92640" y="2651760"/>
            <a:ext cx="210312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0" y="2926080"/>
            <a:ext cx="1554480" cy="457200"/>
          </a:xfrm>
          <a:prstGeom prst="rect">
            <a:avLst/>
          </a:prstGeom>
          <a:noFill/>
        </p:spPr>
        <p:txBody>
          <a:bodyPr wrap="square" lIns="0" rIns="0" tIns="0" bIns="0" anchor="t">
            <a:spAutoFit/>
          </a:bodyPr>
          <a:lstStyle/>
          <a:p>
            <a:pPr algn="l"/>
            <a:r>
              <a:rPr sz="2800" b="0">
                <a:solidFill>
                  <a:srgbClr val="A82E60"/>
                </a:solidFill>
                <a:latin typeface="Georgia"/>
              </a:rPr>
              <a:t>05</a:t>
            </a:r>
          </a:p>
        </p:txBody>
      </p:sp>
      <p:sp>
        <p:nvSpPr>
          <p:cNvPr id="29" name="TextBox 28"/>
          <p:cNvSpPr txBox="1"/>
          <p:nvPr/>
        </p:nvSpPr>
        <p:spPr>
          <a:xfrm>
            <a:off x="9966960" y="3566160"/>
            <a:ext cx="1554480" cy="457200"/>
          </a:xfrm>
          <a:prstGeom prst="rect">
            <a:avLst/>
          </a:prstGeom>
          <a:noFill/>
        </p:spPr>
        <p:txBody>
          <a:bodyPr wrap="square" lIns="0" rIns="0" tIns="0" bIns="0" anchor="t">
            <a:spAutoFit/>
          </a:bodyPr>
          <a:lstStyle/>
          <a:p>
            <a:pPr algn="l"/>
            <a:r>
              <a:rPr sz="1400" b="1">
                <a:solidFill>
                  <a:srgbClr val="1A1A1A"/>
                </a:solidFill>
                <a:latin typeface="Calibri"/>
              </a:rPr>
              <a:t>First moment</a:t>
            </a:r>
          </a:p>
        </p:txBody>
      </p:sp>
      <p:sp>
        <p:nvSpPr>
          <p:cNvPr id="30" name="TextBox 29"/>
          <p:cNvSpPr txBox="1"/>
          <p:nvPr/>
        </p:nvSpPr>
        <p:spPr>
          <a:xfrm>
            <a:off x="9966960" y="4069080"/>
            <a:ext cx="1554480" cy="1828800"/>
          </a:xfrm>
          <a:prstGeom prst="rect">
            <a:avLst/>
          </a:prstGeom>
          <a:noFill/>
        </p:spPr>
        <p:txBody>
          <a:bodyPr wrap="square" lIns="0" rIns="0" tIns="0" bIns="0" anchor="t">
            <a:spAutoFit/>
          </a:bodyPr>
          <a:lstStyle/>
          <a:p>
            <a:pPr algn="l"/>
            <a:r>
              <a:rPr sz="1100" b="0">
                <a:solidFill>
                  <a:srgbClr val="8A8485"/>
                </a:solidFill>
                <a:latin typeface="Calibri"/>
              </a:rPr>
              <a:t>See the next due appointment —</a:t>
            </a:r>
          </a:p>
          <a:p>
            <a:pPr algn="l"/>
            <a:r>
              <a:rPr sz="1100" b="0">
                <a:solidFill>
                  <a:srgbClr val="8A8485"/>
                </a:solidFill>
                <a:latin typeface="Calibri"/>
              </a:rPr>
              <a:t>or book a fresh one.</a:t>
            </a:r>
          </a:p>
        </p:txBody>
      </p:sp>
      <p:sp>
        <p:nvSpPr>
          <p:cNvPr id="31" name="TextBox 30"/>
          <p:cNvSpPr txBox="1"/>
          <p:nvPr/>
        </p:nvSpPr>
        <p:spPr>
          <a:xfrm>
            <a:off x="548640" y="6126480"/>
            <a:ext cx="10972800" cy="365760"/>
          </a:xfrm>
          <a:prstGeom prst="rect">
            <a:avLst/>
          </a:prstGeom>
          <a:noFill/>
        </p:spPr>
        <p:txBody>
          <a:bodyPr wrap="square" lIns="0" rIns="0" tIns="0" bIns="0" anchor="t">
            <a:spAutoFit/>
          </a:bodyPr>
          <a:lstStyle/>
          <a:p>
            <a:pPr algn="l"/>
            <a:r>
              <a:rPr sz="1100" b="1">
                <a:solidFill>
                  <a:srgbClr val="A82E60"/>
                </a:solidFill>
                <a:latin typeface="Calibri"/>
              </a:rPr>
              <a:t>DESIGN PRINCIPLE   —   Body data is opt-in. Sensitive flags route to technician, never to marketing AI.</a:t>
            </a:r>
          </a:p>
        </p:txBody>
      </p:sp>
      <p:sp>
        <p:nvSpPr>
          <p:cNvPr id="32" name="TextBox 31"/>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3" name="TextBox 32"/>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USER FLOW · 1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First booking → recurring customer.</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From a curious tap to a 4-week wax cadence in three months.</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DISCOVER</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Sees the brand</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Friend recommends. Installs the app. Picks Leslieville as home location.</a:t>
            </a:r>
          </a:p>
        </p:txBody>
      </p:sp>
      <p:sp>
        <p:nvSpPr>
          <p:cNvPr id="12" name="Right Arrow 11"/>
          <p:cNvSpPr/>
          <p:nvPr/>
        </p:nvSpPr>
        <p:spPr>
          <a:xfrm>
            <a:off x="2532888"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BOOK</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First Brazilian wax</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Picks first-time-friendly Jess. Reads the 24-hour prep guide. Books Sat 2pm.</a:t>
            </a:r>
          </a:p>
        </p:txBody>
      </p:sp>
      <p:sp>
        <p:nvSpPr>
          <p:cNvPr id="18" name="Right Arrow 17"/>
          <p:cNvSpPr/>
          <p:nvPr/>
        </p:nvSpPr>
        <p:spPr>
          <a:xfrm>
            <a:off x="4791456"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PREP</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Day-before push</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App reminds: don't shave, exfoliate tonight, skip caffeine tomorrow. Customer arrives prepared.</a:t>
            </a:r>
          </a:p>
        </p:txBody>
      </p:sp>
      <p:sp>
        <p:nvSpPr>
          <p:cNvPr id="24" name="Right Arrow 23"/>
          <p:cNvSpPr/>
          <p:nvPr/>
        </p:nvSpPr>
        <p:spPr>
          <a:xfrm>
            <a:off x="7050024"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AFTER</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48-hr aftercare</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Push: "No sun for 24 hr. Apply post-wax oil tonight." Care continues.</a:t>
            </a:r>
          </a:p>
        </p:txBody>
      </p:sp>
      <p:sp>
        <p:nvSpPr>
          <p:cNvPr id="30" name="Right Arrow 29"/>
          <p:cNvSpPr/>
          <p:nvPr/>
        </p:nvSpPr>
        <p:spPr>
          <a:xfrm>
            <a:off x="9308592"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CADENCE</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4 weeks later</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Push: "Your wax is due — same time, same Jess?" Books in 3 taps. Now a recurring customer.</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USER FLOW · 2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Cross-location customer — the traveling regular.</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The app turns 33 separate locations into one brand experience.</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HOME</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Books at Leslieville</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Em is a Toronto local. Home location: Leslieville. Books wax + brow there every 4 weeks.</a:t>
            </a:r>
          </a:p>
        </p:txBody>
      </p:sp>
      <p:sp>
        <p:nvSpPr>
          <p:cNvPr id="12" name="Right Arrow 11"/>
          <p:cNvSpPr/>
          <p:nvPr/>
        </p:nvSpPr>
        <p:spPr>
          <a:xfrm>
            <a:off x="2532888"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TRAVEL</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Weekend in Yorkville</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Saturday plans take her to Yorkville. App suggests: "Yorkville also has Lara — she does your same lash style."</a:t>
            </a:r>
          </a:p>
        </p:txBody>
      </p:sp>
      <p:sp>
        <p:nvSpPr>
          <p:cNvPr id="18" name="Right Arrow 17"/>
          <p:cNvSpPr/>
          <p:nvPr/>
        </p:nvSpPr>
        <p:spPr>
          <a:xfrm>
            <a:off x="4791456"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BOOK</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One-tap cross-location</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Books lash refill at Yorkville without leaving the app. Member credit applies.</a:t>
            </a:r>
          </a:p>
        </p:txBody>
      </p:sp>
      <p:sp>
        <p:nvSpPr>
          <p:cNvPr id="24" name="Right Arrow 23"/>
          <p:cNvSpPr/>
          <p:nvPr/>
        </p:nvSpPr>
        <p:spPr>
          <a:xfrm>
            <a:off x="7050024"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HISTORY</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Both locations in archive</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Service history shows both. Cadence detection still works across locations.</a:t>
            </a:r>
          </a:p>
        </p:txBody>
      </p:sp>
      <p:sp>
        <p:nvSpPr>
          <p:cNvPr id="30" name="Right Arrow 29"/>
          <p:cNvSpPr/>
          <p:nvPr/>
        </p:nvSpPr>
        <p:spPr>
          <a:xfrm>
            <a:off x="9308592"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LOYALTY</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Multi-location LTV</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Em is now a 2-location customer. Brand earns more visits, more LTV.</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USER FLOW · 3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Sensitive-skin customer pre-laser — when to defer.</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The brand's reputation depends on never giving medical advice.</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DISCLOSE</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Sensitive skin opt-in</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Tia notes she has reactive skin. App stores it (specialist-only access).</a:t>
            </a:r>
          </a:p>
        </p:txBody>
      </p:sp>
      <p:sp>
        <p:nvSpPr>
          <p:cNvPr id="12" name="Right Arrow 11"/>
          <p:cNvSpPr/>
          <p:nvPr/>
        </p:nvSpPr>
        <p:spPr>
          <a:xfrm>
            <a:off x="2532888"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BOOK</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Books laser session 4 of 6</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App routes booking to Mia, who's done sensitive-skin work for 3 yr.</a:t>
            </a:r>
          </a:p>
        </p:txBody>
      </p:sp>
      <p:sp>
        <p:nvSpPr>
          <p:cNvPr id="18" name="Right Arrow 17"/>
          <p:cNvSpPr/>
          <p:nvPr/>
        </p:nvSpPr>
        <p:spPr>
          <a:xfrm>
            <a:off x="4791456"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AI FLAG</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Recent sunburn detected</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Customer mentions "I got a bit of sun last weekend." AI: "Recommend rescheduling — sun + laser is risk."</a:t>
            </a:r>
          </a:p>
        </p:txBody>
      </p:sp>
      <p:sp>
        <p:nvSpPr>
          <p:cNvPr id="24" name="Right Arrow 23"/>
          <p:cNvSpPr/>
          <p:nvPr/>
        </p:nvSpPr>
        <p:spPr>
          <a:xfrm>
            <a:off x="7050024"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TECH CONSULT</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Mia confirms</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Mia (specialist) reviews. Reschedules to next week. Customer thanks brand for not damaging her skin.</a:t>
            </a:r>
          </a:p>
        </p:txBody>
      </p:sp>
      <p:sp>
        <p:nvSpPr>
          <p:cNvPr id="30" name="Right Arrow 29"/>
          <p:cNvSpPr/>
          <p:nvPr/>
        </p:nvSpPr>
        <p:spPr>
          <a:xfrm>
            <a:off x="9308592" y="4069080"/>
            <a:ext cx="228600" cy="365760"/>
          </a:xfrm>
          <a:prstGeom prst="rightArrow">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TRUST</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1A1A1A"/>
                </a:solidFill>
                <a:latin typeface="Calibri"/>
              </a:rPr>
              <a:t>Brand earned it</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A8485"/>
                </a:solidFill>
                <a:latin typeface="Calibri"/>
              </a:rPr>
              <a:t>What another brand might have run as scheduled, Ten Spot handled correctly. Tia stays loyal.</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VISUAL REFERENCE</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What it looks like in hand.</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Wireframe-fidelity mockups in the brand palette — soft pink-cream, hot pink, matte black, gold.</a:t>
            </a:r>
          </a:p>
        </p:txBody>
      </p:sp>
      <p:sp>
        <p:nvSpPr>
          <p:cNvPr id="7" name="Rounded Rectangle 6"/>
          <p:cNvSpPr/>
          <p:nvPr/>
        </p:nvSpPr>
        <p:spPr>
          <a:xfrm>
            <a:off x="548640" y="24688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5603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5603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Onboarding</a:t>
            </a:r>
          </a:p>
        </p:txBody>
      </p:sp>
      <p:sp>
        <p:nvSpPr>
          <p:cNvPr id="11" name="TextBox 10"/>
          <p:cNvSpPr txBox="1"/>
          <p:nvPr/>
        </p:nvSpPr>
        <p:spPr>
          <a:xfrm>
            <a:off x="731520" y="3108960"/>
            <a:ext cx="1737360" cy="1097280"/>
          </a:xfrm>
          <a:prstGeom prst="rect">
            <a:avLst/>
          </a:prstGeom>
          <a:noFill/>
        </p:spPr>
        <p:txBody>
          <a:bodyPr wrap="square" lIns="0" rIns="0" tIns="0" bIns="0" anchor="t">
            <a:spAutoFit/>
          </a:bodyPr>
          <a:lstStyle/>
          <a:p>
            <a:pPr algn="l"/>
            <a:r>
              <a:rPr sz="1000" b="0">
                <a:solidFill>
                  <a:srgbClr val="8A8485"/>
                </a:solidFill>
                <a:latin typeface="Calibri"/>
              </a:rPr>
              <a:t>EN/FR · sign-in</a:t>
            </a:r>
          </a:p>
        </p:txBody>
      </p:sp>
      <p:sp>
        <p:nvSpPr>
          <p:cNvPr id="12" name="Rounded Rectangle 11"/>
          <p:cNvSpPr/>
          <p:nvPr/>
        </p:nvSpPr>
        <p:spPr>
          <a:xfrm>
            <a:off x="2788920" y="24688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80360" y="25603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80360" y="25603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Home</a:t>
            </a:r>
          </a:p>
        </p:txBody>
      </p:sp>
      <p:sp>
        <p:nvSpPr>
          <p:cNvPr id="16" name="TextBox 15"/>
          <p:cNvSpPr txBox="1"/>
          <p:nvPr/>
        </p:nvSpPr>
        <p:spPr>
          <a:xfrm>
            <a:off x="2971800" y="3108960"/>
            <a:ext cx="1737360" cy="1097280"/>
          </a:xfrm>
          <a:prstGeom prst="rect">
            <a:avLst/>
          </a:prstGeom>
          <a:noFill/>
        </p:spPr>
        <p:txBody>
          <a:bodyPr wrap="square" lIns="0" rIns="0" tIns="0" bIns="0" anchor="t">
            <a:spAutoFit/>
          </a:bodyPr>
          <a:lstStyle/>
          <a:p>
            <a:pPr algn="l"/>
            <a:r>
              <a:rPr sz="1000" b="0">
                <a:solidFill>
                  <a:srgbClr val="8A8485"/>
                </a:solidFill>
                <a:latin typeface="Calibri"/>
              </a:rPr>
              <a:t>Next + due</a:t>
            </a:r>
          </a:p>
        </p:txBody>
      </p:sp>
      <p:sp>
        <p:nvSpPr>
          <p:cNvPr id="17" name="Rounded Rectangle 16"/>
          <p:cNvSpPr/>
          <p:nvPr/>
        </p:nvSpPr>
        <p:spPr>
          <a:xfrm>
            <a:off x="5029200" y="24688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20640" y="25603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0" y="25603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Book</a:t>
            </a:r>
          </a:p>
        </p:txBody>
      </p:sp>
      <p:sp>
        <p:nvSpPr>
          <p:cNvPr id="21" name="TextBox 20"/>
          <p:cNvSpPr txBox="1"/>
          <p:nvPr/>
        </p:nvSpPr>
        <p:spPr>
          <a:xfrm>
            <a:off x="5212080" y="3108960"/>
            <a:ext cx="1737360" cy="1097280"/>
          </a:xfrm>
          <a:prstGeom prst="rect">
            <a:avLst/>
          </a:prstGeom>
          <a:noFill/>
        </p:spPr>
        <p:txBody>
          <a:bodyPr wrap="square" lIns="0" rIns="0" tIns="0" bIns="0" anchor="t">
            <a:spAutoFit/>
          </a:bodyPr>
          <a:lstStyle/>
          <a:p>
            <a:pPr algn="l"/>
            <a:r>
              <a:rPr sz="1000" b="0">
                <a:solidFill>
                  <a:srgbClr val="8A8485"/>
                </a:solidFill>
                <a:latin typeface="Calibri"/>
              </a:rPr>
              <a:t>Multi-service combo</a:t>
            </a:r>
          </a:p>
        </p:txBody>
      </p:sp>
      <p:sp>
        <p:nvSpPr>
          <p:cNvPr id="22" name="Rounded Rectangle 21"/>
          <p:cNvSpPr/>
          <p:nvPr/>
        </p:nvSpPr>
        <p:spPr>
          <a:xfrm>
            <a:off x="7269480" y="24688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0920" y="25603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0920" y="25603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Your Spot</a:t>
            </a:r>
          </a:p>
        </p:txBody>
      </p:sp>
      <p:sp>
        <p:nvSpPr>
          <p:cNvPr id="26" name="TextBox 25"/>
          <p:cNvSpPr txBox="1"/>
          <p:nvPr/>
        </p:nvSpPr>
        <p:spPr>
          <a:xfrm>
            <a:off x="7452360" y="3108960"/>
            <a:ext cx="1737360" cy="1097280"/>
          </a:xfrm>
          <a:prstGeom prst="rect">
            <a:avLst/>
          </a:prstGeom>
          <a:noFill/>
        </p:spPr>
        <p:txBody>
          <a:bodyPr wrap="square" lIns="0" rIns="0" tIns="0" bIns="0" anchor="t">
            <a:spAutoFit/>
          </a:bodyPr>
          <a:lstStyle/>
          <a:p>
            <a:pPr algn="l"/>
            <a:r>
              <a:rPr sz="1000" b="0">
                <a:solidFill>
                  <a:srgbClr val="8A8485"/>
                </a:solidFill>
                <a:latin typeface="Calibri"/>
              </a:rPr>
              <a:t>Favs + history</a:t>
            </a:r>
          </a:p>
        </p:txBody>
      </p:sp>
      <p:sp>
        <p:nvSpPr>
          <p:cNvPr id="27" name="Rounded Rectangle 26"/>
          <p:cNvSpPr/>
          <p:nvPr/>
        </p:nvSpPr>
        <p:spPr>
          <a:xfrm>
            <a:off x="9509760" y="24688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01200" y="25603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1200" y="25603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Service</a:t>
            </a:r>
          </a:p>
        </p:txBody>
      </p:sp>
      <p:sp>
        <p:nvSpPr>
          <p:cNvPr id="31" name="TextBox 30"/>
          <p:cNvSpPr txBox="1"/>
          <p:nvPr/>
        </p:nvSpPr>
        <p:spPr>
          <a:xfrm>
            <a:off x="9692640" y="3108960"/>
            <a:ext cx="1737360" cy="1097280"/>
          </a:xfrm>
          <a:prstGeom prst="rect">
            <a:avLst/>
          </a:prstGeom>
          <a:noFill/>
        </p:spPr>
        <p:txBody>
          <a:bodyPr wrap="square" lIns="0" rIns="0" tIns="0" bIns="0" anchor="t">
            <a:spAutoFit/>
          </a:bodyPr>
          <a:lstStyle/>
          <a:p>
            <a:pPr algn="l"/>
            <a:r>
              <a:rPr sz="1000" b="0">
                <a:solidFill>
                  <a:srgbClr val="8A8485"/>
                </a:solidFill>
                <a:latin typeface="Calibri"/>
              </a:rPr>
              <a:t>Prep + after</a:t>
            </a:r>
          </a:p>
        </p:txBody>
      </p:sp>
      <p:sp>
        <p:nvSpPr>
          <p:cNvPr id="32" name="Rounded Rectangle 31"/>
          <p:cNvSpPr/>
          <p:nvPr/>
        </p:nvSpPr>
        <p:spPr>
          <a:xfrm>
            <a:off x="548640" y="45262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 y="46177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 y="46177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Calendar</a:t>
            </a:r>
          </a:p>
        </p:txBody>
      </p:sp>
      <p:sp>
        <p:nvSpPr>
          <p:cNvPr id="36" name="TextBox 35"/>
          <p:cNvSpPr txBox="1"/>
          <p:nvPr/>
        </p:nvSpPr>
        <p:spPr>
          <a:xfrm>
            <a:off x="731520" y="5166360"/>
            <a:ext cx="1737360" cy="1097280"/>
          </a:xfrm>
          <a:prstGeom prst="rect">
            <a:avLst/>
          </a:prstGeom>
          <a:noFill/>
        </p:spPr>
        <p:txBody>
          <a:bodyPr wrap="square" lIns="0" rIns="0" tIns="0" bIns="0" anchor="t">
            <a:spAutoFit/>
          </a:bodyPr>
          <a:lstStyle/>
          <a:p>
            <a:pPr algn="l"/>
            <a:r>
              <a:rPr sz="1000" b="0">
                <a:solidFill>
                  <a:srgbClr val="8A8485"/>
                </a:solidFill>
                <a:latin typeface="Calibri"/>
              </a:rPr>
              <a:t>Recurring schedule</a:t>
            </a:r>
          </a:p>
        </p:txBody>
      </p:sp>
      <p:sp>
        <p:nvSpPr>
          <p:cNvPr id="37" name="Rounded Rectangle 36"/>
          <p:cNvSpPr/>
          <p:nvPr/>
        </p:nvSpPr>
        <p:spPr>
          <a:xfrm>
            <a:off x="2788920" y="45262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880360" y="46177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880360" y="46177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7180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Wallet</a:t>
            </a:r>
          </a:p>
        </p:txBody>
      </p:sp>
      <p:sp>
        <p:nvSpPr>
          <p:cNvPr id="41" name="TextBox 40"/>
          <p:cNvSpPr txBox="1"/>
          <p:nvPr/>
        </p:nvSpPr>
        <p:spPr>
          <a:xfrm>
            <a:off x="2971800" y="5166360"/>
            <a:ext cx="1737360" cy="1097280"/>
          </a:xfrm>
          <a:prstGeom prst="rect">
            <a:avLst/>
          </a:prstGeom>
          <a:noFill/>
        </p:spPr>
        <p:txBody>
          <a:bodyPr wrap="square" lIns="0" rIns="0" tIns="0" bIns="0" anchor="t">
            <a:spAutoFit/>
          </a:bodyPr>
          <a:lstStyle/>
          <a:p>
            <a:pPr algn="l"/>
            <a:r>
              <a:rPr sz="1000" b="0">
                <a:solidFill>
                  <a:srgbClr val="8A8485"/>
                </a:solidFill>
                <a:latin typeface="Calibri"/>
              </a:rPr>
              <a:t>Member + gift card</a:t>
            </a:r>
          </a:p>
        </p:txBody>
      </p:sp>
      <p:sp>
        <p:nvSpPr>
          <p:cNvPr id="42" name="Rounded Rectangle 41"/>
          <p:cNvSpPr/>
          <p:nvPr/>
        </p:nvSpPr>
        <p:spPr>
          <a:xfrm>
            <a:off x="5029200" y="45262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120640" y="46177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120640" y="46177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Concierge</a:t>
            </a:r>
          </a:p>
        </p:txBody>
      </p:sp>
      <p:sp>
        <p:nvSpPr>
          <p:cNvPr id="46" name="TextBox 45"/>
          <p:cNvSpPr txBox="1"/>
          <p:nvPr/>
        </p:nvSpPr>
        <p:spPr>
          <a:xfrm>
            <a:off x="5212080" y="5166360"/>
            <a:ext cx="1737360" cy="1097280"/>
          </a:xfrm>
          <a:prstGeom prst="rect">
            <a:avLst/>
          </a:prstGeom>
          <a:noFill/>
        </p:spPr>
        <p:txBody>
          <a:bodyPr wrap="square" lIns="0" rIns="0" tIns="0" bIns="0" anchor="t">
            <a:spAutoFit/>
          </a:bodyPr>
          <a:lstStyle/>
          <a:p>
            <a:pPr algn="l"/>
            <a:r>
              <a:rPr sz="1000" b="0">
                <a:solidFill>
                  <a:srgbClr val="8A8485"/>
                </a:solidFill>
                <a:latin typeface="Calibri"/>
              </a:rPr>
              <a:t>Booking AI</a:t>
            </a:r>
          </a:p>
        </p:txBody>
      </p:sp>
      <p:sp>
        <p:nvSpPr>
          <p:cNvPr id="47" name="Rounded Rectangle 46"/>
          <p:cNvSpPr/>
          <p:nvPr/>
        </p:nvSpPr>
        <p:spPr>
          <a:xfrm>
            <a:off x="7269480" y="4526280"/>
            <a:ext cx="2103120" cy="182880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360920" y="4617720"/>
            <a:ext cx="1920240" cy="1645920"/>
          </a:xfrm>
          <a:prstGeom prst="roundRect">
            <a:avLst>
              <a:gd name="adj" fmla="val 12000"/>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360920" y="4617720"/>
            <a:ext cx="192024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5236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Profile</a:t>
            </a:r>
          </a:p>
        </p:txBody>
      </p:sp>
      <p:sp>
        <p:nvSpPr>
          <p:cNvPr id="51" name="TextBox 50"/>
          <p:cNvSpPr txBox="1"/>
          <p:nvPr/>
        </p:nvSpPr>
        <p:spPr>
          <a:xfrm>
            <a:off x="7452360" y="5166360"/>
            <a:ext cx="1737360" cy="1097280"/>
          </a:xfrm>
          <a:prstGeom prst="rect">
            <a:avLst/>
          </a:prstGeom>
          <a:noFill/>
        </p:spPr>
        <p:txBody>
          <a:bodyPr wrap="square" lIns="0" rIns="0" tIns="0" bIns="0" anchor="t">
            <a:spAutoFit/>
          </a:bodyPr>
          <a:lstStyle/>
          <a:p>
            <a:pPr algn="l"/>
            <a:r>
              <a:rPr sz="1000" b="0">
                <a:solidFill>
                  <a:srgbClr val="8A8485"/>
                </a:solidFill>
                <a:latin typeface="Calibri"/>
              </a:rPr>
              <a:t>Data · privacy</a:t>
            </a:r>
          </a:p>
        </p:txBody>
      </p:sp>
      <p:sp>
        <p:nvSpPr>
          <p:cNvPr id="52" name="TextBox 51"/>
          <p:cNvSpPr txBox="1"/>
          <p:nvPr/>
        </p:nvSpPr>
        <p:spPr>
          <a:xfrm>
            <a:off x="548640" y="6400800"/>
            <a:ext cx="10972800" cy="365760"/>
          </a:xfrm>
          <a:prstGeom prst="rect">
            <a:avLst/>
          </a:prstGeom>
          <a:noFill/>
        </p:spPr>
        <p:txBody>
          <a:bodyPr wrap="square" lIns="0" rIns="0" tIns="0" bIns="0" anchor="t">
            <a:spAutoFit/>
          </a:bodyPr>
          <a:lstStyle/>
          <a:p>
            <a:pPr algn="l"/>
            <a:r>
              <a:rPr sz="1000" b="0">
                <a:solidFill>
                  <a:srgbClr val="A82E60"/>
                </a:solidFill>
                <a:latin typeface="Calibri"/>
              </a:rPr>
              <a:t>Full interactive HTML mockup available — opens in any browser.</a:t>
            </a:r>
          </a:p>
        </p:txBody>
      </p:sp>
      <p:sp>
        <p:nvSpPr>
          <p:cNvPr id="53" name="TextBox 52"/>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54" name="TextBox 53"/>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INTELLIGENCE · TIER 1</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AI in service of booking and prep, not body data.</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Every Tier 1 feature reduces friction or deepens trust.</a:t>
            </a:r>
          </a:p>
        </p:txBody>
      </p:sp>
      <p:sp>
        <p:nvSpPr>
          <p:cNvPr id="7" name="Rounded Rectangle 6"/>
          <p:cNvSpPr/>
          <p:nvPr/>
        </p:nvSpPr>
        <p:spPr>
          <a:xfrm>
            <a:off x="548640" y="265176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88036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10" name="TextBox 9"/>
          <p:cNvSpPr txBox="1"/>
          <p:nvPr/>
        </p:nvSpPr>
        <p:spPr>
          <a:xfrm>
            <a:off x="1325880" y="2788920"/>
            <a:ext cx="4480560" cy="365760"/>
          </a:xfrm>
          <a:prstGeom prst="rect">
            <a:avLst/>
          </a:prstGeom>
          <a:noFill/>
        </p:spPr>
        <p:txBody>
          <a:bodyPr wrap="square" lIns="0" rIns="0" tIns="0" bIns="0" anchor="t">
            <a:spAutoFit/>
          </a:bodyPr>
          <a:lstStyle/>
          <a:p>
            <a:pPr algn="l"/>
            <a:r>
              <a:rPr sz="1400" b="1">
                <a:solidFill>
                  <a:srgbClr val="1A1A1A"/>
                </a:solidFill>
                <a:latin typeface="Calibri"/>
              </a:rPr>
              <a:t>Concierge chat (Sonnet)</a:t>
            </a:r>
          </a:p>
        </p:txBody>
      </p:sp>
      <p:sp>
        <p:nvSpPr>
          <p:cNvPr id="11" name="TextBox 10"/>
          <p:cNvSpPr txBox="1"/>
          <p:nvPr/>
        </p:nvSpPr>
        <p:spPr>
          <a:xfrm>
            <a:off x="1325880" y="3108960"/>
            <a:ext cx="4480560" cy="457200"/>
          </a:xfrm>
          <a:prstGeom prst="rect">
            <a:avLst/>
          </a:prstGeom>
          <a:noFill/>
        </p:spPr>
        <p:txBody>
          <a:bodyPr wrap="square" lIns="0" rIns="0" tIns="0" bIns="0" anchor="t">
            <a:spAutoFit/>
          </a:bodyPr>
          <a:lstStyle/>
          <a:p>
            <a:pPr algn="l"/>
            <a:r>
              <a:rPr sz="1100" b="0">
                <a:solidFill>
                  <a:srgbClr val="8A8485"/>
                </a:solidFill>
                <a:latin typeface="Calibri"/>
              </a:rPr>
              <a:t>Bilingual EN/FR. Books, prepares, answers — never diagnoses.</a:t>
            </a:r>
          </a:p>
        </p:txBody>
      </p:sp>
      <p:sp>
        <p:nvSpPr>
          <p:cNvPr id="12" name="Rounded Rectangle 11"/>
          <p:cNvSpPr/>
          <p:nvPr/>
        </p:nvSpPr>
        <p:spPr>
          <a:xfrm>
            <a:off x="6172200" y="265176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288036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8036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15" name="TextBox 14"/>
          <p:cNvSpPr txBox="1"/>
          <p:nvPr/>
        </p:nvSpPr>
        <p:spPr>
          <a:xfrm>
            <a:off x="6949440" y="2788920"/>
            <a:ext cx="4480560" cy="365760"/>
          </a:xfrm>
          <a:prstGeom prst="rect">
            <a:avLst/>
          </a:prstGeom>
          <a:noFill/>
        </p:spPr>
        <p:txBody>
          <a:bodyPr wrap="square" lIns="0" rIns="0" tIns="0" bIns="0" anchor="t">
            <a:spAutoFit/>
          </a:bodyPr>
          <a:lstStyle/>
          <a:p>
            <a:pPr algn="l"/>
            <a:r>
              <a:rPr sz="1400" b="1">
                <a:solidFill>
                  <a:srgbClr val="1A1A1A"/>
                </a:solidFill>
                <a:latin typeface="Calibri"/>
              </a:rPr>
              <a:t>Cadence-aware push</a:t>
            </a:r>
          </a:p>
        </p:txBody>
      </p:sp>
      <p:sp>
        <p:nvSpPr>
          <p:cNvPr id="16" name="TextBox 15"/>
          <p:cNvSpPr txBox="1"/>
          <p:nvPr/>
        </p:nvSpPr>
        <p:spPr>
          <a:xfrm>
            <a:off x="6949440" y="3108960"/>
            <a:ext cx="4480560" cy="457200"/>
          </a:xfrm>
          <a:prstGeom prst="rect">
            <a:avLst/>
          </a:prstGeom>
          <a:noFill/>
        </p:spPr>
        <p:txBody>
          <a:bodyPr wrap="square" lIns="0" rIns="0" tIns="0" bIns="0" anchor="t">
            <a:spAutoFit/>
          </a:bodyPr>
          <a:lstStyle/>
          <a:p>
            <a:pPr algn="l"/>
            <a:r>
              <a:rPr sz="1100" b="0">
                <a:solidFill>
                  <a:srgbClr val="8A8485"/>
                </a:solidFill>
                <a:latin typeface="Calibri"/>
              </a:rPr>
              <a:t>Detects "your wax is due" from booking history.</a:t>
            </a:r>
          </a:p>
        </p:txBody>
      </p:sp>
      <p:sp>
        <p:nvSpPr>
          <p:cNvPr id="17" name="Rounded Rectangle 16"/>
          <p:cNvSpPr/>
          <p:nvPr/>
        </p:nvSpPr>
        <p:spPr>
          <a:xfrm>
            <a:off x="548640" y="370332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93192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3192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20" name="TextBox 19"/>
          <p:cNvSpPr txBox="1"/>
          <p:nvPr/>
        </p:nvSpPr>
        <p:spPr>
          <a:xfrm>
            <a:off x="1325880" y="3840480"/>
            <a:ext cx="4480560" cy="365760"/>
          </a:xfrm>
          <a:prstGeom prst="rect">
            <a:avLst/>
          </a:prstGeom>
          <a:noFill/>
        </p:spPr>
        <p:txBody>
          <a:bodyPr wrap="square" lIns="0" rIns="0" tIns="0" bIns="0" anchor="t">
            <a:spAutoFit/>
          </a:bodyPr>
          <a:lstStyle/>
          <a:p>
            <a:pPr algn="l"/>
            <a:r>
              <a:rPr sz="1400" b="1">
                <a:solidFill>
                  <a:srgbClr val="1A1A1A"/>
                </a:solidFill>
                <a:latin typeface="Calibri"/>
              </a:rPr>
              <a:t>First-time-friendly walk-through</a:t>
            </a:r>
          </a:p>
        </p:txBody>
      </p:sp>
      <p:sp>
        <p:nvSpPr>
          <p:cNvPr id="21" name="TextBox 20"/>
          <p:cNvSpPr txBox="1"/>
          <p:nvPr/>
        </p:nvSpPr>
        <p:spPr>
          <a:xfrm>
            <a:off x="1325880" y="4160520"/>
            <a:ext cx="4480560" cy="457200"/>
          </a:xfrm>
          <a:prstGeom prst="rect">
            <a:avLst/>
          </a:prstGeom>
          <a:noFill/>
        </p:spPr>
        <p:txBody>
          <a:bodyPr wrap="square" lIns="0" rIns="0" tIns="0" bIns="0" anchor="t">
            <a:spAutoFit/>
          </a:bodyPr>
          <a:lstStyle/>
          <a:p>
            <a:pPr algn="l"/>
            <a:r>
              <a:rPr sz="1100" b="0">
                <a:solidFill>
                  <a:srgbClr val="8A8485"/>
                </a:solidFill>
                <a:latin typeface="Calibri"/>
              </a:rPr>
              <a:t>AI walks new customers through what to expect.</a:t>
            </a:r>
          </a:p>
        </p:txBody>
      </p:sp>
      <p:sp>
        <p:nvSpPr>
          <p:cNvPr id="22" name="Rounded Rectangle 21"/>
          <p:cNvSpPr/>
          <p:nvPr/>
        </p:nvSpPr>
        <p:spPr>
          <a:xfrm>
            <a:off x="6172200" y="370332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393192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93192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25" name="TextBox 24"/>
          <p:cNvSpPr txBox="1"/>
          <p:nvPr/>
        </p:nvSpPr>
        <p:spPr>
          <a:xfrm>
            <a:off x="6949440" y="3840480"/>
            <a:ext cx="4480560" cy="365760"/>
          </a:xfrm>
          <a:prstGeom prst="rect">
            <a:avLst/>
          </a:prstGeom>
          <a:noFill/>
        </p:spPr>
        <p:txBody>
          <a:bodyPr wrap="square" lIns="0" rIns="0" tIns="0" bIns="0" anchor="t">
            <a:spAutoFit/>
          </a:bodyPr>
          <a:lstStyle/>
          <a:p>
            <a:pPr algn="l"/>
            <a:r>
              <a:rPr sz="1400" b="1">
                <a:solidFill>
                  <a:srgbClr val="1A1A1A"/>
                </a:solidFill>
                <a:latin typeface="Calibri"/>
              </a:rPr>
              <a:t>Multilingual translation (EN/FR)</a:t>
            </a:r>
          </a:p>
        </p:txBody>
      </p:sp>
      <p:sp>
        <p:nvSpPr>
          <p:cNvPr id="26" name="TextBox 25"/>
          <p:cNvSpPr txBox="1"/>
          <p:nvPr/>
        </p:nvSpPr>
        <p:spPr>
          <a:xfrm>
            <a:off x="6949440" y="4160520"/>
            <a:ext cx="4480560" cy="457200"/>
          </a:xfrm>
          <a:prstGeom prst="rect">
            <a:avLst/>
          </a:prstGeom>
          <a:noFill/>
        </p:spPr>
        <p:txBody>
          <a:bodyPr wrap="square" lIns="0" rIns="0" tIns="0" bIns="0" anchor="t">
            <a:spAutoFit/>
          </a:bodyPr>
          <a:lstStyle/>
          <a:p>
            <a:pPr algn="l"/>
            <a:r>
              <a:rPr sz="1100" b="0">
                <a:solidFill>
                  <a:srgbClr val="8A8485"/>
                </a:solidFill>
                <a:latin typeface="Calibri"/>
              </a:rPr>
              <a:t>Brand glossary preserves Spotted, Ten Spot.</a:t>
            </a:r>
          </a:p>
        </p:txBody>
      </p:sp>
      <p:sp>
        <p:nvSpPr>
          <p:cNvPr id="27" name="Rounded Rectangle 26"/>
          <p:cNvSpPr/>
          <p:nvPr/>
        </p:nvSpPr>
        <p:spPr>
          <a:xfrm>
            <a:off x="548640" y="475488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98348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8348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30" name="TextBox 29"/>
          <p:cNvSpPr txBox="1"/>
          <p:nvPr/>
        </p:nvSpPr>
        <p:spPr>
          <a:xfrm>
            <a:off x="1325880" y="4892040"/>
            <a:ext cx="4480560" cy="365760"/>
          </a:xfrm>
          <a:prstGeom prst="rect">
            <a:avLst/>
          </a:prstGeom>
          <a:noFill/>
        </p:spPr>
        <p:txBody>
          <a:bodyPr wrap="square" lIns="0" rIns="0" tIns="0" bIns="0" anchor="t">
            <a:spAutoFit/>
          </a:bodyPr>
          <a:lstStyle/>
          <a:p>
            <a:pPr algn="l"/>
            <a:r>
              <a:rPr sz="1400" b="1">
                <a:solidFill>
                  <a:srgbClr val="1A1A1A"/>
                </a:solidFill>
                <a:latin typeface="Calibri"/>
              </a:rPr>
              <a:t>Visual search</a:t>
            </a:r>
          </a:p>
        </p:txBody>
      </p:sp>
      <p:sp>
        <p:nvSpPr>
          <p:cNvPr id="31" name="TextBox 30"/>
          <p:cNvSpPr txBox="1"/>
          <p:nvPr/>
        </p:nvSpPr>
        <p:spPr>
          <a:xfrm>
            <a:off x="1325880" y="5212080"/>
            <a:ext cx="4480560" cy="457200"/>
          </a:xfrm>
          <a:prstGeom prst="rect">
            <a:avLst/>
          </a:prstGeom>
          <a:noFill/>
        </p:spPr>
        <p:txBody>
          <a:bodyPr wrap="square" lIns="0" rIns="0" tIns="0" bIns="0" anchor="t">
            <a:spAutoFit/>
          </a:bodyPr>
          <a:lstStyle/>
          <a:p>
            <a:pPr algn="l"/>
            <a:r>
              <a:rPr sz="1100" b="0">
                <a:solidFill>
                  <a:srgbClr val="8A8485"/>
                </a:solidFill>
                <a:latin typeface="Calibri"/>
              </a:rPr>
              <a:t>Photograph a nail look — find the matching service.</a:t>
            </a:r>
          </a:p>
        </p:txBody>
      </p:sp>
      <p:sp>
        <p:nvSpPr>
          <p:cNvPr id="32" name="Rounded Rectangle 31"/>
          <p:cNvSpPr/>
          <p:nvPr/>
        </p:nvSpPr>
        <p:spPr>
          <a:xfrm>
            <a:off x="6172200" y="475488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498348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98348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35" name="TextBox 34"/>
          <p:cNvSpPr txBox="1"/>
          <p:nvPr/>
        </p:nvSpPr>
        <p:spPr>
          <a:xfrm>
            <a:off x="6949440" y="4892040"/>
            <a:ext cx="4480560" cy="365760"/>
          </a:xfrm>
          <a:prstGeom prst="rect">
            <a:avLst/>
          </a:prstGeom>
          <a:noFill/>
        </p:spPr>
        <p:txBody>
          <a:bodyPr wrap="square" lIns="0" rIns="0" tIns="0" bIns="0" anchor="t">
            <a:spAutoFit/>
          </a:bodyPr>
          <a:lstStyle/>
          <a:p>
            <a:pPr algn="l"/>
            <a:r>
              <a:rPr sz="1400" b="1">
                <a:solidFill>
                  <a:srgbClr val="1A1A1A"/>
                </a:solidFill>
                <a:latin typeface="Calibri"/>
              </a:rPr>
              <a:t>Prep guide retrieval</a:t>
            </a:r>
          </a:p>
        </p:txBody>
      </p:sp>
      <p:sp>
        <p:nvSpPr>
          <p:cNvPr id="36" name="TextBox 35"/>
          <p:cNvSpPr txBox="1"/>
          <p:nvPr/>
        </p:nvSpPr>
        <p:spPr>
          <a:xfrm>
            <a:off x="6949440" y="5212080"/>
            <a:ext cx="4480560" cy="457200"/>
          </a:xfrm>
          <a:prstGeom prst="rect">
            <a:avLst/>
          </a:prstGeom>
          <a:noFill/>
        </p:spPr>
        <p:txBody>
          <a:bodyPr wrap="square" lIns="0" rIns="0" tIns="0" bIns="0" anchor="t">
            <a:spAutoFit/>
          </a:bodyPr>
          <a:lstStyle/>
          <a:p>
            <a:pPr algn="l"/>
            <a:r>
              <a:rPr sz="1100" b="0">
                <a:solidFill>
                  <a:srgbClr val="8A8485"/>
                </a:solidFill>
                <a:latin typeface="Calibri"/>
              </a:rPr>
              <a:t>Service-aware: AI surfaces the right prep guide before booking.</a:t>
            </a:r>
          </a:p>
        </p:txBody>
      </p:sp>
      <p:sp>
        <p:nvSpPr>
          <p:cNvPr id="37" name="TextBox 3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8" name="TextBox 3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INTELLIGENCE · TIER 2 &amp;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AI that powers integrations and the back office.</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Phase 2 customer-facing AI plus operational AI the customer never sees.</a:t>
            </a:r>
          </a:p>
        </p:txBody>
      </p:sp>
      <p:sp>
        <p:nvSpPr>
          <p:cNvPr id="7" name="Rounded Rectangle 6"/>
          <p:cNvSpPr/>
          <p:nvPr/>
        </p:nvSpPr>
        <p:spPr>
          <a:xfrm>
            <a:off x="548640" y="265176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88036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10" name="TextBox 9"/>
          <p:cNvSpPr txBox="1"/>
          <p:nvPr/>
        </p:nvSpPr>
        <p:spPr>
          <a:xfrm>
            <a:off x="1325880" y="2788920"/>
            <a:ext cx="4480560" cy="365760"/>
          </a:xfrm>
          <a:prstGeom prst="rect">
            <a:avLst/>
          </a:prstGeom>
          <a:noFill/>
        </p:spPr>
        <p:txBody>
          <a:bodyPr wrap="square" lIns="0" rIns="0" tIns="0" bIns="0" anchor="t">
            <a:spAutoFit/>
          </a:bodyPr>
          <a:lstStyle/>
          <a:p>
            <a:pPr algn="l"/>
            <a:r>
              <a:rPr sz="1400" b="1">
                <a:solidFill>
                  <a:srgbClr val="1A1A1A"/>
                </a:solidFill>
                <a:latin typeface="Calibri"/>
              </a:rPr>
              <a:t>Booker/Mindbody two-way sync</a:t>
            </a:r>
          </a:p>
        </p:txBody>
      </p:sp>
      <p:sp>
        <p:nvSpPr>
          <p:cNvPr id="11" name="TextBox 10"/>
          <p:cNvSpPr txBox="1"/>
          <p:nvPr/>
        </p:nvSpPr>
        <p:spPr>
          <a:xfrm>
            <a:off x="1325880" y="3108960"/>
            <a:ext cx="4480560" cy="457200"/>
          </a:xfrm>
          <a:prstGeom prst="rect">
            <a:avLst/>
          </a:prstGeom>
          <a:noFill/>
        </p:spPr>
        <p:txBody>
          <a:bodyPr wrap="square" lIns="0" rIns="0" tIns="0" bIns="0" anchor="t">
            <a:spAutoFit/>
          </a:bodyPr>
          <a:lstStyle/>
          <a:p>
            <a:pPr algn="l"/>
            <a:r>
              <a:rPr sz="1100" b="0">
                <a:solidFill>
                  <a:srgbClr val="8A8485"/>
                </a:solidFill>
                <a:latin typeface="Calibri"/>
              </a:rPr>
              <a:t>SLA-grade real-time tech availability.</a:t>
            </a:r>
          </a:p>
        </p:txBody>
      </p:sp>
      <p:sp>
        <p:nvSpPr>
          <p:cNvPr id="12" name="Rounded Rectangle 11"/>
          <p:cNvSpPr/>
          <p:nvPr/>
        </p:nvSpPr>
        <p:spPr>
          <a:xfrm>
            <a:off x="6172200" y="265176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288036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8036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15" name="TextBox 14"/>
          <p:cNvSpPr txBox="1"/>
          <p:nvPr/>
        </p:nvSpPr>
        <p:spPr>
          <a:xfrm>
            <a:off x="6949440" y="2788920"/>
            <a:ext cx="4480560" cy="365760"/>
          </a:xfrm>
          <a:prstGeom prst="rect">
            <a:avLst/>
          </a:prstGeom>
          <a:noFill/>
        </p:spPr>
        <p:txBody>
          <a:bodyPr wrap="square" lIns="0" rIns="0" tIns="0" bIns="0" anchor="t">
            <a:spAutoFit/>
          </a:bodyPr>
          <a:lstStyle/>
          <a:p>
            <a:pPr algn="l"/>
            <a:r>
              <a:rPr sz="1400" b="1">
                <a:solidFill>
                  <a:srgbClr val="1A1A1A"/>
                </a:solidFill>
                <a:latin typeface="Calibri"/>
              </a:rPr>
              <a:t>Photo skin-prep check (cautious)</a:t>
            </a:r>
          </a:p>
        </p:txBody>
      </p:sp>
      <p:sp>
        <p:nvSpPr>
          <p:cNvPr id="16" name="TextBox 15"/>
          <p:cNvSpPr txBox="1"/>
          <p:nvPr/>
        </p:nvSpPr>
        <p:spPr>
          <a:xfrm>
            <a:off x="6949440" y="3108960"/>
            <a:ext cx="4480560" cy="457200"/>
          </a:xfrm>
          <a:prstGeom prst="rect">
            <a:avLst/>
          </a:prstGeom>
          <a:noFill/>
        </p:spPr>
        <p:txBody>
          <a:bodyPr wrap="square" lIns="0" rIns="0" tIns="0" bIns="0" anchor="t">
            <a:spAutoFit/>
          </a:bodyPr>
          <a:lstStyle/>
          <a:p>
            <a:pPr algn="l"/>
            <a:r>
              <a:rPr sz="1100" b="0">
                <a:solidFill>
                  <a:srgbClr val="8A8485"/>
                </a:solidFill>
                <a:latin typeface="Calibri"/>
              </a:rPr>
              <a:t>Opt-in, never diagnostic, surfaces "reschedule" recommendations.</a:t>
            </a:r>
          </a:p>
        </p:txBody>
      </p:sp>
      <p:sp>
        <p:nvSpPr>
          <p:cNvPr id="17" name="Rounded Rectangle 16"/>
          <p:cNvSpPr/>
          <p:nvPr/>
        </p:nvSpPr>
        <p:spPr>
          <a:xfrm>
            <a:off x="548640" y="370332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93192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3192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20" name="TextBox 19"/>
          <p:cNvSpPr txBox="1"/>
          <p:nvPr/>
        </p:nvSpPr>
        <p:spPr>
          <a:xfrm>
            <a:off x="1325880" y="3840480"/>
            <a:ext cx="4480560" cy="365760"/>
          </a:xfrm>
          <a:prstGeom prst="rect">
            <a:avLst/>
          </a:prstGeom>
          <a:noFill/>
        </p:spPr>
        <p:txBody>
          <a:bodyPr wrap="square" lIns="0" rIns="0" tIns="0" bIns="0" anchor="t">
            <a:spAutoFit/>
          </a:bodyPr>
          <a:lstStyle/>
          <a:p>
            <a:pPr algn="l"/>
            <a:r>
              <a:rPr sz="1400" b="1">
                <a:solidFill>
                  <a:srgbClr val="1A1A1A"/>
                </a:solidFill>
                <a:latin typeface="Calibri"/>
              </a:rPr>
              <a:t>Demand-sensing AI</a:t>
            </a:r>
          </a:p>
        </p:txBody>
      </p:sp>
      <p:sp>
        <p:nvSpPr>
          <p:cNvPr id="21" name="TextBox 20"/>
          <p:cNvSpPr txBox="1"/>
          <p:nvPr/>
        </p:nvSpPr>
        <p:spPr>
          <a:xfrm>
            <a:off x="1325880" y="4160520"/>
            <a:ext cx="4480560" cy="457200"/>
          </a:xfrm>
          <a:prstGeom prst="rect">
            <a:avLst/>
          </a:prstGeom>
          <a:noFill/>
        </p:spPr>
        <p:txBody>
          <a:bodyPr wrap="square" lIns="0" rIns="0" tIns="0" bIns="0" anchor="t">
            <a:spAutoFit/>
          </a:bodyPr>
          <a:lstStyle/>
          <a:p>
            <a:pPr algn="l"/>
            <a:r>
              <a:rPr sz="1100" b="0">
                <a:solidFill>
                  <a:srgbClr val="8A8485"/>
                </a:solidFill>
                <a:latin typeface="Calibri"/>
              </a:rPr>
              <a:t>Surfaces under-utilised time slots, optimal pricing.</a:t>
            </a:r>
          </a:p>
        </p:txBody>
      </p:sp>
      <p:sp>
        <p:nvSpPr>
          <p:cNvPr id="22" name="Rounded Rectangle 21"/>
          <p:cNvSpPr/>
          <p:nvPr/>
        </p:nvSpPr>
        <p:spPr>
          <a:xfrm>
            <a:off x="6172200" y="370332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393192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93192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25" name="TextBox 24"/>
          <p:cNvSpPr txBox="1"/>
          <p:nvPr/>
        </p:nvSpPr>
        <p:spPr>
          <a:xfrm>
            <a:off x="6949440" y="3840480"/>
            <a:ext cx="4480560" cy="365760"/>
          </a:xfrm>
          <a:prstGeom prst="rect">
            <a:avLst/>
          </a:prstGeom>
          <a:noFill/>
        </p:spPr>
        <p:txBody>
          <a:bodyPr wrap="square" lIns="0" rIns="0" tIns="0" bIns="0" anchor="t">
            <a:spAutoFit/>
          </a:bodyPr>
          <a:lstStyle/>
          <a:p>
            <a:pPr algn="l"/>
            <a:r>
              <a:rPr sz="1400" b="1">
                <a:solidFill>
                  <a:srgbClr val="1A1A1A"/>
                </a:solidFill>
                <a:latin typeface="Calibri"/>
              </a:rPr>
              <a:t>Returns triage AI</a:t>
            </a:r>
          </a:p>
        </p:txBody>
      </p:sp>
      <p:sp>
        <p:nvSpPr>
          <p:cNvPr id="26" name="TextBox 25"/>
          <p:cNvSpPr txBox="1"/>
          <p:nvPr/>
        </p:nvSpPr>
        <p:spPr>
          <a:xfrm>
            <a:off x="6949440" y="4160520"/>
            <a:ext cx="4480560" cy="457200"/>
          </a:xfrm>
          <a:prstGeom prst="rect">
            <a:avLst/>
          </a:prstGeom>
          <a:noFill/>
        </p:spPr>
        <p:txBody>
          <a:bodyPr wrap="square" lIns="0" rIns="0" tIns="0" bIns="0" anchor="t">
            <a:spAutoFit/>
          </a:bodyPr>
          <a:lstStyle/>
          <a:p>
            <a:pPr algn="l"/>
            <a:r>
              <a:rPr sz="1100" b="0">
                <a:solidFill>
                  <a:srgbClr val="8A8485"/>
                </a:solidFill>
                <a:latin typeface="Calibri"/>
              </a:rPr>
              <a:t>Routes no-show disputes vs cancel-fee disputes.</a:t>
            </a:r>
          </a:p>
        </p:txBody>
      </p:sp>
      <p:sp>
        <p:nvSpPr>
          <p:cNvPr id="27" name="Rounded Rectangle 26"/>
          <p:cNvSpPr/>
          <p:nvPr/>
        </p:nvSpPr>
        <p:spPr>
          <a:xfrm>
            <a:off x="548640" y="475488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98348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8348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30" name="TextBox 29"/>
          <p:cNvSpPr txBox="1"/>
          <p:nvPr/>
        </p:nvSpPr>
        <p:spPr>
          <a:xfrm>
            <a:off x="1325880" y="4892040"/>
            <a:ext cx="4480560" cy="365760"/>
          </a:xfrm>
          <a:prstGeom prst="rect">
            <a:avLst/>
          </a:prstGeom>
          <a:noFill/>
        </p:spPr>
        <p:txBody>
          <a:bodyPr wrap="square" lIns="0" rIns="0" tIns="0" bIns="0" anchor="t">
            <a:spAutoFit/>
          </a:bodyPr>
          <a:lstStyle/>
          <a:p>
            <a:pPr algn="l"/>
            <a:r>
              <a:rPr sz="1400" b="1">
                <a:solidFill>
                  <a:srgbClr val="1A1A1A"/>
                </a:solidFill>
                <a:latin typeface="Calibri"/>
              </a:rPr>
              <a:t>Multilingual content scaling</a:t>
            </a:r>
          </a:p>
        </p:txBody>
      </p:sp>
      <p:sp>
        <p:nvSpPr>
          <p:cNvPr id="31" name="TextBox 30"/>
          <p:cNvSpPr txBox="1"/>
          <p:nvPr/>
        </p:nvSpPr>
        <p:spPr>
          <a:xfrm>
            <a:off x="1325880" y="5212080"/>
            <a:ext cx="4480560" cy="457200"/>
          </a:xfrm>
          <a:prstGeom prst="rect">
            <a:avLst/>
          </a:prstGeom>
          <a:noFill/>
        </p:spPr>
        <p:txBody>
          <a:bodyPr wrap="square" lIns="0" rIns="0" tIns="0" bIns="0" anchor="t">
            <a:spAutoFit/>
          </a:bodyPr>
          <a:lstStyle/>
          <a:p>
            <a:pPr algn="l"/>
            <a:r>
              <a:rPr sz="1100" b="0">
                <a:solidFill>
                  <a:srgbClr val="8A8485"/>
                </a:solidFill>
                <a:latin typeface="Calibri"/>
              </a:rPr>
              <a:t>EN-first, AI drafts FR/ES, editors approve.</a:t>
            </a:r>
          </a:p>
        </p:txBody>
      </p:sp>
      <p:sp>
        <p:nvSpPr>
          <p:cNvPr id="32" name="Rounded Rectangle 31"/>
          <p:cNvSpPr/>
          <p:nvPr/>
        </p:nvSpPr>
        <p:spPr>
          <a:xfrm>
            <a:off x="6172200" y="475488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498348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98348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35" name="TextBox 34"/>
          <p:cNvSpPr txBox="1"/>
          <p:nvPr/>
        </p:nvSpPr>
        <p:spPr>
          <a:xfrm>
            <a:off x="6949440" y="4892040"/>
            <a:ext cx="4480560" cy="365760"/>
          </a:xfrm>
          <a:prstGeom prst="rect">
            <a:avLst/>
          </a:prstGeom>
          <a:noFill/>
        </p:spPr>
        <p:txBody>
          <a:bodyPr wrap="square" lIns="0" rIns="0" tIns="0" bIns="0" anchor="t">
            <a:spAutoFit/>
          </a:bodyPr>
          <a:lstStyle/>
          <a:p>
            <a:pPr algn="l"/>
            <a:r>
              <a:rPr sz="1400" b="1">
                <a:solidFill>
                  <a:srgbClr val="1A1A1A"/>
                </a:solidFill>
                <a:latin typeface="Calibri"/>
              </a:rPr>
              <a:t>Counterfeit gift-card detection</a:t>
            </a:r>
          </a:p>
        </p:txBody>
      </p:sp>
      <p:sp>
        <p:nvSpPr>
          <p:cNvPr id="36" name="TextBox 35"/>
          <p:cNvSpPr txBox="1"/>
          <p:nvPr/>
        </p:nvSpPr>
        <p:spPr>
          <a:xfrm>
            <a:off x="6949440" y="5212080"/>
            <a:ext cx="4480560" cy="457200"/>
          </a:xfrm>
          <a:prstGeom prst="rect">
            <a:avLst/>
          </a:prstGeom>
          <a:noFill/>
        </p:spPr>
        <p:txBody>
          <a:bodyPr wrap="square" lIns="0" rIns="0" tIns="0" bIns="0" anchor="t">
            <a:spAutoFit/>
          </a:bodyPr>
          <a:lstStyle/>
          <a:p>
            <a:pPr algn="l"/>
            <a:r>
              <a:rPr sz="1100" b="0">
                <a:solidFill>
                  <a:srgbClr val="8A8485"/>
                </a:solidFill>
                <a:latin typeface="Calibri"/>
              </a:rPr>
              <a:t>Resale market monitoring.</a:t>
            </a:r>
          </a:p>
        </p:txBody>
      </p:sp>
      <p:sp>
        <p:nvSpPr>
          <p:cNvPr id="37" name="Rounded Rectangle 36"/>
          <p:cNvSpPr/>
          <p:nvPr/>
        </p:nvSpPr>
        <p:spPr>
          <a:xfrm>
            <a:off x="548640" y="580644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77240" y="603504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603504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40" name="TextBox 39"/>
          <p:cNvSpPr txBox="1"/>
          <p:nvPr/>
        </p:nvSpPr>
        <p:spPr>
          <a:xfrm>
            <a:off x="1325880" y="5943600"/>
            <a:ext cx="4480560" cy="365760"/>
          </a:xfrm>
          <a:prstGeom prst="rect">
            <a:avLst/>
          </a:prstGeom>
          <a:noFill/>
        </p:spPr>
        <p:txBody>
          <a:bodyPr wrap="square" lIns="0" rIns="0" tIns="0" bIns="0" anchor="t">
            <a:spAutoFit/>
          </a:bodyPr>
          <a:lstStyle/>
          <a:p>
            <a:pPr algn="l"/>
            <a:r>
              <a:rPr sz="1400" b="1">
                <a:solidFill>
                  <a:srgbClr val="1A1A1A"/>
                </a:solidFill>
                <a:latin typeface="Calibri"/>
              </a:rPr>
              <a:t>Franchise-recruitment AI</a:t>
            </a:r>
          </a:p>
        </p:txBody>
      </p:sp>
      <p:sp>
        <p:nvSpPr>
          <p:cNvPr id="41" name="TextBox 40"/>
          <p:cNvSpPr txBox="1"/>
          <p:nvPr/>
        </p:nvSpPr>
        <p:spPr>
          <a:xfrm>
            <a:off x="1325880" y="6263640"/>
            <a:ext cx="4480560" cy="457200"/>
          </a:xfrm>
          <a:prstGeom prst="rect">
            <a:avLst/>
          </a:prstGeom>
          <a:noFill/>
        </p:spPr>
        <p:txBody>
          <a:bodyPr wrap="square" lIns="0" rIns="0" tIns="0" bIns="0" anchor="t">
            <a:spAutoFit/>
          </a:bodyPr>
          <a:lstStyle/>
          <a:p>
            <a:pPr algn="l"/>
            <a:r>
              <a:rPr sz="1100" b="0">
                <a:solidFill>
                  <a:srgbClr val="8A8485"/>
                </a:solidFill>
                <a:latin typeface="Calibri"/>
              </a:rPr>
              <a:t>Lead-quality scoring for prospective franchise owners.</a:t>
            </a:r>
          </a:p>
        </p:txBody>
      </p:sp>
      <p:sp>
        <p:nvSpPr>
          <p:cNvPr id="42" name="Rounded Rectangle 41"/>
          <p:cNvSpPr/>
          <p:nvPr/>
        </p:nvSpPr>
        <p:spPr>
          <a:xfrm>
            <a:off x="6172200" y="5806440"/>
            <a:ext cx="5486400" cy="9144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0800" y="6035040"/>
            <a:ext cx="457200" cy="457200"/>
          </a:xfrm>
          <a:prstGeom prst="roundRect">
            <a:avLst>
              <a:gd name="adj" fmla="val 12000"/>
            </a:avLst>
          </a:prstGeom>
          <a:solidFill>
            <a:srgbClr val="F3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6035040"/>
            <a:ext cx="457200" cy="457200"/>
          </a:xfrm>
          <a:prstGeom prst="rect">
            <a:avLst/>
          </a:prstGeom>
          <a:noFill/>
        </p:spPr>
        <p:txBody>
          <a:bodyPr wrap="square" lIns="0" rIns="0" tIns="0" bIns="0" anchor="ctr">
            <a:spAutoFit/>
          </a:bodyPr>
          <a:lstStyle/>
          <a:p>
            <a:pPr algn="ctr"/>
            <a:r>
              <a:rPr sz="1800" b="0">
                <a:solidFill>
                  <a:srgbClr val="A82E60"/>
                </a:solidFill>
                <a:latin typeface="Georgia"/>
              </a:rPr>
              <a:t>✦</a:t>
            </a:r>
          </a:p>
        </p:txBody>
      </p:sp>
      <p:sp>
        <p:nvSpPr>
          <p:cNvPr id="45" name="TextBox 44"/>
          <p:cNvSpPr txBox="1"/>
          <p:nvPr/>
        </p:nvSpPr>
        <p:spPr>
          <a:xfrm>
            <a:off x="6949440" y="5943600"/>
            <a:ext cx="4480560" cy="365760"/>
          </a:xfrm>
          <a:prstGeom prst="rect">
            <a:avLst/>
          </a:prstGeom>
          <a:noFill/>
        </p:spPr>
        <p:txBody>
          <a:bodyPr wrap="square" lIns="0" rIns="0" tIns="0" bIns="0" anchor="t">
            <a:spAutoFit/>
          </a:bodyPr>
          <a:lstStyle/>
          <a:p>
            <a:pPr algn="l"/>
            <a:r>
              <a:rPr sz="1400" b="1">
                <a:solidFill>
                  <a:srgbClr val="1A1A1A"/>
                </a:solidFill>
                <a:latin typeface="Calibri"/>
              </a:rPr>
              <a:t>Multi-state data residency enforcement</a:t>
            </a:r>
          </a:p>
        </p:txBody>
      </p:sp>
      <p:sp>
        <p:nvSpPr>
          <p:cNvPr id="46" name="TextBox 45"/>
          <p:cNvSpPr txBox="1"/>
          <p:nvPr/>
        </p:nvSpPr>
        <p:spPr>
          <a:xfrm>
            <a:off x="6949440" y="6263640"/>
            <a:ext cx="4480560" cy="457200"/>
          </a:xfrm>
          <a:prstGeom prst="rect">
            <a:avLst/>
          </a:prstGeom>
          <a:noFill/>
        </p:spPr>
        <p:txBody>
          <a:bodyPr wrap="square" lIns="0" rIns="0" tIns="0" bIns="0" anchor="t">
            <a:spAutoFit/>
          </a:bodyPr>
          <a:lstStyle/>
          <a:p>
            <a:pPr algn="l"/>
            <a:r>
              <a:rPr sz="1100" b="0">
                <a:solidFill>
                  <a:srgbClr val="8A8485"/>
                </a:solidFill>
                <a:latin typeface="Calibri"/>
              </a:rPr>
              <a:t>Audit-log monitor as US expansion grows.</a:t>
            </a:r>
          </a:p>
        </p:txBody>
      </p:sp>
      <p:sp>
        <p:nvSpPr>
          <p:cNvPr id="47" name="TextBox 4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48" name="TextBox 4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DATA WITH CONSENT</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What we collect — and what we won't.</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A8485"/>
                </a:solidFill>
                <a:latin typeface="Calibri"/>
              </a:rPr>
              <a:t>Default to opt-in per category. Sensitivity flags route to technician, never to marketing AI.</a:t>
            </a:r>
          </a:p>
        </p:txBody>
      </p:sp>
      <p:sp>
        <p:nvSpPr>
          <p:cNvPr id="7" name="Rounded Rectangle 6"/>
          <p:cNvSpPr/>
          <p:nvPr/>
        </p:nvSpPr>
        <p:spPr>
          <a:xfrm>
            <a:off x="548640" y="2651760"/>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944368"/>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43200"/>
            <a:ext cx="4754880" cy="365760"/>
          </a:xfrm>
          <a:prstGeom prst="rect">
            <a:avLst/>
          </a:prstGeom>
          <a:noFill/>
        </p:spPr>
        <p:txBody>
          <a:bodyPr wrap="square" lIns="0" rIns="0" tIns="0" bIns="0" anchor="t">
            <a:spAutoFit/>
          </a:bodyPr>
          <a:lstStyle/>
          <a:p>
            <a:pPr algn="l"/>
            <a:r>
              <a:rPr sz="1300" b="1">
                <a:solidFill>
                  <a:srgbClr val="1A1A1A"/>
                </a:solidFill>
                <a:latin typeface="Calibri"/>
              </a:rPr>
              <a:t>Identity &amp; contact</a:t>
            </a:r>
          </a:p>
        </p:txBody>
      </p:sp>
      <p:sp>
        <p:nvSpPr>
          <p:cNvPr id="10" name="TextBox 9"/>
          <p:cNvSpPr txBox="1"/>
          <p:nvPr/>
        </p:nvSpPr>
        <p:spPr>
          <a:xfrm>
            <a:off x="1097280" y="3035808"/>
            <a:ext cx="4754880" cy="365760"/>
          </a:xfrm>
          <a:prstGeom prst="rect">
            <a:avLst/>
          </a:prstGeom>
          <a:noFill/>
        </p:spPr>
        <p:txBody>
          <a:bodyPr wrap="square" lIns="0" rIns="0" tIns="0" bIns="0" anchor="t">
            <a:spAutoFit/>
          </a:bodyPr>
          <a:lstStyle/>
          <a:p>
            <a:pPr algn="l"/>
            <a:r>
              <a:rPr sz="1100" b="0">
                <a:solidFill>
                  <a:srgbClr val="8A8485"/>
                </a:solidFill>
                <a:latin typeface="Calibri"/>
              </a:rPr>
              <a:t>email, name, phone — bookings, reminders.</a:t>
            </a:r>
          </a:p>
        </p:txBody>
      </p:sp>
      <p:sp>
        <p:nvSpPr>
          <p:cNvPr id="11" name="Rounded Rectangle 10"/>
          <p:cNvSpPr/>
          <p:nvPr/>
        </p:nvSpPr>
        <p:spPr>
          <a:xfrm>
            <a:off x="6144768" y="2651760"/>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19088" y="2944368"/>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3408" y="2743200"/>
            <a:ext cx="4754880" cy="365760"/>
          </a:xfrm>
          <a:prstGeom prst="rect">
            <a:avLst/>
          </a:prstGeom>
          <a:noFill/>
        </p:spPr>
        <p:txBody>
          <a:bodyPr wrap="square" lIns="0" rIns="0" tIns="0" bIns="0" anchor="t">
            <a:spAutoFit/>
          </a:bodyPr>
          <a:lstStyle/>
          <a:p>
            <a:pPr algn="l"/>
            <a:r>
              <a:rPr sz="1300" b="1">
                <a:solidFill>
                  <a:srgbClr val="1A1A1A"/>
                </a:solidFill>
                <a:latin typeface="Calibri"/>
              </a:rPr>
              <a:t>Location</a:t>
            </a:r>
          </a:p>
        </p:txBody>
      </p:sp>
      <p:sp>
        <p:nvSpPr>
          <p:cNvPr id="14" name="TextBox 13"/>
          <p:cNvSpPr txBox="1"/>
          <p:nvPr/>
        </p:nvSpPr>
        <p:spPr>
          <a:xfrm>
            <a:off x="6693408" y="3035808"/>
            <a:ext cx="4754880" cy="365760"/>
          </a:xfrm>
          <a:prstGeom prst="rect">
            <a:avLst/>
          </a:prstGeom>
          <a:noFill/>
        </p:spPr>
        <p:txBody>
          <a:bodyPr wrap="square" lIns="0" rIns="0" tIns="0" bIns="0" anchor="t">
            <a:spAutoFit/>
          </a:bodyPr>
          <a:lstStyle/>
          <a:p>
            <a:pPr algn="l"/>
            <a:r>
              <a:rPr sz="1100" b="0">
                <a:solidFill>
                  <a:srgbClr val="8A8485"/>
                </a:solidFill>
                <a:latin typeface="Calibri"/>
              </a:rPr>
              <a:t>home location; current location opt-in for travel mode.</a:t>
            </a:r>
          </a:p>
        </p:txBody>
      </p:sp>
      <p:sp>
        <p:nvSpPr>
          <p:cNvPr id="15" name="Rounded Rectangle 14"/>
          <p:cNvSpPr/>
          <p:nvPr/>
        </p:nvSpPr>
        <p:spPr>
          <a:xfrm>
            <a:off x="548640" y="3538728"/>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3831336"/>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630168"/>
            <a:ext cx="4754880" cy="365760"/>
          </a:xfrm>
          <a:prstGeom prst="rect">
            <a:avLst/>
          </a:prstGeom>
          <a:noFill/>
        </p:spPr>
        <p:txBody>
          <a:bodyPr wrap="square" lIns="0" rIns="0" tIns="0" bIns="0" anchor="t">
            <a:spAutoFit/>
          </a:bodyPr>
          <a:lstStyle/>
          <a:p>
            <a:pPr algn="l"/>
            <a:r>
              <a:rPr sz="1300" b="1">
                <a:solidFill>
                  <a:srgbClr val="1A1A1A"/>
                </a:solidFill>
                <a:latin typeface="Calibri"/>
              </a:rPr>
              <a:t>Service history</a:t>
            </a:r>
          </a:p>
        </p:txBody>
      </p:sp>
      <p:sp>
        <p:nvSpPr>
          <p:cNvPr id="18" name="TextBox 17"/>
          <p:cNvSpPr txBox="1"/>
          <p:nvPr/>
        </p:nvSpPr>
        <p:spPr>
          <a:xfrm>
            <a:off x="1097280" y="3922776"/>
            <a:ext cx="4754880" cy="365760"/>
          </a:xfrm>
          <a:prstGeom prst="rect">
            <a:avLst/>
          </a:prstGeom>
          <a:noFill/>
        </p:spPr>
        <p:txBody>
          <a:bodyPr wrap="square" lIns="0" rIns="0" tIns="0" bIns="0" anchor="t">
            <a:spAutoFit/>
          </a:bodyPr>
          <a:lstStyle/>
          <a:p>
            <a:pPr algn="l"/>
            <a:r>
              <a:rPr sz="1100" b="0">
                <a:solidFill>
                  <a:srgbClr val="8A8485"/>
                </a:solidFill>
                <a:latin typeface="Calibri"/>
              </a:rPr>
              <a:t>what, where, when, with whom.</a:t>
            </a:r>
          </a:p>
        </p:txBody>
      </p:sp>
      <p:sp>
        <p:nvSpPr>
          <p:cNvPr id="19" name="Rounded Rectangle 18"/>
          <p:cNvSpPr/>
          <p:nvPr/>
        </p:nvSpPr>
        <p:spPr>
          <a:xfrm>
            <a:off x="6144768" y="3538728"/>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19088" y="3831336"/>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8" y="3630168"/>
            <a:ext cx="4754880" cy="365760"/>
          </a:xfrm>
          <a:prstGeom prst="rect">
            <a:avLst/>
          </a:prstGeom>
          <a:noFill/>
        </p:spPr>
        <p:txBody>
          <a:bodyPr wrap="square" lIns="0" rIns="0" tIns="0" bIns="0" anchor="t">
            <a:spAutoFit/>
          </a:bodyPr>
          <a:lstStyle/>
          <a:p>
            <a:pPr algn="l"/>
            <a:r>
              <a:rPr sz="1300" b="1">
                <a:solidFill>
                  <a:srgbClr val="1A1A1A"/>
                </a:solidFill>
                <a:latin typeface="Calibri"/>
              </a:rPr>
              <a:t>Sensitivities (opt-in)</a:t>
            </a:r>
          </a:p>
        </p:txBody>
      </p:sp>
      <p:sp>
        <p:nvSpPr>
          <p:cNvPr id="22" name="TextBox 21"/>
          <p:cNvSpPr txBox="1"/>
          <p:nvPr/>
        </p:nvSpPr>
        <p:spPr>
          <a:xfrm>
            <a:off x="6693408" y="3922776"/>
            <a:ext cx="4754880" cy="365760"/>
          </a:xfrm>
          <a:prstGeom prst="rect">
            <a:avLst/>
          </a:prstGeom>
          <a:noFill/>
        </p:spPr>
        <p:txBody>
          <a:bodyPr wrap="square" lIns="0" rIns="0" tIns="0" bIns="0" anchor="t">
            <a:spAutoFit/>
          </a:bodyPr>
          <a:lstStyle/>
          <a:p>
            <a:pPr algn="l"/>
            <a:r>
              <a:rPr sz="1100" b="0">
                <a:solidFill>
                  <a:srgbClr val="8A8485"/>
                </a:solidFill>
                <a:latin typeface="Calibri"/>
              </a:rPr>
              <a:t>skin reactivity, pregnancy, medications — specialist-only.</a:t>
            </a:r>
          </a:p>
        </p:txBody>
      </p:sp>
      <p:sp>
        <p:nvSpPr>
          <p:cNvPr id="23" name="Rounded Rectangle 22"/>
          <p:cNvSpPr/>
          <p:nvPr/>
        </p:nvSpPr>
        <p:spPr>
          <a:xfrm>
            <a:off x="548640" y="4425696"/>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4718304"/>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517136"/>
            <a:ext cx="4754880" cy="365760"/>
          </a:xfrm>
          <a:prstGeom prst="rect">
            <a:avLst/>
          </a:prstGeom>
          <a:noFill/>
        </p:spPr>
        <p:txBody>
          <a:bodyPr wrap="square" lIns="0" rIns="0" tIns="0" bIns="0" anchor="t">
            <a:spAutoFit/>
          </a:bodyPr>
          <a:lstStyle/>
          <a:p>
            <a:pPr algn="l"/>
            <a:r>
              <a:rPr sz="1300" b="1">
                <a:solidFill>
                  <a:srgbClr val="1A1A1A"/>
                </a:solidFill>
                <a:latin typeface="Calibri"/>
              </a:rPr>
              <a:t>Membership / billing</a:t>
            </a:r>
          </a:p>
        </p:txBody>
      </p:sp>
      <p:sp>
        <p:nvSpPr>
          <p:cNvPr id="26" name="TextBox 25"/>
          <p:cNvSpPr txBox="1"/>
          <p:nvPr/>
        </p:nvSpPr>
        <p:spPr>
          <a:xfrm>
            <a:off x="1097280" y="4809744"/>
            <a:ext cx="4754880" cy="365760"/>
          </a:xfrm>
          <a:prstGeom prst="rect">
            <a:avLst/>
          </a:prstGeom>
          <a:noFill/>
        </p:spPr>
        <p:txBody>
          <a:bodyPr wrap="square" lIns="0" rIns="0" tIns="0" bIns="0" anchor="t">
            <a:spAutoFit/>
          </a:bodyPr>
          <a:lstStyle/>
          <a:p>
            <a:pPr algn="l"/>
            <a:r>
              <a:rPr sz="1100" b="0">
                <a:solidFill>
                  <a:srgbClr val="8A8485"/>
                </a:solidFill>
                <a:latin typeface="Calibri"/>
              </a:rPr>
              <a:t>tier, gift cards, credit balance.</a:t>
            </a:r>
          </a:p>
        </p:txBody>
      </p:sp>
      <p:sp>
        <p:nvSpPr>
          <p:cNvPr id="27" name="Rounded Rectangle 26"/>
          <p:cNvSpPr/>
          <p:nvPr/>
        </p:nvSpPr>
        <p:spPr>
          <a:xfrm>
            <a:off x="6144768" y="4425696"/>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19088" y="4718304"/>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8" y="4517136"/>
            <a:ext cx="4754880" cy="365760"/>
          </a:xfrm>
          <a:prstGeom prst="rect">
            <a:avLst/>
          </a:prstGeom>
          <a:noFill/>
        </p:spPr>
        <p:txBody>
          <a:bodyPr wrap="square" lIns="0" rIns="0" tIns="0" bIns="0" anchor="t">
            <a:spAutoFit/>
          </a:bodyPr>
          <a:lstStyle/>
          <a:p>
            <a:pPr algn="l"/>
            <a:r>
              <a:rPr sz="1300" b="1">
                <a:solidFill>
                  <a:srgbClr val="1A1A1A"/>
                </a:solidFill>
                <a:latin typeface="Calibri"/>
              </a:rPr>
              <a:t>Preferences</a:t>
            </a:r>
          </a:p>
        </p:txBody>
      </p:sp>
      <p:sp>
        <p:nvSpPr>
          <p:cNvPr id="30" name="TextBox 29"/>
          <p:cNvSpPr txBox="1"/>
          <p:nvPr/>
        </p:nvSpPr>
        <p:spPr>
          <a:xfrm>
            <a:off x="6693408" y="4809744"/>
            <a:ext cx="4754880" cy="365760"/>
          </a:xfrm>
          <a:prstGeom prst="rect">
            <a:avLst/>
          </a:prstGeom>
          <a:noFill/>
        </p:spPr>
        <p:txBody>
          <a:bodyPr wrap="square" lIns="0" rIns="0" tIns="0" bIns="0" anchor="t">
            <a:spAutoFit/>
          </a:bodyPr>
          <a:lstStyle/>
          <a:p>
            <a:pPr algn="l"/>
            <a:r>
              <a:rPr sz="1100" b="0">
                <a:solidFill>
                  <a:srgbClr val="8A8485"/>
                </a:solidFill>
                <a:latin typeface="Calibri"/>
              </a:rPr>
              <a:t>favorite location, technician, services.</a:t>
            </a:r>
          </a:p>
        </p:txBody>
      </p:sp>
      <p:sp>
        <p:nvSpPr>
          <p:cNvPr id="31" name="Rounded Rectangle 30"/>
          <p:cNvSpPr/>
          <p:nvPr/>
        </p:nvSpPr>
        <p:spPr>
          <a:xfrm>
            <a:off x="548640" y="5312664"/>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5605272"/>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404104"/>
            <a:ext cx="4754880" cy="365760"/>
          </a:xfrm>
          <a:prstGeom prst="rect">
            <a:avLst/>
          </a:prstGeom>
          <a:noFill/>
        </p:spPr>
        <p:txBody>
          <a:bodyPr wrap="square" lIns="0" rIns="0" tIns="0" bIns="0" anchor="t">
            <a:spAutoFit/>
          </a:bodyPr>
          <a:lstStyle/>
          <a:p>
            <a:pPr algn="l"/>
            <a:r>
              <a:rPr sz="1300" b="1">
                <a:solidFill>
                  <a:srgbClr val="1A1A1A"/>
                </a:solidFill>
                <a:latin typeface="Calibri"/>
              </a:rPr>
              <a:t>Engagement</a:t>
            </a:r>
          </a:p>
        </p:txBody>
      </p:sp>
      <p:sp>
        <p:nvSpPr>
          <p:cNvPr id="34" name="TextBox 33"/>
          <p:cNvSpPr txBox="1"/>
          <p:nvPr/>
        </p:nvSpPr>
        <p:spPr>
          <a:xfrm>
            <a:off x="1097280" y="5696712"/>
            <a:ext cx="4754880" cy="365760"/>
          </a:xfrm>
          <a:prstGeom prst="rect">
            <a:avLst/>
          </a:prstGeom>
          <a:noFill/>
        </p:spPr>
        <p:txBody>
          <a:bodyPr wrap="square" lIns="0" rIns="0" tIns="0" bIns="0" anchor="t">
            <a:spAutoFit/>
          </a:bodyPr>
          <a:lstStyle/>
          <a:p>
            <a:pPr algn="l"/>
            <a:r>
              <a:rPr sz="1100" b="0">
                <a:solidFill>
                  <a:srgbClr val="8A8485"/>
                </a:solidFill>
                <a:latin typeface="Calibri"/>
              </a:rPr>
              <a:t>booking funnel, prep-guide views.</a:t>
            </a:r>
          </a:p>
        </p:txBody>
      </p:sp>
      <p:sp>
        <p:nvSpPr>
          <p:cNvPr id="35" name="Rounded Rectangle 34"/>
          <p:cNvSpPr/>
          <p:nvPr/>
        </p:nvSpPr>
        <p:spPr>
          <a:xfrm>
            <a:off x="6144768" y="5312664"/>
            <a:ext cx="548640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19088" y="5605272"/>
            <a:ext cx="164592" cy="164592"/>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5404104"/>
            <a:ext cx="4754880" cy="365760"/>
          </a:xfrm>
          <a:prstGeom prst="rect">
            <a:avLst/>
          </a:prstGeom>
          <a:noFill/>
        </p:spPr>
        <p:txBody>
          <a:bodyPr wrap="square" lIns="0" rIns="0" tIns="0" bIns="0" anchor="t">
            <a:spAutoFit/>
          </a:bodyPr>
          <a:lstStyle/>
          <a:p>
            <a:pPr algn="l"/>
            <a:r>
              <a:rPr sz="1300" b="1">
                <a:solidFill>
                  <a:srgbClr val="1A1A1A"/>
                </a:solidFill>
                <a:latin typeface="Calibri"/>
              </a:rPr>
              <a:t>Channel of origin</a:t>
            </a:r>
          </a:p>
        </p:txBody>
      </p:sp>
      <p:sp>
        <p:nvSpPr>
          <p:cNvPr id="38" name="TextBox 37"/>
          <p:cNvSpPr txBox="1"/>
          <p:nvPr/>
        </p:nvSpPr>
        <p:spPr>
          <a:xfrm>
            <a:off x="6693408" y="5696712"/>
            <a:ext cx="4754880" cy="365760"/>
          </a:xfrm>
          <a:prstGeom prst="rect">
            <a:avLst/>
          </a:prstGeom>
          <a:noFill/>
        </p:spPr>
        <p:txBody>
          <a:bodyPr wrap="square" lIns="0" rIns="0" tIns="0" bIns="0" anchor="t">
            <a:spAutoFit/>
          </a:bodyPr>
          <a:lstStyle/>
          <a:p>
            <a:pPr algn="l"/>
            <a:r>
              <a:rPr sz="1100" b="0">
                <a:solidFill>
                  <a:srgbClr val="8A8485"/>
                </a:solidFill>
                <a:latin typeface="Calibri"/>
              </a:rPr>
              <a:t>online / referral / walk-in.</a:t>
            </a:r>
          </a:p>
        </p:txBody>
      </p:sp>
      <p:sp>
        <p:nvSpPr>
          <p:cNvPr id="39" name="Rounded Rectangle 38"/>
          <p:cNvSpPr/>
          <p:nvPr/>
        </p:nvSpPr>
        <p:spPr>
          <a:xfrm>
            <a:off x="548640" y="6080760"/>
            <a:ext cx="11064240" cy="45720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6126480"/>
            <a:ext cx="10789920" cy="365760"/>
          </a:xfrm>
          <a:prstGeom prst="rect">
            <a:avLst/>
          </a:prstGeom>
          <a:noFill/>
        </p:spPr>
        <p:txBody>
          <a:bodyPr wrap="square" lIns="0" rIns="0" tIns="0" bIns="0" anchor="ctr">
            <a:spAutoFit/>
          </a:bodyPr>
          <a:lstStyle/>
          <a:p>
            <a:pPr algn="l"/>
            <a:r>
              <a:rPr sz="1100" b="1">
                <a:solidFill>
                  <a:srgbClr val="FFFFFF"/>
                </a:solidFill>
                <a:latin typeface="Calibri"/>
              </a:rPr>
              <a:t>WE DO NOT COLLECT  ·  weight or BMI  ·  before/after body photos  ·  precise GPS without explicit opt-in  ·  diagnosed conditions</a:t>
            </a:r>
          </a:p>
        </p:txBody>
      </p:sp>
      <p:sp>
        <p:nvSpPr>
          <p:cNvPr id="41" name="TextBox 4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42" name="TextBox 4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HOW IT'S BUILT</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A modern stack — boring where it should be, sharp where it counts.</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2743200" cy="36576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286000"/>
            <a:ext cx="2743200" cy="6400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Mobile</a:t>
            </a:r>
          </a:p>
        </p:txBody>
      </p:sp>
      <p:sp>
        <p:nvSpPr>
          <p:cNvPr id="9" name="TextBox 8"/>
          <p:cNvSpPr txBox="1"/>
          <p:nvPr/>
        </p:nvSpPr>
        <p:spPr>
          <a:xfrm>
            <a:off x="777240" y="3154680"/>
            <a:ext cx="2377440" cy="320040"/>
          </a:xfrm>
          <a:prstGeom prst="rect">
            <a:avLst/>
          </a:prstGeom>
          <a:noFill/>
        </p:spPr>
        <p:txBody>
          <a:bodyPr wrap="square" lIns="0" rIns="0" tIns="0" bIns="0" anchor="t">
            <a:spAutoFit/>
          </a:bodyPr>
          <a:lstStyle/>
          <a:p>
            <a:pPr algn="l"/>
            <a:r>
              <a:rPr sz="1100" b="0">
                <a:solidFill>
                  <a:srgbClr val="1A1A1A"/>
                </a:solidFill>
                <a:latin typeface="Calibri"/>
              </a:rPr>
              <a:t>•  React Native + Expo (iOS &amp; Android)</a:t>
            </a:r>
          </a:p>
        </p:txBody>
      </p:sp>
      <p:sp>
        <p:nvSpPr>
          <p:cNvPr id="10" name="TextBox 9"/>
          <p:cNvSpPr txBox="1"/>
          <p:nvPr/>
        </p:nvSpPr>
        <p:spPr>
          <a:xfrm>
            <a:off x="777240" y="3566160"/>
            <a:ext cx="2377440" cy="320040"/>
          </a:xfrm>
          <a:prstGeom prst="rect">
            <a:avLst/>
          </a:prstGeom>
          <a:noFill/>
        </p:spPr>
        <p:txBody>
          <a:bodyPr wrap="square" lIns="0" rIns="0" tIns="0" bIns="0" anchor="t">
            <a:spAutoFit/>
          </a:bodyPr>
          <a:lstStyle/>
          <a:p>
            <a:pPr algn="l"/>
            <a:r>
              <a:rPr sz="1100" b="0">
                <a:solidFill>
                  <a:srgbClr val="1A1A1A"/>
                </a:solidFill>
                <a:latin typeface="Calibri"/>
              </a:rPr>
              <a:t>•  OTA updates for booking-flow iteration</a:t>
            </a:r>
          </a:p>
        </p:txBody>
      </p:sp>
      <p:sp>
        <p:nvSpPr>
          <p:cNvPr id="11" name="TextBox 10"/>
          <p:cNvSpPr txBox="1"/>
          <p:nvPr/>
        </p:nvSpPr>
        <p:spPr>
          <a:xfrm>
            <a:off x="777240" y="3977640"/>
            <a:ext cx="2377440" cy="320040"/>
          </a:xfrm>
          <a:prstGeom prst="rect">
            <a:avLst/>
          </a:prstGeom>
          <a:noFill/>
        </p:spPr>
        <p:txBody>
          <a:bodyPr wrap="square" lIns="0" rIns="0" tIns="0" bIns="0" anchor="t">
            <a:spAutoFit/>
          </a:bodyPr>
          <a:lstStyle/>
          <a:p>
            <a:pPr algn="l"/>
            <a:r>
              <a:rPr sz="1100" b="0">
                <a:solidFill>
                  <a:srgbClr val="1A1A1A"/>
                </a:solidFill>
                <a:latin typeface="Calibri"/>
              </a:rPr>
              <a:t>•  Apple / Google sign-in</a:t>
            </a:r>
          </a:p>
        </p:txBody>
      </p:sp>
      <p:sp>
        <p:nvSpPr>
          <p:cNvPr id="12" name="Rounded Rectangle 11"/>
          <p:cNvSpPr/>
          <p:nvPr/>
        </p:nvSpPr>
        <p:spPr>
          <a:xfrm>
            <a:off x="3429000" y="2286000"/>
            <a:ext cx="2743200" cy="36576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29000" y="2286000"/>
            <a:ext cx="2743200" cy="6400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Booking</a:t>
            </a:r>
          </a:p>
        </p:txBody>
      </p:sp>
      <p:sp>
        <p:nvSpPr>
          <p:cNvPr id="15" name="TextBox 14"/>
          <p:cNvSpPr txBox="1"/>
          <p:nvPr/>
        </p:nvSpPr>
        <p:spPr>
          <a:xfrm>
            <a:off x="3657600" y="3154680"/>
            <a:ext cx="2377440" cy="320040"/>
          </a:xfrm>
          <a:prstGeom prst="rect">
            <a:avLst/>
          </a:prstGeom>
          <a:noFill/>
        </p:spPr>
        <p:txBody>
          <a:bodyPr wrap="square" lIns="0" rIns="0" tIns="0" bIns="0" anchor="t">
            <a:spAutoFit/>
          </a:bodyPr>
          <a:lstStyle/>
          <a:p>
            <a:pPr algn="l"/>
            <a:r>
              <a:rPr sz="1100" b="0">
                <a:solidFill>
                  <a:srgbClr val="1A1A1A"/>
                </a:solidFill>
                <a:latin typeface="Calibri"/>
              </a:rPr>
              <a:t>•  Booker or Mindbody integration (TBD)</a:t>
            </a:r>
          </a:p>
        </p:txBody>
      </p:sp>
      <p:sp>
        <p:nvSpPr>
          <p:cNvPr id="16" name="TextBox 15"/>
          <p:cNvSpPr txBox="1"/>
          <p:nvPr/>
        </p:nvSpPr>
        <p:spPr>
          <a:xfrm>
            <a:off x="3657600" y="3566160"/>
            <a:ext cx="2377440" cy="320040"/>
          </a:xfrm>
          <a:prstGeom prst="rect">
            <a:avLst/>
          </a:prstGeom>
          <a:noFill/>
        </p:spPr>
        <p:txBody>
          <a:bodyPr wrap="square" lIns="0" rIns="0" tIns="0" bIns="0" anchor="t">
            <a:spAutoFit/>
          </a:bodyPr>
          <a:lstStyle/>
          <a:p>
            <a:pPr algn="l"/>
            <a:r>
              <a:rPr sz="1100" b="0">
                <a:solidFill>
                  <a:srgbClr val="1A1A1A"/>
                </a:solidFill>
                <a:latin typeface="Calibri"/>
              </a:rPr>
              <a:t>•  Real-time tech availability sync</a:t>
            </a:r>
          </a:p>
        </p:txBody>
      </p:sp>
      <p:sp>
        <p:nvSpPr>
          <p:cNvPr id="17" name="TextBox 16"/>
          <p:cNvSpPr txBox="1"/>
          <p:nvPr/>
        </p:nvSpPr>
        <p:spPr>
          <a:xfrm>
            <a:off x="3657600" y="3977640"/>
            <a:ext cx="2377440" cy="320040"/>
          </a:xfrm>
          <a:prstGeom prst="rect">
            <a:avLst/>
          </a:prstGeom>
          <a:noFill/>
        </p:spPr>
        <p:txBody>
          <a:bodyPr wrap="square" lIns="0" rIns="0" tIns="0" bIns="0" anchor="t">
            <a:spAutoFit/>
          </a:bodyPr>
          <a:lstStyle/>
          <a:p>
            <a:pPr algn="l"/>
            <a:r>
              <a:rPr sz="1100" b="0">
                <a:solidFill>
                  <a:srgbClr val="1A1A1A"/>
                </a:solidFill>
                <a:latin typeface="Calibri"/>
              </a:rPr>
              <a:t>•  Multi-location credit + gift card</a:t>
            </a:r>
          </a:p>
        </p:txBody>
      </p:sp>
      <p:sp>
        <p:nvSpPr>
          <p:cNvPr id="18" name="Rounded Rectangle 17"/>
          <p:cNvSpPr/>
          <p:nvPr/>
        </p:nvSpPr>
        <p:spPr>
          <a:xfrm>
            <a:off x="6309360" y="2286000"/>
            <a:ext cx="2743200" cy="36576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9360" y="2286000"/>
            <a:ext cx="2743200" cy="6400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Studio backend</a:t>
            </a:r>
          </a:p>
        </p:txBody>
      </p:sp>
      <p:sp>
        <p:nvSpPr>
          <p:cNvPr id="21" name="TextBox 20"/>
          <p:cNvSpPr txBox="1"/>
          <p:nvPr/>
        </p:nvSpPr>
        <p:spPr>
          <a:xfrm>
            <a:off x="6537960" y="3154680"/>
            <a:ext cx="2377440" cy="320040"/>
          </a:xfrm>
          <a:prstGeom prst="rect">
            <a:avLst/>
          </a:prstGeom>
          <a:noFill/>
        </p:spPr>
        <p:txBody>
          <a:bodyPr wrap="square" lIns="0" rIns="0" tIns="0" bIns="0" anchor="t">
            <a:spAutoFit/>
          </a:bodyPr>
          <a:lstStyle/>
          <a:p>
            <a:pPr algn="l"/>
            <a:r>
              <a:rPr sz="1100" b="0">
                <a:solidFill>
                  <a:srgbClr val="1A1A1A"/>
                </a:solidFill>
                <a:latin typeface="Calibri"/>
              </a:rPr>
              <a:t>•  Node + TypeScript API</a:t>
            </a:r>
          </a:p>
        </p:txBody>
      </p:sp>
      <p:sp>
        <p:nvSpPr>
          <p:cNvPr id="22" name="TextBox 21"/>
          <p:cNvSpPr txBox="1"/>
          <p:nvPr/>
        </p:nvSpPr>
        <p:spPr>
          <a:xfrm>
            <a:off x="6537960" y="3566160"/>
            <a:ext cx="2377440" cy="320040"/>
          </a:xfrm>
          <a:prstGeom prst="rect">
            <a:avLst/>
          </a:prstGeom>
          <a:noFill/>
        </p:spPr>
        <p:txBody>
          <a:bodyPr wrap="square" lIns="0" rIns="0" tIns="0" bIns="0" anchor="t">
            <a:spAutoFit/>
          </a:bodyPr>
          <a:lstStyle/>
          <a:p>
            <a:pPr algn="l"/>
            <a:r>
              <a:rPr sz="1100" b="0">
                <a:solidFill>
                  <a:srgbClr val="1A1A1A"/>
                </a:solidFill>
                <a:latin typeface="Calibri"/>
              </a:rPr>
              <a:t>•  Postgres + pgvector for visual search</a:t>
            </a:r>
          </a:p>
        </p:txBody>
      </p:sp>
      <p:sp>
        <p:nvSpPr>
          <p:cNvPr id="23" name="TextBox 22"/>
          <p:cNvSpPr txBox="1"/>
          <p:nvPr/>
        </p:nvSpPr>
        <p:spPr>
          <a:xfrm>
            <a:off x="6537960" y="3977640"/>
            <a:ext cx="2377440" cy="320040"/>
          </a:xfrm>
          <a:prstGeom prst="rect">
            <a:avLst/>
          </a:prstGeom>
          <a:noFill/>
        </p:spPr>
        <p:txBody>
          <a:bodyPr wrap="square" lIns="0" rIns="0" tIns="0" bIns="0" anchor="t">
            <a:spAutoFit/>
          </a:bodyPr>
          <a:lstStyle/>
          <a:p>
            <a:pPr algn="l"/>
            <a:r>
              <a:rPr sz="1100" b="0">
                <a:solidFill>
                  <a:srgbClr val="1A1A1A"/>
                </a:solidFill>
                <a:latin typeface="Calibri"/>
              </a:rPr>
              <a:t>•  RBAC: corporate vs franchise-owner</a:t>
            </a:r>
          </a:p>
        </p:txBody>
      </p:sp>
      <p:sp>
        <p:nvSpPr>
          <p:cNvPr id="24" name="Rounded Rectangle 23"/>
          <p:cNvSpPr/>
          <p:nvPr/>
        </p:nvSpPr>
        <p:spPr>
          <a:xfrm>
            <a:off x="9189720" y="2286000"/>
            <a:ext cx="2743200" cy="36576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720" y="2286000"/>
            <a:ext cx="2743200" cy="6400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Intelligence</a:t>
            </a:r>
          </a:p>
        </p:txBody>
      </p:sp>
      <p:sp>
        <p:nvSpPr>
          <p:cNvPr id="27" name="TextBox 26"/>
          <p:cNvSpPr txBox="1"/>
          <p:nvPr/>
        </p:nvSpPr>
        <p:spPr>
          <a:xfrm>
            <a:off x="9418320" y="3154680"/>
            <a:ext cx="2377440" cy="320040"/>
          </a:xfrm>
          <a:prstGeom prst="rect">
            <a:avLst/>
          </a:prstGeom>
          <a:noFill/>
        </p:spPr>
        <p:txBody>
          <a:bodyPr wrap="square" lIns="0" rIns="0" tIns="0" bIns="0" anchor="t">
            <a:spAutoFit/>
          </a:bodyPr>
          <a:lstStyle/>
          <a:p>
            <a:pPr algn="l"/>
            <a:r>
              <a:rPr sz="1100" b="0">
                <a:solidFill>
                  <a:srgbClr val="1A1A1A"/>
                </a:solidFill>
                <a:latin typeface="Calibri"/>
              </a:rPr>
              <a:t>•  Claude (Sonnet 4.6 chat, Haiku 4.5 batch)</a:t>
            </a:r>
          </a:p>
        </p:txBody>
      </p:sp>
      <p:sp>
        <p:nvSpPr>
          <p:cNvPr id="28" name="TextBox 27"/>
          <p:cNvSpPr txBox="1"/>
          <p:nvPr/>
        </p:nvSpPr>
        <p:spPr>
          <a:xfrm>
            <a:off x="9418320" y="3566160"/>
            <a:ext cx="2377440" cy="320040"/>
          </a:xfrm>
          <a:prstGeom prst="rect">
            <a:avLst/>
          </a:prstGeom>
          <a:noFill/>
        </p:spPr>
        <p:txBody>
          <a:bodyPr wrap="square" lIns="0" rIns="0" tIns="0" bIns="0" anchor="t">
            <a:spAutoFit/>
          </a:bodyPr>
          <a:lstStyle/>
          <a:p>
            <a:pPr algn="l"/>
            <a:r>
              <a:rPr sz="1100" b="0">
                <a:solidFill>
                  <a:srgbClr val="1A1A1A"/>
                </a:solidFill>
                <a:latin typeface="Calibri"/>
              </a:rPr>
              <a:t>•  Bilingual prompts EN/FR</a:t>
            </a:r>
          </a:p>
        </p:txBody>
      </p:sp>
      <p:sp>
        <p:nvSpPr>
          <p:cNvPr id="29" name="TextBox 28"/>
          <p:cNvSpPr txBox="1"/>
          <p:nvPr/>
        </p:nvSpPr>
        <p:spPr>
          <a:xfrm>
            <a:off x="9418320" y="3977640"/>
            <a:ext cx="2377440" cy="320040"/>
          </a:xfrm>
          <a:prstGeom prst="rect">
            <a:avLst/>
          </a:prstGeom>
          <a:noFill/>
        </p:spPr>
        <p:txBody>
          <a:bodyPr wrap="square" lIns="0" rIns="0" tIns="0" bIns="0" anchor="t">
            <a:spAutoFit/>
          </a:bodyPr>
          <a:lstStyle/>
          <a:p>
            <a:pPr algn="l"/>
            <a:r>
              <a:rPr sz="1100" b="0">
                <a:solidFill>
                  <a:srgbClr val="1A1A1A"/>
                </a:solidFill>
                <a:latin typeface="Calibri"/>
              </a:rPr>
              <a:t>•  PostHog analytics, Sentry errors</a:t>
            </a:r>
          </a:p>
        </p:txBody>
      </p:sp>
      <p:sp>
        <p:nvSpPr>
          <p:cNvPr id="30" name="TextBox 29"/>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1" name="TextBox 30"/>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THE STUDIO · WEB ADMIN PORTAL</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Multi-location franchise admin — most complex Studio in the SEYSO portfolio.</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731520"/>
          </a:xfrm>
          <a:prstGeom prst="rect">
            <a:avLst/>
          </a:prstGeom>
          <a:noFill/>
        </p:spPr>
        <p:txBody>
          <a:bodyPr wrap="square" lIns="0" rIns="0" tIns="0" bIns="0" anchor="t">
            <a:spAutoFit/>
          </a:bodyPr>
          <a:lstStyle/>
          <a:p>
            <a:pPr algn="l"/>
            <a:r>
              <a:rPr sz="1400" b="0">
                <a:solidFill>
                  <a:srgbClr val="8A8485"/>
                </a:solidFill>
                <a:latin typeface="Calibri"/>
              </a:rPr>
              <a:t>Customers use the mobile app. Your team uses The Studio. Same backend, same brand language. RBAC for corporate vs franchise-owner views.</a:t>
            </a:r>
          </a:p>
        </p:txBody>
      </p:sp>
      <p:sp>
        <p:nvSpPr>
          <p:cNvPr id="7" name="Rounded Rectangle 6"/>
          <p:cNvSpPr/>
          <p:nvPr/>
        </p:nvSpPr>
        <p:spPr>
          <a:xfrm>
            <a:off x="4114800" y="2743200"/>
            <a:ext cx="3931920" cy="7772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2788920"/>
            <a:ext cx="3566160" cy="365760"/>
          </a:xfrm>
          <a:prstGeom prst="rect">
            <a:avLst/>
          </a:prstGeom>
          <a:noFill/>
        </p:spPr>
        <p:txBody>
          <a:bodyPr wrap="square" lIns="0" rIns="0" tIns="0" bIns="0" anchor="t">
            <a:spAutoFit/>
          </a:bodyPr>
          <a:lstStyle/>
          <a:p>
            <a:pPr algn="l"/>
            <a:r>
              <a:rPr sz="1000" b="1">
                <a:solidFill>
                  <a:srgbClr val="A82E60"/>
                </a:solidFill>
                <a:latin typeface="Calibri"/>
              </a:rPr>
              <a:t>BOOKER / MINDBODY</a:t>
            </a:r>
          </a:p>
        </p:txBody>
      </p:sp>
      <p:sp>
        <p:nvSpPr>
          <p:cNvPr id="9" name="TextBox 8"/>
          <p:cNvSpPr txBox="1"/>
          <p:nvPr/>
        </p:nvSpPr>
        <p:spPr>
          <a:xfrm>
            <a:off x="4297680" y="3108960"/>
            <a:ext cx="3566160" cy="365760"/>
          </a:xfrm>
          <a:prstGeom prst="rect">
            <a:avLst/>
          </a:prstGeom>
          <a:noFill/>
        </p:spPr>
        <p:txBody>
          <a:bodyPr wrap="square" lIns="0" rIns="0" tIns="0" bIns="0" anchor="t">
            <a:spAutoFit/>
          </a:bodyPr>
          <a:lstStyle/>
          <a:p>
            <a:pPr algn="l"/>
            <a:r>
              <a:rPr sz="1100" b="0">
                <a:solidFill>
                  <a:srgbClr val="8A8485"/>
                </a:solidFill>
                <a:latin typeface="Calibri"/>
              </a:rPr>
              <a:t>Existing booking system — sync, never replace</a:t>
            </a:r>
          </a:p>
        </p:txBody>
      </p:sp>
      <p:sp>
        <p:nvSpPr>
          <p:cNvPr id="10" name="Rounded Rectangle 9"/>
          <p:cNvSpPr/>
          <p:nvPr/>
        </p:nvSpPr>
        <p:spPr>
          <a:xfrm>
            <a:off x="548640" y="3840480"/>
            <a:ext cx="11064240" cy="640080"/>
          </a:xfrm>
          <a:prstGeom prst="roundRect">
            <a:avLst>
              <a:gd name="adj" fmla="val 12000"/>
            </a:avLst>
          </a:prstGeom>
          <a:solidFill>
            <a:srgbClr val="FCE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904487"/>
            <a:ext cx="10607040" cy="365760"/>
          </a:xfrm>
          <a:prstGeom prst="rect">
            <a:avLst/>
          </a:prstGeom>
          <a:noFill/>
        </p:spPr>
        <p:txBody>
          <a:bodyPr wrap="square" lIns="0" rIns="0" tIns="0" bIns="0" anchor="ctr">
            <a:spAutoFit/>
          </a:bodyPr>
          <a:lstStyle/>
          <a:p>
            <a:pPr algn="l"/>
            <a:r>
              <a:rPr sz="1100" b="1">
                <a:solidFill>
                  <a:srgbClr val="A82E60"/>
                </a:solidFill>
                <a:latin typeface="Calibri"/>
              </a:rPr>
              <a:t>SHARED API · Postgres · Auth · AI gateway · Multi-location calendar · RBAC · Per-franchise pricing</a:t>
            </a:r>
          </a:p>
        </p:txBody>
      </p:sp>
      <p:sp>
        <p:nvSpPr>
          <p:cNvPr id="12" name="Rounded Rectangle 11"/>
          <p:cNvSpPr/>
          <p:nvPr/>
        </p:nvSpPr>
        <p:spPr>
          <a:xfrm>
            <a:off x="548640" y="4754880"/>
            <a:ext cx="5440680" cy="14630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754880"/>
            <a:ext cx="5440680" cy="36576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73168"/>
            <a:ext cx="4983480" cy="365760"/>
          </a:xfrm>
          <a:prstGeom prst="rect">
            <a:avLst/>
          </a:prstGeom>
          <a:noFill/>
        </p:spPr>
        <p:txBody>
          <a:bodyPr wrap="square" lIns="0" rIns="0" tIns="0" bIns="0" anchor="ctr">
            <a:spAutoFit/>
          </a:bodyPr>
          <a:lstStyle/>
          <a:p>
            <a:pPr algn="l"/>
            <a:r>
              <a:rPr sz="1000" b="1">
                <a:solidFill>
                  <a:srgbClr val="FFFFFF"/>
                </a:solidFill>
                <a:latin typeface="Calibri"/>
              </a:rPr>
              <a:t>MOBILE APP — IOS &amp; ANDROID</a:t>
            </a:r>
          </a:p>
        </p:txBody>
      </p:sp>
      <p:sp>
        <p:nvSpPr>
          <p:cNvPr id="15" name="TextBox 14"/>
          <p:cNvSpPr txBox="1"/>
          <p:nvPr/>
        </p:nvSpPr>
        <p:spPr>
          <a:xfrm>
            <a:off x="777240" y="5212080"/>
            <a:ext cx="4983480" cy="914400"/>
          </a:xfrm>
          <a:prstGeom prst="rect">
            <a:avLst/>
          </a:prstGeom>
          <a:noFill/>
        </p:spPr>
        <p:txBody>
          <a:bodyPr wrap="square" lIns="0" rIns="0" tIns="0" bIns="0" anchor="t">
            <a:spAutoFit/>
          </a:bodyPr>
          <a:lstStyle/>
          <a:p>
            <a:pPr algn="l"/>
            <a:r>
              <a:rPr sz="1100" b="0">
                <a:solidFill>
                  <a:srgbClr val="1A1A1A"/>
                </a:solidFill>
                <a:latin typeface="Calibri"/>
              </a:rPr>
              <a:t>Customer-facing · Book · Your Spot · Prep+After · Calendar · Wallet · Spotted</a:t>
            </a:r>
          </a:p>
        </p:txBody>
      </p:sp>
      <p:sp>
        <p:nvSpPr>
          <p:cNvPr id="16" name="Rounded Rectangle 15"/>
          <p:cNvSpPr/>
          <p:nvPr/>
        </p:nvSpPr>
        <p:spPr>
          <a:xfrm>
            <a:off x="6172200" y="4754880"/>
            <a:ext cx="5440680" cy="14630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4754880"/>
            <a:ext cx="5440680" cy="36576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73168"/>
            <a:ext cx="4983480" cy="365760"/>
          </a:xfrm>
          <a:prstGeom prst="rect">
            <a:avLst/>
          </a:prstGeom>
          <a:noFill/>
        </p:spPr>
        <p:txBody>
          <a:bodyPr wrap="square" lIns="0" rIns="0" tIns="0" bIns="0" anchor="ctr">
            <a:spAutoFit/>
          </a:bodyPr>
          <a:lstStyle/>
          <a:p>
            <a:pPr algn="l"/>
            <a:r>
              <a:rPr sz="1000" b="1">
                <a:solidFill>
                  <a:srgbClr val="FFFFFF"/>
                </a:solidFill>
                <a:latin typeface="Calibri"/>
              </a:rPr>
              <a:t>THE STUDIO — WEB ADMIN PORTAL</a:t>
            </a:r>
          </a:p>
        </p:txBody>
      </p:sp>
      <p:sp>
        <p:nvSpPr>
          <p:cNvPr id="19" name="TextBox 18"/>
          <p:cNvSpPr txBox="1"/>
          <p:nvPr/>
        </p:nvSpPr>
        <p:spPr>
          <a:xfrm>
            <a:off x="6400800" y="5212080"/>
            <a:ext cx="4983480" cy="914400"/>
          </a:xfrm>
          <a:prstGeom prst="rect">
            <a:avLst/>
          </a:prstGeom>
          <a:noFill/>
        </p:spPr>
        <p:txBody>
          <a:bodyPr wrap="square" lIns="0" rIns="0" tIns="0" bIns="0" anchor="t">
            <a:spAutoFit/>
          </a:bodyPr>
          <a:lstStyle/>
          <a:p>
            <a:pPr algn="l"/>
            <a:r>
              <a:rPr sz="1100" b="0">
                <a:solidFill>
                  <a:srgbClr val="1A1A1A"/>
                </a:solidFill>
                <a:latin typeface="Calibri"/>
              </a:rPr>
              <a:t>Internal · multi-location dashboard · scheduling · franchise admin · catalog (per-location pricing) · concierge</a:t>
            </a:r>
          </a:p>
        </p:txBody>
      </p:sp>
      <p:sp>
        <p:nvSpPr>
          <p:cNvPr id="20" name="TextBox 19"/>
          <p:cNvSpPr txBox="1"/>
          <p:nvPr/>
        </p:nvSpPr>
        <p:spPr>
          <a:xfrm>
            <a:off x="548640" y="6400800"/>
            <a:ext cx="10972800" cy="365760"/>
          </a:xfrm>
          <a:prstGeom prst="rect">
            <a:avLst/>
          </a:prstGeom>
          <a:noFill/>
        </p:spPr>
        <p:txBody>
          <a:bodyPr wrap="square" lIns="0" rIns="0" tIns="0" bIns="0" anchor="t">
            <a:spAutoFit/>
          </a:bodyPr>
          <a:lstStyle/>
          <a:p>
            <a:pPr algn="l"/>
            <a:r>
              <a:rPr sz="1000" b="1">
                <a:solidFill>
                  <a:srgbClr val="A82E60"/>
                </a:solidFill>
                <a:latin typeface="Calibri"/>
              </a:rPr>
              <a:t>BUILT FOR YOUR TEAM   —   Kristen + corporate ops + 33+ franchise owners + technicians. RBAC throughout.</a:t>
            </a:r>
          </a:p>
        </p:txBody>
      </p:sp>
      <p:sp>
        <p:nvSpPr>
          <p:cNvPr id="21" name="TextBox 2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22" name="TextBox 2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HOW WE'LL DELIVER</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Roadmap — first nine months.</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743200"/>
            <a:ext cx="11064240" cy="25400"/>
          </a:xfrm>
          <a:prstGeom prst="rect">
            <a:avLst/>
          </a:prstGeom>
          <a:solidFill>
            <a:srgbClr val="EBD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28800" y="2651760"/>
            <a:ext cx="182880" cy="1828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3063240"/>
            <a:ext cx="274320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200400"/>
            <a:ext cx="2194560" cy="365760"/>
          </a:xfrm>
          <a:prstGeom prst="rect">
            <a:avLst/>
          </a:prstGeom>
          <a:noFill/>
        </p:spPr>
        <p:txBody>
          <a:bodyPr wrap="square" lIns="0" rIns="0" tIns="0" bIns="0" anchor="t">
            <a:spAutoFit/>
          </a:bodyPr>
          <a:lstStyle/>
          <a:p>
            <a:pPr algn="l"/>
            <a:r>
              <a:rPr sz="1000" b="1">
                <a:solidFill>
                  <a:srgbClr val="A82E60"/>
                </a:solidFill>
                <a:latin typeface="Calibri"/>
              </a:rPr>
              <a:t>Weeks 1–2</a:t>
            </a:r>
          </a:p>
        </p:txBody>
      </p:sp>
      <p:sp>
        <p:nvSpPr>
          <p:cNvPr id="10" name="TextBox 9"/>
          <p:cNvSpPr txBox="1"/>
          <p:nvPr/>
        </p:nvSpPr>
        <p:spPr>
          <a:xfrm>
            <a:off x="822960" y="3566160"/>
            <a:ext cx="2194560" cy="548640"/>
          </a:xfrm>
          <a:prstGeom prst="rect">
            <a:avLst/>
          </a:prstGeom>
          <a:noFill/>
        </p:spPr>
        <p:txBody>
          <a:bodyPr wrap="square" lIns="0" rIns="0" tIns="0" bIns="0" anchor="t">
            <a:spAutoFit/>
          </a:bodyPr>
          <a:lstStyle/>
          <a:p>
            <a:pPr algn="l"/>
            <a:r>
              <a:rPr sz="2200" b="0">
                <a:solidFill>
                  <a:srgbClr val="1A1A1A"/>
                </a:solidFill>
                <a:latin typeface="Georgia"/>
              </a:rPr>
              <a:t>Discovery</a:t>
            </a:r>
          </a:p>
        </p:txBody>
      </p:sp>
      <p:sp>
        <p:nvSpPr>
          <p:cNvPr id="11" name="TextBox 10"/>
          <p:cNvSpPr txBox="1"/>
          <p:nvPr/>
        </p:nvSpPr>
        <p:spPr>
          <a:xfrm>
            <a:off x="822960" y="4389120"/>
            <a:ext cx="2194560" cy="1828800"/>
          </a:xfrm>
          <a:prstGeom prst="rect">
            <a:avLst/>
          </a:prstGeom>
          <a:noFill/>
        </p:spPr>
        <p:txBody>
          <a:bodyPr wrap="square" lIns="0" rIns="0" tIns="0" bIns="0" anchor="t">
            <a:spAutoFit/>
          </a:bodyPr>
          <a:lstStyle/>
          <a:p>
            <a:pPr algn="l"/>
            <a:r>
              <a:rPr sz="1100" b="0">
                <a:solidFill>
                  <a:srgbClr val="8A8485"/>
                </a:solidFill>
                <a:latin typeface="Calibri"/>
              </a:rPr>
              <a:t>Customer interviews — high-frequency cult-fan, new customer post-first-visit, Quebec-FR customer, franchise owner, corporate ops staff. Audit existing booking system. Confirm Booker/Mindbody integration. Lock Phase 1 scope.</a:t>
            </a:r>
          </a:p>
        </p:txBody>
      </p:sp>
      <p:sp>
        <p:nvSpPr>
          <p:cNvPr id="12" name="Rounded Rectangle 11"/>
          <p:cNvSpPr/>
          <p:nvPr/>
        </p:nvSpPr>
        <p:spPr>
          <a:xfrm>
            <a:off x="4617720" y="2651760"/>
            <a:ext cx="182880" cy="1828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3063240"/>
            <a:ext cx="274320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3200400"/>
            <a:ext cx="2194560" cy="365760"/>
          </a:xfrm>
          <a:prstGeom prst="rect">
            <a:avLst/>
          </a:prstGeom>
          <a:noFill/>
        </p:spPr>
        <p:txBody>
          <a:bodyPr wrap="square" lIns="0" rIns="0" tIns="0" bIns="0" anchor="t">
            <a:spAutoFit/>
          </a:bodyPr>
          <a:lstStyle/>
          <a:p>
            <a:pPr algn="l"/>
            <a:r>
              <a:rPr sz="1000" b="1">
                <a:solidFill>
                  <a:srgbClr val="A82E60"/>
                </a:solidFill>
                <a:latin typeface="Calibri"/>
              </a:rPr>
              <a:t>Weeks 3–18</a:t>
            </a:r>
          </a:p>
        </p:txBody>
      </p:sp>
      <p:sp>
        <p:nvSpPr>
          <p:cNvPr id="15" name="TextBox 14"/>
          <p:cNvSpPr txBox="1"/>
          <p:nvPr/>
        </p:nvSpPr>
        <p:spPr>
          <a:xfrm>
            <a:off x="3611880" y="3566160"/>
            <a:ext cx="2194560" cy="548640"/>
          </a:xfrm>
          <a:prstGeom prst="rect">
            <a:avLst/>
          </a:prstGeom>
          <a:noFill/>
        </p:spPr>
        <p:txBody>
          <a:bodyPr wrap="square" lIns="0" rIns="0" tIns="0" bIns="0" anchor="t">
            <a:spAutoFit/>
          </a:bodyPr>
          <a:lstStyle/>
          <a:p>
            <a:pPr algn="l"/>
            <a:r>
              <a:rPr sz="2200" b="0">
                <a:solidFill>
                  <a:srgbClr val="1A1A1A"/>
                </a:solidFill>
                <a:latin typeface="Georgia"/>
              </a:rPr>
              <a:t>Phase 1 build</a:t>
            </a:r>
          </a:p>
        </p:txBody>
      </p:sp>
      <p:sp>
        <p:nvSpPr>
          <p:cNvPr id="16" name="TextBox 15"/>
          <p:cNvSpPr txBox="1"/>
          <p:nvPr/>
        </p:nvSpPr>
        <p:spPr>
          <a:xfrm>
            <a:off x="3611880" y="4389120"/>
            <a:ext cx="2194560" cy="1828800"/>
          </a:xfrm>
          <a:prstGeom prst="rect">
            <a:avLst/>
          </a:prstGeom>
          <a:noFill/>
        </p:spPr>
        <p:txBody>
          <a:bodyPr wrap="square" lIns="0" rIns="0" tIns="0" bIns="0" anchor="t">
            <a:spAutoFit/>
          </a:bodyPr>
          <a:lstStyle/>
          <a:p>
            <a:pPr algn="l"/>
            <a:r>
              <a:rPr sz="1100" b="0">
                <a:solidFill>
                  <a:srgbClr val="8A8485"/>
                </a:solidFill>
                <a:latin typeface="Calibri"/>
              </a:rPr>
              <a:t>Book · Your Spot · Prep+After · Calendar · Wallet · Spotted · Tier 1 AI · The Studio. EN/FR at launch. Booking-system integration scoped separately.</a:t>
            </a:r>
          </a:p>
        </p:txBody>
      </p:sp>
      <p:sp>
        <p:nvSpPr>
          <p:cNvPr id="17" name="Rounded Rectangle 16"/>
          <p:cNvSpPr/>
          <p:nvPr/>
        </p:nvSpPr>
        <p:spPr>
          <a:xfrm>
            <a:off x="7406640" y="2651760"/>
            <a:ext cx="182880" cy="1828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3063240"/>
            <a:ext cx="274320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200400"/>
            <a:ext cx="2194560" cy="365760"/>
          </a:xfrm>
          <a:prstGeom prst="rect">
            <a:avLst/>
          </a:prstGeom>
          <a:noFill/>
        </p:spPr>
        <p:txBody>
          <a:bodyPr wrap="square" lIns="0" rIns="0" tIns="0" bIns="0" anchor="t">
            <a:spAutoFit/>
          </a:bodyPr>
          <a:lstStyle/>
          <a:p>
            <a:pPr algn="l"/>
            <a:r>
              <a:rPr sz="1000" b="1">
                <a:solidFill>
                  <a:srgbClr val="A82E60"/>
                </a:solidFill>
                <a:latin typeface="Calibri"/>
              </a:rPr>
              <a:t>Weeks 19–32</a:t>
            </a:r>
          </a:p>
        </p:txBody>
      </p:sp>
      <p:sp>
        <p:nvSpPr>
          <p:cNvPr id="20" name="TextBox 19"/>
          <p:cNvSpPr txBox="1"/>
          <p:nvPr/>
        </p:nvSpPr>
        <p:spPr>
          <a:xfrm>
            <a:off x="6400800" y="3566160"/>
            <a:ext cx="2194560" cy="548640"/>
          </a:xfrm>
          <a:prstGeom prst="rect">
            <a:avLst/>
          </a:prstGeom>
          <a:noFill/>
        </p:spPr>
        <p:txBody>
          <a:bodyPr wrap="square" lIns="0" rIns="0" tIns="0" bIns="0" anchor="t">
            <a:spAutoFit/>
          </a:bodyPr>
          <a:lstStyle/>
          <a:p>
            <a:pPr algn="l"/>
            <a:r>
              <a:rPr sz="2200" b="0">
                <a:solidFill>
                  <a:srgbClr val="1A1A1A"/>
                </a:solidFill>
                <a:latin typeface="Georgia"/>
              </a:rPr>
              <a:t>Phase 2 build</a:t>
            </a:r>
          </a:p>
        </p:txBody>
      </p:sp>
      <p:sp>
        <p:nvSpPr>
          <p:cNvPr id="21" name="TextBox 20"/>
          <p:cNvSpPr txBox="1"/>
          <p:nvPr/>
        </p:nvSpPr>
        <p:spPr>
          <a:xfrm>
            <a:off x="6400800" y="4389120"/>
            <a:ext cx="2194560" cy="1828800"/>
          </a:xfrm>
          <a:prstGeom prst="rect">
            <a:avLst/>
          </a:prstGeom>
          <a:noFill/>
        </p:spPr>
        <p:txBody>
          <a:bodyPr wrap="square" lIns="0" rIns="0" tIns="0" bIns="0" anchor="t">
            <a:spAutoFit/>
          </a:bodyPr>
          <a:lstStyle/>
          <a:p>
            <a:pPr algn="l"/>
            <a:r>
              <a:rPr sz="1100" b="0">
                <a:solidFill>
                  <a:srgbClr val="8A8485"/>
                </a:solidFill>
                <a:latin typeface="Calibri"/>
              </a:rPr>
              <a:t>Booker/Mindbody two-way sync at SLA-grade, franchise B2B portal, multi-city travel mode, demand-sensing.</a:t>
            </a:r>
          </a:p>
        </p:txBody>
      </p:sp>
      <p:sp>
        <p:nvSpPr>
          <p:cNvPr id="22" name="Rounded Rectangle 21"/>
          <p:cNvSpPr/>
          <p:nvPr/>
        </p:nvSpPr>
        <p:spPr>
          <a:xfrm>
            <a:off x="10195560" y="2651760"/>
            <a:ext cx="182880" cy="182880"/>
          </a:xfrm>
          <a:prstGeom prst="roundRect">
            <a:avLst>
              <a:gd name="adj" fmla="val 12000"/>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15400" y="3063240"/>
            <a:ext cx="2743200" cy="329184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20" y="3200400"/>
            <a:ext cx="2194560" cy="365760"/>
          </a:xfrm>
          <a:prstGeom prst="rect">
            <a:avLst/>
          </a:prstGeom>
          <a:noFill/>
        </p:spPr>
        <p:txBody>
          <a:bodyPr wrap="square" lIns="0" rIns="0" tIns="0" bIns="0" anchor="t">
            <a:spAutoFit/>
          </a:bodyPr>
          <a:lstStyle/>
          <a:p>
            <a:pPr algn="l"/>
            <a:r>
              <a:rPr sz="1000" b="1">
                <a:solidFill>
                  <a:srgbClr val="A82E60"/>
                </a:solidFill>
                <a:latin typeface="Calibri"/>
              </a:rPr>
              <a:t>Weeks 33–40+</a:t>
            </a:r>
          </a:p>
        </p:txBody>
      </p:sp>
      <p:sp>
        <p:nvSpPr>
          <p:cNvPr id="25" name="TextBox 24"/>
          <p:cNvSpPr txBox="1"/>
          <p:nvPr/>
        </p:nvSpPr>
        <p:spPr>
          <a:xfrm>
            <a:off x="9189720" y="3566160"/>
            <a:ext cx="2194560" cy="548640"/>
          </a:xfrm>
          <a:prstGeom prst="rect">
            <a:avLst/>
          </a:prstGeom>
          <a:noFill/>
        </p:spPr>
        <p:txBody>
          <a:bodyPr wrap="square" lIns="0" rIns="0" tIns="0" bIns="0" anchor="t">
            <a:spAutoFit/>
          </a:bodyPr>
          <a:lstStyle/>
          <a:p>
            <a:pPr algn="l"/>
            <a:r>
              <a:rPr sz="2200" b="0">
                <a:solidFill>
                  <a:srgbClr val="1A1A1A"/>
                </a:solidFill>
                <a:latin typeface="Georgia"/>
              </a:rPr>
              <a:t>Phase 3 build</a:t>
            </a:r>
          </a:p>
        </p:txBody>
      </p:sp>
      <p:sp>
        <p:nvSpPr>
          <p:cNvPr id="26" name="TextBox 25"/>
          <p:cNvSpPr txBox="1"/>
          <p:nvPr/>
        </p:nvSpPr>
        <p:spPr>
          <a:xfrm>
            <a:off x="9189720" y="4389120"/>
            <a:ext cx="2194560" cy="1828800"/>
          </a:xfrm>
          <a:prstGeom prst="rect">
            <a:avLst/>
          </a:prstGeom>
          <a:noFill/>
        </p:spPr>
        <p:txBody>
          <a:bodyPr wrap="square" lIns="0" rIns="0" tIns="0" bIns="0" anchor="t">
            <a:spAutoFit/>
          </a:bodyPr>
          <a:lstStyle/>
          <a:p>
            <a:pPr algn="l"/>
            <a:r>
              <a:rPr sz="1100" b="0">
                <a:solidFill>
                  <a:srgbClr val="8A8485"/>
                </a:solidFill>
                <a:latin typeface="Calibri"/>
              </a:rPr>
              <a:t>Editorial, VOICES films, content scaling, counterfeit gift-card detection, franchise-recruitment portal.</a:t>
            </a:r>
          </a:p>
        </p:txBody>
      </p:sp>
      <p:sp>
        <p:nvSpPr>
          <p:cNvPr id="27" name="TextBox 2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28" name="TextBox 2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HOW WE'LL KNOW IT'S WORKING</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The metrics that matter.</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560320"/>
            <a:ext cx="36576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3108960" cy="365760"/>
          </a:xfrm>
          <a:prstGeom prst="rect">
            <a:avLst/>
          </a:prstGeom>
          <a:noFill/>
        </p:spPr>
        <p:txBody>
          <a:bodyPr wrap="square" lIns="0" rIns="0" tIns="0" bIns="0" anchor="t">
            <a:spAutoFit/>
          </a:bodyPr>
          <a:lstStyle/>
          <a:p>
            <a:pPr algn="l"/>
            <a:r>
              <a:rPr sz="1400" b="1">
                <a:solidFill>
                  <a:srgbClr val="A82E60"/>
                </a:solidFill>
                <a:latin typeface="Calibri"/>
              </a:rPr>
              <a:t>App-booked %</a:t>
            </a:r>
          </a:p>
        </p:txBody>
      </p:sp>
      <p:sp>
        <p:nvSpPr>
          <p:cNvPr id="8" name="TextBox 7"/>
          <p:cNvSpPr txBox="1"/>
          <p:nvPr/>
        </p:nvSpPr>
        <p:spPr>
          <a:xfrm>
            <a:off x="822960" y="3154680"/>
            <a:ext cx="3108960" cy="822960"/>
          </a:xfrm>
          <a:prstGeom prst="rect">
            <a:avLst/>
          </a:prstGeom>
          <a:noFill/>
        </p:spPr>
        <p:txBody>
          <a:bodyPr wrap="square" lIns="0" rIns="0" tIns="0" bIns="0" anchor="t">
            <a:spAutoFit/>
          </a:bodyPr>
          <a:lstStyle/>
          <a:p>
            <a:pPr algn="l"/>
            <a:r>
              <a:rPr sz="1100" b="0">
                <a:solidFill>
                  <a:srgbClr val="8A8485"/>
                </a:solidFill>
                <a:latin typeface="Calibri"/>
              </a:rPr>
              <a:t>% of total bookings via app vs phone</a:t>
            </a:r>
          </a:p>
        </p:txBody>
      </p:sp>
      <p:sp>
        <p:nvSpPr>
          <p:cNvPr id="9" name="TextBox 8"/>
          <p:cNvSpPr txBox="1"/>
          <p:nvPr/>
        </p:nvSpPr>
        <p:spPr>
          <a:xfrm>
            <a:off x="822960" y="3931920"/>
            <a:ext cx="3108960" cy="365760"/>
          </a:xfrm>
          <a:prstGeom prst="rect">
            <a:avLst/>
          </a:prstGeom>
          <a:noFill/>
        </p:spPr>
        <p:txBody>
          <a:bodyPr wrap="square" lIns="0" rIns="0" tIns="0" bIns="0" anchor="t">
            <a:spAutoFit/>
          </a:bodyPr>
          <a:lstStyle/>
          <a:p>
            <a:pPr algn="l"/>
            <a:r>
              <a:rPr sz="1400" b="0">
                <a:solidFill>
                  <a:srgbClr val="1A1A1A"/>
                </a:solidFill>
                <a:latin typeface="Georgia"/>
              </a:rPr>
              <a:t>Target ≥ 70% by month 12</a:t>
            </a:r>
          </a:p>
        </p:txBody>
      </p:sp>
      <p:sp>
        <p:nvSpPr>
          <p:cNvPr id="10" name="Rounded Rectangle 9"/>
          <p:cNvSpPr/>
          <p:nvPr/>
        </p:nvSpPr>
        <p:spPr>
          <a:xfrm>
            <a:off x="4297680" y="2560320"/>
            <a:ext cx="36576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743200"/>
            <a:ext cx="3108960" cy="365760"/>
          </a:xfrm>
          <a:prstGeom prst="rect">
            <a:avLst/>
          </a:prstGeom>
          <a:noFill/>
        </p:spPr>
        <p:txBody>
          <a:bodyPr wrap="square" lIns="0" rIns="0" tIns="0" bIns="0" anchor="t">
            <a:spAutoFit/>
          </a:bodyPr>
          <a:lstStyle/>
          <a:p>
            <a:pPr algn="l"/>
            <a:r>
              <a:rPr sz="1400" b="1">
                <a:solidFill>
                  <a:srgbClr val="A82E60"/>
                </a:solidFill>
                <a:latin typeface="Calibri"/>
              </a:rPr>
              <a:t>Booking conversion</a:t>
            </a:r>
          </a:p>
        </p:txBody>
      </p:sp>
      <p:sp>
        <p:nvSpPr>
          <p:cNvPr id="12" name="TextBox 11"/>
          <p:cNvSpPr txBox="1"/>
          <p:nvPr/>
        </p:nvSpPr>
        <p:spPr>
          <a:xfrm>
            <a:off x="4572000" y="3154680"/>
            <a:ext cx="3108960" cy="822960"/>
          </a:xfrm>
          <a:prstGeom prst="rect">
            <a:avLst/>
          </a:prstGeom>
          <a:noFill/>
        </p:spPr>
        <p:txBody>
          <a:bodyPr wrap="square" lIns="0" rIns="0" tIns="0" bIns="0" anchor="t">
            <a:spAutoFit/>
          </a:bodyPr>
          <a:lstStyle/>
          <a:p>
            <a:pPr algn="l"/>
            <a:r>
              <a:rPr sz="1100" b="0">
                <a:solidFill>
                  <a:srgbClr val="8A8485"/>
                </a:solidFill>
                <a:latin typeface="Calibri"/>
              </a:rPr>
              <a:t>% of booking funnel completed</a:t>
            </a:r>
          </a:p>
        </p:txBody>
      </p:sp>
      <p:sp>
        <p:nvSpPr>
          <p:cNvPr id="13" name="TextBox 12"/>
          <p:cNvSpPr txBox="1"/>
          <p:nvPr/>
        </p:nvSpPr>
        <p:spPr>
          <a:xfrm>
            <a:off x="4572000" y="3931920"/>
            <a:ext cx="3108960" cy="365760"/>
          </a:xfrm>
          <a:prstGeom prst="rect">
            <a:avLst/>
          </a:prstGeom>
          <a:noFill/>
        </p:spPr>
        <p:txBody>
          <a:bodyPr wrap="square" lIns="0" rIns="0" tIns="0" bIns="0" anchor="t">
            <a:spAutoFit/>
          </a:bodyPr>
          <a:lstStyle/>
          <a:p>
            <a:pPr algn="l"/>
            <a:r>
              <a:rPr sz="1400" b="0">
                <a:solidFill>
                  <a:srgbClr val="1A1A1A"/>
                </a:solidFill>
                <a:latin typeface="Georgia"/>
              </a:rPr>
              <a:t>Target ≥ 75%</a:t>
            </a:r>
          </a:p>
        </p:txBody>
      </p:sp>
      <p:sp>
        <p:nvSpPr>
          <p:cNvPr id="14" name="Rounded Rectangle 13"/>
          <p:cNvSpPr/>
          <p:nvPr/>
        </p:nvSpPr>
        <p:spPr>
          <a:xfrm>
            <a:off x="8046720" y="2560320"/>
            <a:ext cx="36576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743200"/>
            <a:ext cx="3108960" cy="365760"/>
          </a:xfrm>
          <a:prstGeom prst="rect">
            <a:avLst/>
          </a:prstGeom>
          <a:noFill/>
        </p:spPr>
        <p:txBody>
          <a:bodyPr wrap="square" lIns="0" rIns="0" tIns="0" bIns="0" anchor="t">
            <a:spAutoFit/>
          </a:bodyPr>
          <a:lstStyle/>
          <a:p>
            <a:pPr algn="l"/>
            <a:r>
              <a:rPr sz="1400" b="1">
                <a:solidFill>
                  <a:srgbClr val="A82E60"/>
                </a:solidFill>
                <a:latin typeface="Calibri"/>
              </a:rPr>
              <a:t>No-show rate</a:t>
            </a:r>
          </a:p>
        </p:txBody>
      </p:sp>
      <p:sp>
        <p:nvSpPr>
          <p:cNvPr id="16" name="TextBox 15"/>
          <p:cNvSpPr txBox="1"/>
          <p:nvPr/>
        </p:nvSpPr>
        <p:spPr>
          <a:xfrm>
            <a:off x="8321040" y="3154680"/>
            <a:ext cx="3108960" cy="822960"/>
          </a:xfrm>
          <a:prstGeom prst="rect">
            <a:avLst/>
          </a:prstGeom>
          <a:noFill/>
        </p:spPr>
        <p:txBody>
          <a:bodyPr wrap="square" lIns="0" rIns="0" tIns="0" bIns="0" anchor="t">
            <a:spAutoFit/>
          </a:bodyPr>
          <a:lstStyle/>
          <a:p>
            <a:pPr algn="l"/>
            <a:r>
              <a:rPr sz="1100" b="0">
                <a:solidFill>
                  <a:srgbClr val="8A8485"/>
                </a:solidFill>
                <a:latin typeface="Calibri"/>
              </a:rPr>
              <a:t>Bookings missed without notice</a:t>
            </a:r>
          </a:p>
        </p:txBody>
      </p:sp>
      <p:sp>
        <p:nvSpPr>
          <p:cNvPr id="17" name="TextBox 16"/>
          <p:cNvSpPr txBox="1"/>
          <p:nvPr/>
        </p:nvSpPr>
        <p:spPr>
          <a:xfrm>
            <a:off x="8321040" y="3931920"/>
            <a:ext cx="3108960" cy="365760"/>
          </a:xfrm>
          <a:prstGeom prst="rect">
            <a:avLst/>
          </a:prstGeom>
          <a:noFill/>
        </p:spPr>
        <p:txBody>
          <a:bodyPr wrap="square" lIns="0" rIns="0" tIns="0" bIns="0" anchor="t">
            <a:spAutoFit/>
          </a:bodyPr>
          <a:lstStyle/>
          <a:p>
            <a:pPr algn="l"/>
            <a:r>
              <a:rPr sz="1400" b="0">
                <a:solidFill>
                  <a:srgbClr val="1A1A1A"/>
                </a:solidFill>
                <a:latin typeface="Georgia"/>
              </a:rPr>
              <a:t>Target ≤ 4% across all locations</a:t>
            </a:r>
          </a:p>
        </p:txBody>
      </p:sp>
      <p:sp>
        <p:nvSpPr>
          <p:cNvPr id="18" name="Rounded Rectangle 17"/>
          <p:cNvSpPr/>
          <p:nvPr/>
        </p:nvSpPr>
        <p:spPr>
          <a:xfrm>
            <a:off x="548640" y="4480560"/>
            <a:ext cx="36576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663440"/>
            <a:ext cx="3108960" cy="365760"/>
          </a:xfrm>
          <a:prstGeom prst="rect">
            <a:avLst/>
          </a:prstGeom>
          <a:noFill/>
        </p:spPr>
        <p:txBody>
          <a:bodyPr wrap="square" lIns="0" rIns="0" tIns="0" bIns="0" anchor="t">
            <a:spAutoFit/>
          </a:bodyPr>
          <a:lstStyle/>
          <a:p>
            <a:pPr algn="l"/>
            <a:r>
              <a:rPr sz="1400" b="1">
                <a:solidFill>
                  <a:srgbClr val="A82E60"/>
                </a:solidFill>
                <a:latin typeface="Calibri"/>
              </a:rPr>
              <a:t>Cadence adherence</a:t>
            </a:r>
          </a:p>
        </p:txBody>
      </p:sp>
      <p:sp>
        <p:nvSpPr>
          <p:cNvPr id="20" name="TextBox 19"/>
          <p:cNvSpPr txBox="1"/>
          <p:nvPr/>
        </p:nvSpPr>
        <p:spPr>
          <a:xfrm>
            <a:off x="822960" y="5074920"/>
            <a:ext cx="3108960" cy="822960"/>
          </a:xfrm>
          <a:prstGeom prst="rect">
            <a:avLst/>
          </a:prstGeom>
          <a:noFill/>
        </p:spPr>
        <p:txBody>
          <a:bodyPr wrap="square" lIns="0" rIns="0" tIns="0" bIns="0" anchor="t">
            <a:spAutoFit/>
          </a:bodyPr>
          <a:lstStyle/>
          <a:p>
            <a:pPr algn="l"/>
            <a:r>
              <a:rPr sz="1100" b="0">
                <a:solidFill>
                  <a:srgbClr val="8A8485"/>
                </a:solidFill>
                <a:latin typeface="Calibri"/>
              </a:rPr>
              <a:t>% of customers booking on detected cadence</a:t>
            </a:r>
          </a:p>
        </p:txBody>
      </p:sp>
      <p:sp>
        <p:nvSpPr>
          <p:cNvPr id="21" name="TextBox 20"/>
          <p:cNvSpPr txBox="1"/>
          <p:nvPr/>
        </p:nvSpPr>
        <p:spPr>
          <a:xfrm>
            <a:off x="822960" y="5852160"/>
            <a:ext cx="3108960" cy="365760"/>
          </a:xfrm>
          <a:prstGeom prst="rect">
            <a:avLst/>
          </a:prstGeom>
          <a:noFill/>
        </p:spPr>
        <p:txBody>
          <a:bodyPr wrap="square" lIns="0" rIns="0" tIns="0" bIns="0" anchor="t">
            <a:spAutoFit/>
          </a:bodyPr>
          <a:lstStyle/>
          <a:p>
            <a:pPr algn="l"/>
            <a:r>
              <a:rPr sz="1400" b="0">
                <a:solidFill>
                  <a:srgbClr val="1A1A1A"/>
                </a:solidFill>
                <a:latin typeface="Georgia"/>
              </a:rPr>
              <a:t>Target ≥ 60%</a:t>
            </a:r>
          </a:p>
        </p:txBody>
      </p:sp>
      <p:sp>
        <p:nvSpPr>
          <p:cNvPr id="22" name="Rounded Rectangle 21"/>
          <p:cNvSpPr/>
          <p:nvPr/>
        </p:nvSpPr>
        <p:spPr>
          <a:xfrm>
            <a:off x="4297680" y="4480560"/>
            <a:ext cx="36576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4663440"/>
            <a:ext cx="3108960" cy="365760"/>
          </a:xfrm>
          <a:prstGeom prst="rect">
            <a:avLst/>
          </a:prstGeom>
          <a:noFill/>
        </p:spPr>
        <p:txBody>
          <a:bodyPr wrap="square" lIns="0" rIns="0" tIns="0" bIns="0" anchor="t">
            <a:spAutoFit/>
          </a:bodyPr>
          <a:lstStyle/>
          <a:p>
            <a:pPr algn="l"/>
            <a:r>
              <a:rPr sz="1400" b="1">
                <a:solidFill>
                  <a:srgbClr val="A82E60"/>
                </a:solidFill>
                <a:latin typeface="Calibri"/>
              </a:rPr>
              <a:t>Multi-location spread</a:t>
            </a:r>
          </a:p>
        </p:txBody>
      </p:sp>
      <p:sp>
        <p:nvSpPr>
          <p:cNvPr id="24" name="TextBox 23"/>
          <p:cNvSpPr txBox="1"/>
          <p:nvPr/>
        </p:nvSpPr>
        <p:spPr>
          <a:xfrm>
            <a:off x="4572000" y="5074920"/>
            <a:ext cx="3108960" cy="822960"/>
          </a:xfrm>
          <a:prstGeom prst="rect">
            <a:avLst/>
          </a:prstGeom>
          <a:noFill/>
        </p:spPr>
        <p:txBody>
          <a:bodyPr wrap="square" lIns="0" rIns="0" tIns="0" bIns="0" anchor="t">
            <a:spAutoFit/>
          </a:bodyPr>
          <a:lstStyle/>
          <a:p>
            <a:pPr algn="l"/>
            <a:r>
              <a:rPr sz="1100" b="0">
                <a:solidFill>
                  <a:srgbClr val="8A8485"/>
                </a:solidFill>
                <a:latin typeface="Calibri"/>
              </a:rPr>
              <a:t>Avg locations per active customer</a:t>
            </a:r>
          </a:p>
        </p:txBody>
      </p:sp>
      <p:sp>
        <p:nvSpPr>
          <p:cNvPr id="25" name="TextBox 24"/>
          <p:cNvSpPr txBox="1"/>
          <p:nvPr/>
        </p:nvSpPr>
        <p:spPr>
          <a:xfrm>
            <a:off x="4572000" y="5852160"/>
            <a:ext cx="3108960" cy="365760"/>
          </a:xfrm>
          <a:prstGeom prst="rect">
            <a:avLst/>
          </a:prstGeom>
          <a:noFill/>
        </p:spPr>
        <p:txBody>
          <a:bodyPr wrap="square" lIns="0" rIns="0" tIns="0" bIns="0" anchor="t">
            <a:spAutoFit/>
          </a:bodyPr>
          <a:lstStyle/>
          <a:p>
            <a:pPr algn="l"/>
            <a:r>
              <a:rPr sz="1400" b="0">
                <a:solidFill>
                  <a:srgbClr val="1A1A1A"/>
                </a:solidFill>
                <a:latin typeface="Georgia"/>
              </a:rPr>
              <a:t>Target ≥ 1.4 by month 9</a:t>
            </a:r>
          </a:p>
        </p:txBody>
      </p:sp>
      <p:sp>
        <p:nvSpPr>
          <p:cNvPr id="26" name="Rounded Rectangle 25"/>
          <p:cNvSpPr/>
          <p:nvPr/>
        </p:nvSpPr>
        <p:spPr>
          <a:xfrm>
            <a:off x="8046720" y="4480560"/>
            <a:ext cx="36576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4663440"/>
            <a:ext cx="3108960" cy="365760"/>
          </a:xfrm>
          <a:prstGeom prst="rect">
            <a:avLst/>
          </a:prstGeom>
          <a:noFill/>
        </p:spPr>
        <p:txBody>
          <a:bodyPr wrap="square" lIns="0" rIns="0" tIns="0" bIns="0" anchor="t">
            <a:spAutoFit/>
          </a:bodyPr>
          <a:lstStyle/>
          <a:p>
            <a:pPr algn="l"/>
            <a:r>
              <a:rPr sz="1400" b="1">
                <a:solidFill>
                  <a:srgbClr val="A82E60"/>
                </a:solidFill>
                <a:latin typeface="Calibri"/>
              </a:rPr>
              <a:t>Bilingual reach</a:t>
            </a:r>
          </a:p>
        </p:txBody>
      </p:sp>
      <p:sp>
        <p:nvSpPr>
          <p:cNvPr id="28" name="TextBox 27"/>
          <p:cNvSpPr txBox="1"/>
          <p:nvPr/>
        </p:nvSpPr>
        <p:spPr>
          <a:xfrm>
            <a:off x="8321040" y="5074920"/>
            <a:ext cx="3108960" cy="822960"/>
          </a:xfrm>
          <a:prstGeom prst="rect">
            <a:avLst/>
          </a:prstGeom>
          <a:noFill/>
        </p:spPr>
        <p:txBody>
          <a:bodyPr wrap="square" lIns="0" rIns="0" tIns="0" bIns="0" anchor="t">
            <a:spAutoFit/>
          </a:bodyPr>
          <a:lstStyle/>
          <a:p>
            <a:pPr algn="l"/>
            <a:r>
              <a:rPr sz="1100" b="0">
                <a:solidFill>
                  <a:srgbClr val="8A8485"/>
                </a:solidFill>
                <a:latin typeface="Calibri"/>
              </a:rPr>
              <a:t>% of sessions in FR (Quebec)</a:t>
            </a:r>
          </a:p>
        </p:txBody>
      </p:sp>
      <p:sp>
        <p:nvSpPr>
          <p:cNvPr id="29" name="TextBox 28"/>
          <p:cNvSpPr txBox="1"/>
          <p:nvPr/>
        </p:nvSpPr>
        <p:spPr>
          <a:xfrm>
            <a:off x="8321040" y="5852160"/>
            <a:ext cx="3108960" cy="365760"/>
          </a:xfrm>
          <a:prstGeom prst="rect">
            <a:avLst/>
          </a:prstGeom>
          <a:noFill/>
        </p:spPr>
        <p:txBody>
          <a:bodyPr wrap="square" lIns="0" rIns="0" tIns="0" bIns="0" anchor="t">
            <a:spAutoFit/>
          </a:bodyPr>
          <a:lstStyle/>
          <a:p>
            <a:pPr algn="l"/>
            <a:r>
              <a:rPr sz="1400" b="0">
                <a:solidFill>
                  <a:srgbClr val="1A1A1A"/>
                </a:solidFill>
                <a:latin typeface="Georgia"/>
              </a:rPr>
              <a:t>Target ≥ 12% by month 12</a:t>
            </a:r>
          </a:p>
        </p:txBody>
      </p:sp>
      <p:sp>
        <p:nvSpPr>
          <p:cNvPr id="30" name="TextBox 29"/>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31" name="TextBox 30"/>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HOW IT WILL FEEL</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Design principles.</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468880"/>
            <a:ext cx="5486400" cy="128016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651760"/>
            <a:ext cx="4937760" cy="365760"/>
          </a:xfrm>
          <a:prstGeom prst="rect">
            <a:avLst/>
          </a:prstGeom>
          <a:noFill/>
        </p:spPr>
        <p:txBody>
          <a:bodyPr wrap="square" lIns="0" rIns="0" tIns="0" bIns="0" anchor="t">
            <a:spAutoFit/>
          </a:bodyPr>
          <a:lstStyle/>
          <a:p>
            <a:pPr algn="l"/>
            <a:r>
              <a:rPr sz="1400" b="1">
                <a:solidFill>
                  <a:srgbClr val="A82E60"/>
                </a:solidFill>
                <a:latin typeface="Calibri"/>
              </a:rPr>
              <a:t>Booking is the product</a:t>
            </a:r>
          </a:p>
        </p:txBody>
      </p:sp>
      <p:sp>
        <p:nvSpPr>
          <p:cNvPr id="8" name="TextBox 7"/>
          <p:cNvSpPr txBox="1"/>
          <p:nvPr/>
        </p:nvSpPr>
        <p:spPr>
          <a:xfrm>
            <a:off x="822960" y="3063240"/>
            <a:ext cx="4937760" cy="914400"/>
          </a:xfrm>
          <a:prstGeom prst="rect">
            <a:avLst/>
          </a:prstGeom>
          <a:noFill/>
        </p:spPr>
        <p:txBody>
          <a:bodyPr wrap="square" lIns="0" rIns="0" tIns="0" bIns="0" anchor="t">
            <a:spAutoFit/>
          </a:bodyPr>
          <a:lstStyle/>
          <a:p>
            <a:pPr algn="l"/>
            <a:r>
              <a:rPr sz="1100" b="0">
                <a:solidFill>
                  <a:srgbClr val="8A8485"/>
                </a:solidFill>
                <a:latin typeface="Calibri"/>
              </a:rPr>
              <a:t>Make it the fastest one in the category. One-tap re-book is the win.</a:t>
            </a:r>
          </a:p>
        </p:txBody>
      </p:sp>
      <p:sp>
        <p:nvSpPr>
          <p:cNvPr id="9" name="Rounded Rectangle 8"/>
          <p:cNvSpPr/>
          <p:nvPr/>
        </p:nvSpPr>
        <p:spPr>
          <a:xfrm>
            <a:off x="6172200" y="2468880"/>
            <a:ext cx="5486400" cy="128016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651760"/>
            <a:ext cx="4937760" cy="365760"/>
          </a:xfrm>
          <a:prstGeom prst="rect">
            <a:avLst/>
          </a:prstGeom>
          <a:noFill/>
        </p:spPr>
        <p:txBody>
          <a:bodyPr wrap="square" lIns="0" rIns="0" tIns="0" bIns="0" anchor="t">
            <a:spAutoFit/>
          </a:bodyPr>
          <a:lstStyle/>
          <a:p>
            <a:pPr algn="l"/>
            <a:r>
              <a:rPr sz="1400" b="1">
                <a:solidFill>
                  <a:srgbClr val="A82E60"/>
                </a:solidFill>
                <a:latin typeface="Calibri"/>
              </a:rPr>
              <a:t>Cadence over urgency</a:t>
            </a:r>
          </a:p>
        </p:txBody>
      </p:sp>
      <p:sp>
        <p:nvSpPr>
          <p:cNvPr id="11" name="TextBox 10"/>
          <p:cNvSpPr txBox="1"/>
          <p:nvPr/>
        </p:nvSpPr>
        <p:spPr>
          <a:xfrm>
            <a:off x="6446520" y="3063240"/>
            <a:ext cx="4937760" cy="914400"/>
          </a:xfrm>
          <a:prstGeom prst="rect">
            <a:avLst/>
          </a:prstGeom>
          <a:noFill/>
        </p:spPr>
        <p:txBody>
          <a:bodyPr wrap="square" lIns="0" rIns="0" tIns="0" bIns="0" anchor="t">
            <a:spAutoFit/>
          </a:bodyPr>
          <a:lstStyle/>
          <a:p>
            <a:pPr algn="l"/>
            <a:r>
              <a:rPr sz="1100" b="0">
                <a:solidFill>
                  <a:srgbClr val="8A8485"/>
                </a:solidFill>
                <a:latin typeface="Calibri"/>
              </a:rPr>
              <a:t>"Your wax is due" is calm. No fake urgency, no countdown timers.</a:t>
            </a:r>
          </a:p>
        </p:txBody>
      </p:sp>
      <p:sp>
        <p:nvSpPr>
          <p:cNvPr id="12" name="Rounded Rectangle 11"/>
          <p:cNvSpPr/>
          <p:nvPr/>
        </p:nvSpPr>
        <p:spPr>
          <a:xfrm>
            <a:off x="548640" y="3886200"/>
            <a:ext cx="5486400" cy="128016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69080"/>
            <a:ext cx="4937760" cy="365760"/>
          </a:xfrm>
          <a:prstGeom prst="rect">
            <a:avLst/>
          </a:prstGeom>
          <a:noFill/>
        </p:spPr>
        <p:txBody>
          <a:bodyPr wrap="square" lIns="0" rIns="0" tIns="0" bIns="0" anchor="t">
            <a:spAutoFit/>
          </a:bodyPr>
          <a:lstStyle/>
          <a:p>
            <a:pPr algn="l"/>
            <a:r>
              <a:rPr sz="1400" b="1">
                <a:solidFill>
                  <a:srgbClr val="A82E60"/>
                </a:solidFill>
                <a:latin typeface="Calibri"/>
              </a:rPr>
              <a:t>Sensitive flags route to humans</a:t>
            </a:r>
          </a:p>
        </p:txBody>
      </p:sp>
      <p:sp>
        <p:nvSpPr>
          <p:cNvPr id="14" name="TextBox 13"/>
          <p:cNvSpPr txBox="1"/>
          <p:nvPr/>
        </p:nvSpPr>
        <p:spPr>
          <a:xfrm>
            <a:off x="822960" y="4480560"/>
            <a:ext cx="4937760" cy="914400"/>
          </a:xfrm>
          <a:prstGeom prst="rect">
            <a:avLst/>
          </a:prstGeom>
          <a:noFill/>
        </p:spPr>
        <p:txBody>
          <a:bodyPr wrap="square" lIns="0" rIns="0" tIns="0" bIns="0" anchor="t">
            <a:spAutoFit/>
          </a:bodyPr>
          <a:lstStyle/>
          <a:p>
            <a:pPr algn="l"/>
            <a:r>
              <a:rPr sz="1100" b="0">
                <a:solidFill>
                  <a:srgbClr val="8A8485"/>
                </a:solidFill>
                <a:latin typeface="Calibri"/>
              </a:rPr>
              <a:t>Skin reactivity, pregnancy, meds → technician. Never marketing AI.</a:t>
            </a:r>
          </a:p>
        </p:txBody>
      </p:sp>
      <p:sp>
        <p:nvSpPr>
          <p:cNvPr id="15" name="Rounded Rectangle 14"/>
          <p:cNvSpPr/>
          <p:nvPr/>
        </p:nvSpPr>
        <p:spPr>
          <a:xfrm>
            <a:off x="6172200" y="3886200"/>
            <a:ext cx="5486400" cy="128016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69080"/>
            <a:ext cx="4937760" cy="365760"/>
          </a:xfrm>
          <a:prstGeom prst="rect">
            <a:avLst/>
          </a:prstGeom>
          <a:noFill/>
        </p:spPr>
        <p:txBody>
          <a:bodyPr wrap="square" lIns="0" rIns="0" tIns="0" bIns="0" anchor="t">
            <a:spAutoFit/>
          </a:bodyPr>
          <a:lstStyle/>
          <a:p>
            <a:pPr algn="l"/>
            <a:r>
              <a:rPr sz="1400" b="1">
                <a:solidFill>
                  <a:srgbClr val="A82E60"/>
                </a:solidFill>
                <a:latin typeface="Calibri"/>
              </a:rPr>
              <a:t>Multi-location is one brand</a:t>
            </a:r>
          </a:p>
        </p:txBody>
      </p:sp>
      <p:sp>
        <p:nvSpPr>
          <p:cNvPr id="17" name="TextBox 16"/>
          <p:cNvSpPr txBox="1"/>
          <p:nvPr/>
        </p:nvSpPr>
        <p:spPr>
          <a:xfrm>
            <a:off x="6446520" y="4480560"/>
            <a:ext cx="4937760" cy="914400"/>
          </a:xfrm>
          <a:prstGeom prst="rect">
            <a:avLst/>
          </a:prstGeom>
          <a:noFill/>
        </p:spPr>
        <p:txBody>
          <a:bodyPr wrap="square" lIns="0" rIns="0" tIns="0" bIns="0" anchor="t">
            <a:spAutoFit/>
          </a:bodyPr>
          <a:lstStyle/>
          <a:p>
            <a:pPr algn="l"/>
            <a:r>
              <a:rPr sz="1100" b="0">
                <a:solidFill>
                  <a:srgbClr val="8A8485"/>
                </a:solidFill>
                <a:latin typeface="Calibri"/>
              </a:rPr>
              <a:t>Em moves between Leslieville and Yorkville without re-onboarding.</a:t>
            </a:r>
          </a:p>
        </p:txBody>
      </p:sp>
      <p:sp>
        <p:nvSpPr>
          <p:cNvPr id="18" name="Rounded Rectangle 17"/>
          <p:cNvSpPr/>
          <p:nvPr/>
        </p:nvSpPr>
        <p:spPr>
          <a:xfrm>
            <a:off x="548640" y="5303520"/>
            <a:ext cx="5486400" cy="128016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486400"/>
            <a:ext cx="4937760" cy="365760"/>
          </a:xfrm>
          <a:prstGeom prst="rect">
            <a:avLst/>
          </a:prstGeom>
          <a:noFill/>
        </p:spPr>
        <p:txBody>
          <a:bodyPr wrap="square" lIns="0" rIns="0" tIns="0" bIns="0" anchor="t">
            <a:spAutoFit/>
          </a:bodyPr>
          <a:lstStyle/>
          <a:p>
            <a:pPr algn="l"/>
            <a:r>
              <a:rPr sz="1400" b="1">
                <a:solidFill>
                  <a:srgbClr val="A82E60"/>
                </a:solidFill>
                <a:latin typeface="Calibri"/>
              </a:rPr>
              <a:t>Recognition over discount</a:t>
            </a:r>
          </a:p>
        </p:txBody>
      </p:sp>
      <p:sp>
        <p:nvSpPr>
          <p:cNvPr id="20" name="TextBox 19"/>
          <p:cNvSpPr txBox="1"/>
          <p:nvPr/>
        </p:nvSpPr>
        <p:spPr>
          <a:xfrm>
            <a:off x="822960" y="5897880"/>
            <a:ext cx="4937760" cy="914400"/>
          </a:xfrm>
          <a:prstGeom prst="rect">
            <a:avLst/>
          </a:prstGeom>
          <a:noFill/>
        </p:spPr>
        <p:txBody>
          <a:bodyPr wrap="square" lIns="0" rIns="0" tIns="0" bIns="0" anchor="t">
            <a:spAutoFit/>
          </a:bodyPr>
          <a:lstStyle/>
          <a:p>
            <a:pPr algn="l"/>
            <a:r>
              <a:rPr sz="1100" b="0">
                <a:solidFill>
                  <a:srgbClr val="8A8485"/>
                </a:solidFill>
                <a:latin typeface="Calibri"/>
              </a:rPr>
              <a:t>Spotted rewards visits, reviews, referrals. Not new-customer bribes.</a:t>
            </a:r>
          </a:p>
        </p:txBody>
      </p:sp>
      <p:sp>
        <p:nvSpPr>
          <p:cNvPr id="21" name="Rounded Rectangle 20"/>
          <p:cNvSpPr/>
          <p:nvPr/>
        </p:nvSpPr>
        <p:spPr>
          <a:xfrm>
            <a:off x="6172200" y="5303520"/>
            <a:ext cx="5486400" cy="128016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5486400"/>
            <a:ext cx="4937760" cy="365760"/>
          </a:xfrm>
          <a:prstGeom prst="rect">
            <a:avLst/>
          </a:prstGeom>
          <a:noFill/>
        </p:spPr>
        <p:txBody>
          <a:bodyPr wrap="square" lIns="0" rIns="0" tIns="0" bIns="0" anchor="t">
            <a:spAutoFit/>
          </a:bodyPr>
          <a:lstStyle/>
          <a:p>
            <a:pPr algn="l"/>
            <a:r>
              <a:rPr sz="1400" b="1">
                <a:solidFill>
                  <a:srgbClr val="A82E60"/>
                </a:solidFill>
                <a:latin typeface="Calibri"/>
              </a:rPr>
              <a:t>Cosmetic, never medical</a:t>
            </a:r>
          </a:p>
        </p:txBody>
      </p:sp>
      <p:sp>
        <p:nvSpPr>
          <p:cNvPr id="23" name="TextBox 22"/>
          <p:cNvSpPr txBox="1"/>
          <p:nvPr/>
        </p:nvSpPr>
        <p:spPr>
          <a:xfrm>
            <a:off x="6446520" y="5897880"/>
            <a:ext cx="4937760" cy="914400"/>
          </a:xfrm>
          <a:prstGeom prst="rect">
            <a:avLst/>
          </a:prstGeom>
          <a:noFill/>
        </p:spPr>
        <p:txBody>
          <a:bodyPr wrap="square" lIns="0" rIns="0" tIns="0" bIns="0" anchor="t">
            <a:spAutoFit/>
          </a:bodyPr>
          <a:lstStyle/>
          <a:p>
            <a:pPr algn="l"/>
            <a:r>
              <a:rPr sz="1100" b="0">
                <a:solidFill>
                  <a:srgbClr val="8A8485"/>
                </a:solidFill>
                <a:latin typeface="Calibri"/>
              </a:rPr>
              <a:t>Laser is cosmetic. AI never diagnoses skin conditions.</a:t>
            </a:r>
          </a:p>
        </p:txBody>
      </p:sp>
      <p:sp>
        <p:nvSpPr>
          <p:cNvPr id="24" name="TextBox 23"/>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25" name="TextBox 24"/>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WORKING TOGETHER</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How we'd partner.</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54864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60320"/>
            <a:ext cx="4937760" cy="457200"/>
          </a:xfrm>
          <a:prstGeom prst="rect">
            <a:avLst/>
          </a:prstGeom>
          <a:noFill/>
        </p:spPr>
        <p:txBody>
          <a:bodyPr wrap="square" lIns="0" rIns="0" tIns="0" bIns="0" anchor="t">
            <a:spAutoFit/>
          </a:bodyPr>
          <a:lstStyle/>
          <a:p>
            <a:pPr algn="l"/>
            <a:r>
              <a:rPr sz="2000" b="0">
                <a:solidFill>
                  <a:srgbClr val="A82E60"/>
                </a:solidFill>
                <a:latin typeface="Georgia"/>
              </a:rPr>
              <a:t>Discovery sprint</a:t>
            </a:r>
          </a:p>
        </p:txBody>
      </p:sp>
      <p:sp>
        <p:nvSpPr>
          <p:cNvPr id="8" name="TextBox 7"/>
          <p:cNvSpPr txBox="1"/>
          <p:nvPr/>
        </p:nvSpPr>
        <p:spPr>
          <a:xfrm>
            <a:off x="822960" y="3154680"/>
            <a:ext cx="4937760" cy="1005840"/>
          </a:xfrm>
          <a:prstGeom prst="rect">
            <a:avLst/>
          </a:prstGeom>
          <a:noFill/>
        </p:spPr>
        <p:txBody>
          <a:bodyPr wrap="square" lIns="0" rIns="0" tIns="0" bIns="0" anchor="t">
            <a:spAutoFit/>
          </a:bodyPr>
          <a:lstStyle/>
          <a:p>
            <a:pPr algn="l"/>
            <a:r>
              <a:rPr sz="1200" b="0">
                <a:solidFill>
                  <a:srgbClr val="8A8485"/>
                </a:solidFill>
                <a:latin typeface="Calibri"/>
              </a:rPr>
              <a:t>Two weeks. Customer + franchise-owner + corporate ops interviews. Audit existing booking system. Walk away with a signed Phase 1 spec.</a:t>
            </a:r>
          </a:p>
        </p:txBody>
      </p:sp>
      <p:sp>
        <p:nvSpPr>
          <p:cNvPr id="9" name="Rounded Rectangle 8"/>
          <p:cNvSpPr/>
          <p:nvPr/>
        </p:nvSpPr>
        <p:spPr>
          <a:xfrm>
            <a:off x="6172200" y="2286000"/>
            <a:ext cx="54864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60320"/>
            <a:ext cx="4937760" cy="457200"/>
          </a:xfrm>
          <a:prstGeom prst="rect">
            <a:avLst/>
          </a:prstGeom>
          <a:noFill/>
        </p:spPr>
        <p:txBody>
          <a:bodyPr wrap="square" lIns="0" rIns="0" tIns="0" bIns="0" anchor="t">
            <a:spAutoFit/>
          </a:bodyPr>
          <a:lstStyle/>
          <a:p>
            <a:pPr algn="l"/>
            <a:r>
              <a:rPr sz="2000" b="0">
                <a:solidFill>
                  <a:srgbClr val="A82E60"/>
                </a:solidFill>
                <a:latin typeface="Georgia"/>
              </a:rPr>
              <a:t>Embedded delivery</a:t>
            </a:r>
          </a:p>
        </p:txBody>
      </p:sp>
      <p:sp>
        <p:nvSpPr>
          <p:cNvPr id="11" name="TextBox 10"/>
          <p:cNvSpPr txBox="1"/>
          <p:nvPr/>
        </p:nvSpPr>
        <p:spPr>
          <a:xfrm>
            <a:off x="6446520" y="3154680"/>
            <a:ext cx="4937760" cy="1005840"/>
          </a:xfrm>
          <a:prstGeom prst="rect">
            <a:avLst/>
          </a:prstGeom>
          <a:noFill/>
        </p:spPr>
        <p:txBody>
          <a:bodyPr wrap="square" lIns="0" rIns="0" tIns="0" bIns="0" anchor="t">
            <a:spAutoFit/>
          </a:bodyPr>
          <a:lstStyle/>
          <a:p>
            <a:pPr algn="l"/>
            <a:r>
              <a:rPr sz="1200" b="0">
                <a:solidFill>
                  <a:srgbClr val="8A8485"/>
                </a:solidFill>
                <a:latin typeface="Calibri"/>
              </a:rPr>
              <a:t>A small team — lead engineer, mobile engineer, designer, bilingual QA — works as an extension of yours. Weekly demos.</a:t>
            </a:r>
          </a:p>
        </p:txBody>
      </p:sp>
      <p:sp>
        <p:nvSpPr>
          <p:cNvPr id="12" name="Rounded Rectangle 11"/>
          <p:cNvSpPr/>
          <p:nvPr/>
        </p:nvSpPr>
        <p:spPr>
          <a:xfrm>
            <a:off x="548640" y="4251960"/>
            <a:ext cx="54864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4937760" cy="457200"/>
          </a:xfrm>
          <a:prstGeom prst="rect">
            <a:avLst/>
          </a:prstGeom>
          <a:noFill/>
        </p:spPr>
        <p:txBody>
          <a:bodyPr wrap="square" lIns="0" rIns="0" tIns="0" bIns="0" anchor="t">
            <a:spAutoFit/>
          </a:bodyPr>
          <a:lstStyle/>
          <a:p>
            <a:pPr algn="l"/>
            <a:r>
              <a:rPr sz="2000" b="0">
                <a:solidFill>
                  <a:srgbClr val="A82E60"/>
                </a:solidFill>
                <a:latin typeface="Georgia"/>
              </a:rPr>
              <a:t>Booking-system integration scoped separately</a:t>
            </a:r>
          </a:p>
        </p:txBody>
      </p:sp>
      <p:sp>
        <p:nvSpPr>
          <p:cNvPr id="14" name="TextBox 13"/>
          <p:cNvSpPr txBox="1"/>
          <p:nvPr/>
        </p:nvSpPr>
        <p:spPr>
          <a:xfrm>
            <a:off x="822960" y="5120640"/>
            <a:ext cx="4937760" cy="1005840"/>
          </a:xfrm>
          <a:prstGeom prst="rect">
            <a:avLst/>
          </a:prstGeom>
          <a:noFill/>
        </p:spPr>
        <p:txBody>
          <a:bodyPr wrap="square" lIns="0" rIns="0" tIns="0" bIns="0" anchor="t">
            <a:spAutoFit/>
          </a:bodyPr>
          <a:lstStyle/>
          <a:p>
            <a:pPr algn="l"/>
            <a:r>
              <a:rPr sz="1200" b="0">
                <a:solidFill>
                  <a:srgbClr val="8A8485"/>
                </a:solidFill>
                <a:latin typeface="Calibri"/>
              </a:rPr>
              <a:t>Booker / Mindbody / current-system migration is its own project — typically 4-8 weeks of additional work.</a:t>
            </a:r>
          </a:p>
        </p:txBody>
      </p:sp>
      <p:sp>
        <p:nvSpPr>
          <p:cNvPr id="15" name="Rounded Rectangle 14"/>
          <p:cNvSpPr/>
          <p:nvPr/>
        </p:nvSpPr>
        <p:spPr>
          <a:xfrm>
            <a:off x="6172200" y="4251960"/>
            <a:ext cx="5486400" cy="1828800"/>
          </a:xfrm>
          <a:prstGeom prst="roundRect">
            <a:avLst>
              <a:gd name="adj" fmla="val 12000"/>
            </a:avLst>
          </a:prstGeom>
          <a:solidFill>
            <a:srgbClr val="FFFFFF"/>
          </a:solidFill>
          <a:ln w="9525">
            <a:solidFill>
              <a:srgbClr val="EBD9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526280"/>
            <a:ext cx="4937760" cy="457200"/>
          </a:xfrm>
          <a:prstGeom prst="rect">
            <a:avLst/>
          </a:prstGeom>
          <a:noFill/>
        </p:spPr>
        <p:txBody>
          <a:bodyPr wrap="square" lIns="0" rIns="0" tIns="0" bIns="0" anchor="t">
            <a:spAutoFit/>
          </a:bodyPr>
          <a:lstStyle/>
          <a:p>
            <a:pPr algn="l"/>
            <a:r>
              <a:rPr sz="2000" b="0">
                <a:solidFill>
                  <a:srgbClr val="A82E60"/>
                </a:solidFill>
                <a:latin typeface="Georgia"/>
              </a:rPr>
              <a:t>Always your data</a:t>
            </a:r>
          </a:p>
        </p:txBody>
      </p:sp>
      <p:sp>
        <p:nvSpPr>
          <p:cNvPr id="17" name="TextBox 16"/>
          <p:cNvSpPr txBox="1"/>
          <p:nvPr/>
        </p:nvSpPr>
        <p:spPr>
          <a:xfrm>
            <a:off x="6446520" y="5120640"/>
            <a:ext cx="4937760" cy="1005840"/>
          </a:xfrm>
          <a:prstGeom prst="rect">
            <a:avLst/>
          </a:prstGeom>
          <a:noFill/>
        </p:spPr>
        <p:txBody>
          <a:bodyPr wrap="square" lIns="0" rIns="0" tIns="0" bIns="0" anchor="t">
            <a:spAutoFit/>
          </a:bodyPr>
          <a:lstStyle/>
          <a:p>
            <a:pPr algn="l"/>
            <a:r>
              <a:rPr sz="1200" b="0">
                <a:solidFill>
                  <a:srgbClr val="8A8485"/>
                </a:solidFill>
                <a:latin typeface="Calibri"/>
              </a:rPr>
              <a:t>Source code, customer data, AI logs, multi-location calendar all live in your accounts.</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A82E60"/>
                </a:solidFill>
                <a:latin typeface="Calibri"/>
              </a:rPr>
              <a:t>WHY THIS WORKS FOR THE TEN SPOT</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1A1A1A"/>
                </a:solidFill>
                <a:latin typeface="Georgia"/>
              </a:rPr>
              <a:t>The bet behind the build.</a:t>
            </a:r>
          </a:p>
        </p:txBody>
      </p:sp>
      <p:sp>
        <p:nvSpPr>
          <p:cNvPr id="5" name="Rectangle 4"/>
          <p:cNvSpPr/>
          <p:nvPr/>
        </p:nvSpPr>
        <p:spPr>
          <a:xfrm>
            <a:off x="548640" y="1691640"/>
            <a:ext cx="640080" cy="25400"/>
          </a:xfrm>
          <a:prstGeom prst="rect">
            <a:avLst/>
          </a:prstGeom>
          <a:solidFill>
            <a:srgbClr val="E8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286000"/>
            <a:ext cx="73152" cy="868680"/>
          </a:xfrm>
          <a:prstGeom prst="rect">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31720"/>
            <a:ext cx="10515600" cy="365760"/>
          </a:xfrm>
          <a:prstGeom prst="rect">
            <a:avLst/>
          </a:prstGeom>
          <a:noFill/>
        </p:spPr>
        <p:txBody>
          <a:bodyPr wrap="square" lIns="0" rIns="0" tIns="0" bIns="0" anchor="t">
            <a:spAutoFit/>
          </a:bodyPr>
          <a:lstStyle/>
          <a:p>
            <a:pPr algn="l"/>
            <a:r>
              <a:rPr sz="2000" b="0">
                <a:solidFill>
                  <a:srgbClr val="1A1A1A"/>
                </a:solidFill>
                <a:latin typeface="Georgia"/>
              </a:rPr>
              <a:t>Multi-location is your moat</a:t>
            </a:r>
          </a:p>
        </p:txBody>
      </p:sp>
      <p:sp>
        <p:nvSpPr>
          <p:cNvPr id="8" name="TextBox 7"/>
          <p:cNvSpPr txBox="1"/>
          <p:nvPr/>
        </p:nvSpPr>
        <p:spPr>
          <a:xfrm>
            <a:off x="868680" y="2788920"/>
            <a:ext cx="10515600" cy="365760"/>
          </a:xfrm>
          <a:prstGeom prst="rect">
            <a:avLst/>
          </a:prstGeom>
          <a:noFill/>
        </p:spPr>
        <p:txBody>
          <a:bodyPr wrap="square" lIns="0" rIns="0" tIns="0" bIns="0" anchor="t">
            <a:spAutoFit/>
          </a:bodyPr>
          <a:lstStyle/>
          <a:p>
            <a:pPr algn="l"/>
            <a:r>
              <a:rPr sz="1200" b="0">
                <a:solidFill>
                  <a:srgbClr val="8A8485"/>
                </a:solidFill>
                <a:latin typeface="Calibri"/>
              </a:rPr>
              <a:t>33+ locations is the largest in the category. The app makes them feel like one brand to the customer — competitors with 5–10 locations can't match.</a:t>
            </a:r>
          </a:p>
        </p:txBody>
      </p:sp>
      <p:sp>
        <p:nvSpPr>
          <p:cNvPr id="9" name="Rectangle 8"/>
          <p:cNvSpPr/>
          <p:nvPr/>
        </p:nvSpPr>
        <p:spPr>
          <a:xfrm>
            <a:off x="548640" y="3246120"/>
            <a:ext cx="73152" cy="868680"/>
          </a:xfrm>
          <a:prstGeom prst="rect">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91840"/>
            <a:ext cx="10515600" cy="365760"/>
          </a:xfrm>
          <a:prstGeom prst="rect">
            <a:avLst/>
          </a:prstGeom>
          <a:noFill/>
        </p:spPr>
        <p:txBody>
          <a:bodyPr wrap="square" lIns="0" rIns="0" tIns="0" bIns="0" anchor="t">
            <a:spAutoFit/>
          </a:bodyPr>
          <a:lstStyle/>
          <a:p>
            <a:pPr algn="l"/>
            <a:r>
              <a:rPr sz="2000" b="0">
                <a:solidFill>
                  <a:srgbClr val="1A1A1A"/>
                </a:solidFill>
                <a:latin typeface="Georgia"/>
              </a:rPr>
              <a:t>Recurring is your LTV</a:t>
            </a:r>
          </a:p>
        </p:txBody>
      </p:sp>
      <p:sp>
        <p:nvSpPr>
          <p:cNvPr id="11" name="TextBox 10"/>
          <p:cNvSpPr txBox="1"/>
          <p:nvPr/>
        </p:nvSpPr>
        <p:spPr>
          <a:xfrm>
            <a:off x="868680" y="3749040"/>
            <a:ext cx="10515600" cy="365760"/>
          </a:xfrm>
          <a:prstGeom prst="rect">
            <a:avLst/>
          </a:prstGeom>
          <a:noFill/>
        </p:spPr>
        <p:txBody>
          <a:bodyPr wrap="square" lIns="0" rIns="0" tIns="0" bIns="0" anchor="t">
            <a:spAutoFit/>
          </a:bodyPr>
          <a:lstStyle/>
          <a:p>
            <a:pPr algn="l"/>
            <a:r>
              <a:rPr sz="1200" b="0">
                <a:solidFill>
                  <a:srgbClr val="8A8485"/>
                </a:solidFill>
                <a:latin typeface="Calibri"/>
              </a:rPr>
              <a:t>A wax customer at 4-week cadence = 13 visits/year. The Calendar's cadence detection lifts that by 1–2 visits per customer per year. Real money.</a:t>
            </a:r>
          </a:p>
        </p:txBody>
      </p:sp>
      <p:sp>
        <p:nvSpPr>
          <p:cNvPr id="12" name="Rectangle 11"/>
          <p:cNvSpPr/>
          <p:nvPr/>
        </p:nvSpPr>
        <p:spPr>
          <a:xfrm>
            <a:off x="548640" y="4206240"/>
            <a:ext cx="73152" cy="868680"/>
          </a:xfrm>
          <a:prstGeom prst="rect">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251960"/>
            <a:ext cx="10515600" cy="365760"/>
          </a:xfrm>
          <a:prstGeom prst="rect">
            <a:avLst/>
          </a:prstGeom>
          <a:noFill/>
        </p:spPr>
        <p:txBody>
          <a:bodyPr wrap="square" lIns="0" rIns="0" tIns="0" bIns="0" anchor="t">
            <a:spAutoFit/>
          </a:bodyPr>
          <a:lstStyle/>
          <a:p>
            <a:pPr algn="l"/>
            <a:r>
              <a:rPr sz="2000" b="0">
                <a:solidFill>
                  <a:srgbClr val="1A1A1A"/>
                </a:solidFill>
                <a:latin typeface="Georgia"/>
              </a:rPr>
              <a:t>Self-service booking saves franchise hours</a:t>
            </a:r>
          </a:p>
        </p:txBody>
      </p:sp>
      <p:sp>
        <p:nvSpPr>
          <p:cNvPr id="14" name="TextBox 13"/>
          <p:cNvSpPr txBox="1"/>
          <p:nvPr/>
        </p:nvSpPr>
        <p:spPr>
          <a:xfrm>
            <a:off x="868680" y="4709160"/>
            <a:ext cx="10515600" cy="365760"/>
          </a:xfrm>
          <a:prstGeom prst="rect">
            <a:avLst/>
          </a:prstGeom>
          <a:noFill/>
        </p:spPr>
        <p:txBody>
          <a:bodyPr wrap="square" lIns="0" rIns="0" tIns="0" bIns="0" anchor="t">
            <a:spAutoFit/>
          </a:bodyPr>
          <a:lstStyle/>
          <a:p>
            <a:pPr algn="l"/>
            <a:r>
              <a:rPr sz="1200" b="0">
                <a:solidFill>
                  <a:srgbClr val="8A8485"/>
                </a:solidFill>
                <a:latin typeface="Calibri"/>
              </a:rPr>
              <a:t>10–15 hours/week of phone-bound staff time per location × 33 locations = serious operational savings.</a:t>
            </a:r>
          </a:p>
        </p:txBody>
      </p:sp>
      <p:sp>
        <p:nvSpPr>
          <p:cNvPr id="15" name="Rectangle 14"/>
          <p:cNvSpPr/>
          <p:nvPr/>
        </p:nvSpPr>
        <p:spPr>
          <a:xfrm>
            <a:off x="548640" y="5166360"/>
            <a:ext cx="73152" cy="868680"/>
          </a:xfrm>
          <a:prstGeom prst="rect">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212080"/>
            <a:ext cx="10515600" cy="365760"/>
          </a:xfrm>
          <a:prstGeom prst="rect">
            <a:avLst/>
          </a:prstGeom>
          <a:noFill/>
        </p:spPr>
        <p:txBody>
          <a:bodyPr wrap="square" lIns="0" rIns="0" tIns="0" bIns="0" anchor="t">
            <a:spAutoFit/>
          </a:bodyPr>
          <a:lstStyle/>
          <a:p>
            <a:pPr algn="l"/>
            <a:r>
              <a:rPr sz="2000" b="0">
                <a:solidFill>
                  <a:srgbClr val="1A1A1A"/>
                </a:solidFill>
                <a:latin typeface="Georgia"/>
              </a:rPr>
              <a:t>AI in service of trust, not body data</a:t>
            </a:r>
          </a:p>
        </p:txBody>
      </p:sp>
      <p:sp>
        <p:nvSpPr>
          <p:cNvPr id="17" name="TextBox 16"/>
          <p:cNvSpPr txBox="1"/>
          <p:nvPr/>
        </p:nvSpPr>
        <p:spPr>
          <a:xfrm>
            <a:off x="868680" y="5669280"/>
            <a:ext cx="10515600" cy="365760"/>
          </a:xfrm>
          <a:prstGeom prst="rect">
            <a:avLst/>
          </a:prstGeom>
          <a:noFill/>
        </p:spPr>
        <p:txBody>
          <a:bodyPr wrap="square" lIns="0" rIns="0" tIns="0" bIns="0" anchor="t">
            <a:spAutoFit/>
          </a:bodyPr>
          <a:lstStyle/>
          <a:p>
            <a:pPr algn="l"/>
            <a:r>
              <a:rPr sz="1200" b="0">
                <a:solidFill>
                  <a:srgbClr val="8A8485"/>
                </a:solidFill>
                <a:latin typeface="Calibri"/>
              </a:rPr>
              <a:t>We use AI to book, prep, route. Never to diagnose skin or push services. The brand's reputation is safer for the building.</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A8485"/>
                </a:solidFill>
                <a:latin typeface="Calibri"/>
              </a:rPr>
              <a:t>The Ten Spot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A8485"/>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228600"/>
          </a:xfrm>
          <a:prstGeom prst="rect">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875520" y="1097280"/>
            <a:ext cx="365760" cy="365760"/>
          </a:xfrm>
          <a:prstGeom prst="ellipse">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10544" y="2615184"/>
            <a:ext cx="256032" cy="256032"/>
          </a:xfrm>
          <a:prstGeom prst="ellipse">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08592" y="3639312"/>
            <a:ext cx="402336" cy="402336"/>
          </a:xfrm>
          <a:prstGeom prst="ellipse">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26496" y="4974336"/>
            <a:ext cx="292608" cy="292608"/>
          </a:xfrm>
          <a:prstGeom prst="ellipse">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31552" y="5742432"/>
            <a:ext cx="219456" cy="219456"/>
          </a:xfrm>
          <a:prstGeom prst="ellipse">
            <a:avLst/>
          </a:prstGeom>
          <a:solidFill>
            <a:srgbClr val="E8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
            <a:ext cx="7315200" cy="274320"/>
          </a:xfrm>
          <a:prstGeom prst="rect">
            <a:avLst/>
          </a:prstGeom>
          <a:noFill/>
        </p:spPr>
        <p:txBody>
          <a:bodyPr wrap="square" lIns="0" rIns="0" tIns="0" bIns="0" anchor="t">
            <a:spAutoFit/>
          </a:bodyPr>
          <a:lstStyle/>
          <a:p>
            <a:pPr algn="l"/>
            <a:r>
              <a:rPr sz="1100" b="1">
                <a:solidFill>
                  <a:srgbClr val="E85A8C"/>
                </a:solidFill>
                <a:latin typeface="Calibri"/>
              </a:rPr>
              <a:t>NEXT STEP</a:t>
            </a:r>
          </a:p>
        </p:txBody>
      </p:sp>
      <p:sp>
        <p:nvSpPr>
          <p:cNvPr id="11" name="TextBox 10"/>
          <p:cNvSpPr txBox="1"/>
          <p:nvPr/>
        </p:nvSpPr>
        <p:spPr>
          <a:xfrm>
            <a:off x="548640" y="1005840"/>
            <a:ext cx="10058400" cy="1828800"/>
          </a:xfrm>
          <a:prstGeom prst="rect">
            <a:avLst/>
          </a:prstGeom>
          <a:noFill/>
        </p:spPr>
        <p:txBody>
          <a:bodyPr wrap="square" lIns="0" rIns="0" tIns="0" bIns="0" anchor="t">
            <a:spAutoFit/>
          </a:bodyPr>
          <a:lstStyle/>
          <a:p>
            <a:pPr algn="l"/>
            <a:r>
              <a:rPr sz="5400" b="0">
                <a:solidFill>
                  <a:srgbClr val="FFFFFF"/>
                </a:solidFill>
                <a:latin typeface="Georgia"/>
              </a:rPr>
              <a:t>A two-week paid discovery.</a:t>
            </a:r>
          </a:p>
        </p:txBody>
      </p:sp>
      <p:sp>
        <p:nvSpPr>
          <p:cNvPr id="12" name="TextBox 11"/>
          <p:cNvSpPr txBox="1"/>
          <p:nvPr/>
        </p:nvSpPr>
        <p:spPr>
          <a:xfrm>
            <a:off x="548640" y="2468880"/>
            <a:ext cx="9601200" cy="1828800"/>
          </a:xfrm>
          <a:prstGeom prst="rect">
            <a:avLst/>
          </a:prstGeom>
          <a:noFill/>
        </p:spPr>
        <p:txBody>
          <a:bodyPr wrap="square" lIns="0" rIns="0" tIns="0" bIns="0" anchor="t">
            <a:spAutoFit/>
          </a:bodyPr>
          <a:lstStyle/>
          <a:p>
            <a:pPr algn="l"/>
            <a:r>
              <a:rPr sz="1800" b="0">
                <a:solidFill>
                  <a:srgbClr val="F3E8C7"/>
                </a:solidFill>
                <a:latin typeface="Calibri"/>
              </a:rPr>
              <a:t>We sit with your team. We talk to ten of your customers and five of your franchise owners. We audit the existing booking system and confirm the integration approach. We come back with a lockable Phase 1 scope and a working prototype of the Book and Calendar flows in EN and FR.</a:t>
            </a:r>
          </a:p>
        </p:txBody>
      </p:sp>
      <p:sp>
        <p:nvSpPr>
          <p:cNvPr id="13" name="TextBox 12"/>
          <p:cNvSpPr txBox="1"/>
          <p:nvPr/>
        </p:nvSpPr>
        <p:spPr>
          <a:xfrm>
            <a:off x="548640" y="4663440"/>
            <a:ext cx="10058400" cy="457200"/>
          </a:xfrm>
          <a:prstGeom prst="rect">
            <a:avLst/>
          </a:prstGeom>
          <a:noFill/>
        </p:spPr>
        <p:txBody>
          <a:bodyPr wrap="square" lIns="0" rIns="0" tIns="0" bIns="0" anchor="t">
            <a:spAutoFit/>
          </a:bodyPr>
          <a:lstStyle/>
          <a:p>
            <a:pPr algn="l"/>
            <a:r>
              <a:rPr sz="1100" b="1">
                <a:solidFill>
                  <a:srgbClr val="E85A8C"/>
                </a:solidFill>
                <a:latin typeface="Calibri"/>
              </a:rPr>
              <a:t>WHAT YOU GET</a:t>
            </a:r>
          </a:p>
        </p:txBody>
      </p:sp>
      <p:sp>
        <p:nvSpPr>
          <p:cNvPr id="14" name="TextBox 13"/>
          <p:cNvSpPr txBox="1"/>
          <p:nvPr/>
        </p:nvSpPr>
        <p:spPr>
          <a:xfrm>
            <a:off x="548640" y="5029200"/>
            <a:ext cx="10058400" cy="1828800"/>
          </a:xfrm>
          <a:prstGeom prst="rect">
            <a:avLst/>
          </a:prstGeom>
          <a:noFill/>
        </p:spPr>
        <p:txBody>
          <a:bodyPr wrap="square" lIns="0" rIns="0" tIns="0" bIns="0" anchor="t">
            <a:spAutoFit/>
          </a:bodyPr>
          <a:lstStyle/>
          <a:p>
            <a:pPr algn="l"/>
            <a:r>
              <a:rPr sz="1400" b="0">
                <a:solidFill>
                  <a:srgbClr val="FFFFFF"/>
                </a:solidFill>
                <a:latin typeface="Calibri"/>
              </a:rPr>
              <a:t>•  A lockable feature scope, costed and timeboxed</a:t>
            </a:r>
          </a:p>
          <a:p>
            <a:pPr algn="l"/>
            <a:r>
              <a:rPr sz="1400" b="0">
                <a:solidFill>
                  <a:srgbClr val="FFFFFF"/>
                </a:solidFill>
                <a:latin typeface="Calibri"/>
              </a:rPr>
              <a:t>•  An interactive prototype of two core flows</a:t>
            </a:r>
          </a:p>
          <a:p>
            <a:pPr algn="l"/>
            <a:r>
              <a:rPr sz="1400" b="0">
                <a:solidFill>
                  <a:srgbClr val="FFFFFF"/>
                </a:solidFill>
                <a:latin typeface="Calibri"/>
              </a:rPr>
              <a:t>•  A summary of customer + franchise-owner interviews</a:t>
            </a:r>
          </a:p>
          <a:p>
            <a:pPr algn="l"/>
            <a:r>
              <a:rPr sz="1400" b="0">
                <a:solidFill>
                  <a:srgbClr val="FFFFFF"/>
                </a:solidFill>
                <a:latin typeface="Calibri"/>
              </a:rPr>
              <a:t>•  A go / no-go recommendation. Yours either way.</a:t>
            </a:r>
          </a:p>
        </p:txBody>
      </p:sp>
      <p:sp>
        <p:nvSpPr>
          <p:cNvPr id="15" name="TextBox 14"/>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F3E8C7"/>
                </a:solidFill>
                <a:latin typeface="Calibri"/>
              </a:rPr>
              <a:t>The Ten Spot · Mobile App Pitch</a:t>
            </a:r>
          </a:p>
        </p:txBody>
      </p:sp>
      <p:sp>
        <p:nvSpPr>
          <p:cNvPr id="16" name="TextBox 15"/>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F3E8C7"/>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