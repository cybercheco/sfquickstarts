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419295" cy="1828800"/>
          </a:xfrm>
          <a:prstGeom prst="rect">
            <a:avLst/>
          </a:prstGeom>
          <a:solidFill>
            <a:srgbClr val="8A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0" y="0"/>
            <a:ext cx="4419295" cy="457200"/>
          </a:xfrm>
          <a:prstGeom prst="rect">
            <a:avLst/>
          </a:prstGeom>
          <a:solidFill>
            <a:srgbClr val="D4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1097280"/>
            <a:ext cx="365760" cy="365760"/>
          </a:xfrm>
          <a:prstGeom prst="ellipse">
            <a:avLst/>
          </a:prstGeom>
          <a:solidFill>
            <a:srgbClr val="D4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20272" y="2633472"/>
            <a:ext cx="219456" cy="219456"/>
          </a:xfrm>
          <a:prstGeom prst="ellipse">
            <a:avLst/>
          </a:prstGeom>
          <a:solidFill>
            <a:srgbClr val="D4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45168" y="3675888"/>
            <a:ext cx="329184" cy="329184"/>
          </a:xfrm>
          <a:prstGeom prst="ellipse">
            <a:avLst/>
          </a:prstGeom>
          <a:solidFill>
            <a:srgbClr val="D4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44784" y="4992624"/>
            <a:ext cx="256032" cy="256032"/>
          </a:xfrm>
          <a:prstGeom prst="ellipse">
            <a:avLst/>
          </a:prstGeom>
          <a:solidFill>
            <a:srgbClr val="D4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0" y="6035040"/>
            <a:ext cx="182880" cy="182880"/>
          </a:xfrm>
          <a:prstGeom prst="ellipse">
            <a:avLst/>
          </a:prstGeom>
          <a:solidFill>
            <a:srgbClr val="D4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914400"/>
            <a:ext cx="73152" cy="2194560"/>
          </a:xfrm>
          <a:prstGeom prst="rect">
            <a:avLst/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9144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3E54"/>
                </a:solidFill>
                <a:latin typeface="Calibri"/>
              </a:rPr>
              <a:t>MOBILE APP · PITCH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325880"/>
            <a:ext cx="7315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0">
                <a:solidFill>
                  <a:srgbClr val="1A1A1A"/>
                </a:solidFill>
                <a:latin typeface="Georgia"/>
              </a:rPr>
              <a:t>Titika Active.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468880"/>
            <a:ext cx="6858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C43E54"/>
                </a:solidFill>
                <a:latin typeface="Georgia"/>
              </a:rPr>
              <a:t>VERSATILE.</a:t>
            </a:r>
          </a:p>
          <a:p>
            <a:pPr algn="l"/>
            <a:r>
              <a:rPr sz="2600" b="0">
                <a:solidFill>
                  <a:srgbClr val="C43E54"/>
                </a:solidFill>
                <a:latin typeface="Georgia"/>
              </a:rPr>
              <a:t>ACTIVE.</a:t>
            </a:r>
          </a:p>
          <a:p>
            <a:pPr algn="l"/>
            <a:r>
              <a:rPr sz="2600" b="0">
                <a:solidFill>
                  <a:srgbClr val="C43E54"/>
                </a:solidFill>
                <a:latin typeface="Georgia"/>
              </a:rPr>
              <a:t>LIFE.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2064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77777"/>
                </a:solidFill>
                <a:latin typeface="Calibri"/>
              </a:rPr>
              <a:t>A daily companion to a versatile life — gym, yoga, brunch, errands.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4864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Prepared for the Titika Active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43E54"/>
                </a:solidFill>
                <a:latin typeface="Calibri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A1A1A"/>
                </a:solidFill>
                <a:latin typeface="Georgia"/>
              </a:rPr>
              <a:t>Premium athleisure is now a daily-companion category.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C4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36576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29260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0">
                <a:solidFill>
                  <a:srgbClr val="C43E54"/>
                </a:solidFill>
                <a:latin typeface="Georgia"/>
              </a:rPr>
              <a:t>$340B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4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global activewear market</a:t>
            </a:r>
          </a:p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by 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Calibri"/>
              </a:rPr>
              <a:t>And the leaders are app-native: Lululemon, Alo, Nike.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194560"/>
            <a:ext cx="36576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560320"/>
            <a:ext cx="29260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0">
                <a:solidFill>
                  <a:srgbClr val="C43E5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74904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anchor markets — Toronto</a:t>
            </a:r>
          </a:p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+ Hong Kong, with global reach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84632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Calibri"/>
              </a:rPr>
              <a:t>A multi-region app is the proposition, not an upgrade.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194560"/>
            <a:ext cx="36576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2560320"/>
            <a:ext cx="29260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0">
                <a:solidFill>
                  <a:srgbClr val="C43E54"/>
                </a:solidFill>
                <a:latin typeface="Georgia"/>
              </a:rPr>
              <a:t>18%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374904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of activewear returns are</a:t>
            </a:r>
          </a:p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fit-related — leggings, especially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484632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Calibri"/>
              </a:rPr>
              <a:t>An AI Fit Atelier is the highest-ROI feature you ship.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77777"/>
                </a:solidFill>
                <a:latin typeface="Calibri"/>
              </a:rPr>
              <a:t>Titika Active · Mobile App Pitch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Calibri"/>
              </a:rPr>
              <a:t>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43E54"/>
                </a:solidFill>
                <a:latin typeface="Calibri"/>
              </a:rPr>
              <a:t>THE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A1A1A"/>
                </a:solidFill>
                <a:latin typeface="Georgia"/>
              </a:rPr>
              <a:t>Not another store — a daily companion.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C4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Georgia"/>
              </a:rPr>
              <a:t>Titika's customer doesn't separate her gym life from her real life. She wears Couture Leggings to Pure Yoga, then to brunch, then to grocery runs.</a:t>
            </a:r>
          </a:p>
          <a:p>
            <a:pPr algn="l"/>
            <a:r>
              <a:rPr sz="2000" b="0">
                <a:solidFill>
                  <a:srgbClr val="1A1A1A"/>
                </a:solidFill>
                <a:latin typeface="Georgia"/>
              </a:rPr>
              <a:t/>
            </a:r>
          </a:p>
          <a:p>
            <a:pPr algn="l"/>
            <a:r>
              <a:rPr sz="2000" b="0">
                <a:solidFill>
                  <a:srgbClr val="1A1A1A"/>
                </a:solidFill>
                <a:latin typeface="Georgia"/>
              </a:rPr>
              <a:t>The app should make the brand's promise — VERSATILE. ACTIVE. LIFE. — concrete: a closet that shows her three ways to wear what she owns, a practice library that meets her wherever she is, a Fit Atelier that ends the legging-sizing lottery, and a tribe that travels with her between Toronto and Hong Kong.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03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43E54"/>
                </a:solidFill>
                <a:latin typeface="Calibri"/>
              </a:rPr>
              <a:t>WHY IT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7784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Reduces returns — fit AI is worth more than any other feature dollar-for-dollar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Builds the daily habit Lululemon spent a decade perfecting — at app cost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• Bridges Canadian and Asian markets natively, not as an afterthought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77777"/>
                </a:solidFill>
                <a:latin typeface="Calibri"/>
              </a:rPr>
              <a:t>Titika Active · Mobile App Pitch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Calibri"/>
              </a:rPr>
              <a:t>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43E54"/>
                </a:solidFill>
                <a:latin typeface="Calibri"/>
              </a:rPr>
              <a:t>PRODUCT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A1A1A"/>
                </a:solidFill>
                <a:latin typeface="Georgia"/>
              </a:rPr>
              <a:t>Six pillars — five customer-facing, one internal.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C4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365760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91440" cy="2057400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C43E5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Georgia"/>
              </a:rPr>
              <a:t>The Closet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375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Every piece you own, shown three ways. Studio · Street · Sunday.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194560"/>
            <a:ext cx="365760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2194560"/>
            <a:ext cx="91440" cy="2057400"/>
          </a:xfrm>
          <a:prstGeom prst="roundRect">
            <a:avLst>
              <a:gd name="adj" fmla="val 12000"/>
            </a:avLst>
          </a:prstGeom>
          <a:solidFill>
            <a:srgbClr val="2D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377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D6E7E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8346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Georgia"/>
              </a:rPr>
              <a:t>The Practice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3375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Guided yoga, mobility, strength, low-impact, and audio walks — meets you where you are.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194560"/>
            <a:ext cx="365760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38160" y="2194560"/>
            <a:ext cx="91440" cy="2057400"/>
          </a:xfrm>
          <a:prstGeom prst="roundRect">
            <a:avLst>
              <a:gd name="adj" fmla="val 12000"/>
            </a:avLst>
          </a:prstGeom>
          <a:solidFill>
            <a:srgbClr val="E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377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F6F8B"/>
                </a:solidFill>
                <a:latin typeface="Georg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8346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Georgia"/>
              </a:rPr>
              <a:t>The Fit Atelier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3375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AI fit assistant that ends the legging-sizing lottery. Photo-based fit checks.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416552"/>
            <a:ext cx="365760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4416552"/>
            <a:ext cx="91440" cy="2057400"/>
          </a:xfrm>
          <a:prstGeom prst="roundRect">
            <a:avLst>
              <a:gd name="adj" fmla="val 12000"/>
            </a:avLst>
          </a:prstGeom>
          <a:solidFill>
            <a:srgbClr val="D4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59943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D4A85A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5663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Georgia"/>
              </a:rPr>
              <a:t>The Tribe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559552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Local meetups, ambassador-led challenges, looks gallery — community without the noise.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4416552"/>
            <a:ext cx="365760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43400" y="4416552"/>
            <a:ext cx="91440" cy="2057400"/>
          </a:xfrm>
          <a:prstGeom prst="roundRect">
            <a:avLst>
              <a:gd name="adj" fmla="val 12000"/>
            </a:avLst>
          </a:prstGeom>
          <a:solidFill>
            <a:srgbClr val="8A2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459943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8A2236"/>
                </a:solidFill>
                <a:latin typeface="Georg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505663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Georgia"/>
              </a:rPr>
              <a:t>The Shop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5559552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Multi-currency, multi-language, region-aware drops. Asia Miles tie-in.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4416552"/>
            <a:ext cx="365760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138160" y="4416552"/>
            <a:ext cx="91440" cy="2057400"/>
          </a:xfrm>
          <a:prstGeom prst="roundRect">
            <a:avLst>
              <a:gd name="adj" fmla="val 12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459943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Georgia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505663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Georgia"/>
              </a:rPr>
              <a:t>The Studio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5559552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Internal-facing web admin portal — closet editor, practice library, moderation, concierge.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77777"/>
                </a:solidFill>
                <a:latin typeface="Calibri"/>
              </a:rPr>
              <a:t>Titika Active · Mobile App Pitch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Calibri"/>
              </a:rPr>
              <a:t>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43E54"/>
                </a:solidFill>
                <a:latin typeface="Calibri"/>
              </a:rPr>
              <a:t>PHASE 1 · LAUNCH (MONTHS 0–4)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A1A1A"/>
                </a:solidFill>
                <a:latin typeface="Georgia"/>
              </a:rPr>
              <a:t>Foundations: Closet, Practice, Fit, Tribe, Shop, Rewards.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C4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77777"/>
                </a:solidFill>
                <a:latin typeface="Calibri"/>
              </a:rPr>
              <a:t>Everything a customer needs in their first 90 days.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30175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614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Multilingual onboarding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632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EN + 繁中 at launch · JP / KR / FR / 简中 expandable.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65176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30175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7614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Multi-region storefront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0632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CA · US · HK · wider Asia. Currency follows the customer.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7673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Closet &amp; 'three ways' looks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Register every piece. Same item across Studio · Street · Sunday.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46520" y="402336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7673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Practice library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0690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10/20/45-min yoga, mobility, strength, low-impact, audio walks.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66344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50292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773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Fit Atelier (AI)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0749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Multilingual chat with full size profile + past-order context.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66344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46520" y="50292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4773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Easy size-swap returns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50749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Tied to loyalty wallet. Returns shouldn't punish the customer.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66928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0" y="603504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7790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Tribe meetups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60807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Toronto · HK · NYC · Vancouver as starter cities.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566928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46520" y="603504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57790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Looks gallery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60807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Customers post how they wore it. Light moderation.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667512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22960" y="704088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7280" y="678484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Style quiz → home feed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70866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Calibrated recommendations from day one.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72200" y="667512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446520" y="704088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20840" y="678484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Asia Miles wallet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70866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Existing Cathay tie-in, native to the rewards screen.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768096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22960" y="80467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97280" y="77906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Practice recommender (AI)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" y="80924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Mood, energy, time → guided session.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72200" y="768096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446520" y="80467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20840" y="77906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Visual search (AI)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80924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See a look, find the piece.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8640" y="868680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22960" y="905256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97280" y="87965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Outfit-builder (AI)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80" y="90982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Three contexts per piece, with auto-generated copy.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72200" y="868680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446520" y="905256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720840" y="87965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Push by region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20840" y="90982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EN to NA · 繁中 to HK. Right copy, right time.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48640" y="969264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822960" y="100584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97280" y="98023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Multilingual brand-voice translation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97280" y="101041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Claude drafts copy in 4 languages; editors approve.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172200" y="969264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6446520" y="100584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720840" y="98023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The Studio (web admin portal)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20840" y="101041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Closet editor, practice library, moderation, concierge, analytics.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77777"/>
                </a:solidFill>
                <a:latin typeface="Calibri"/>
              </a:rPr>
              <a:t>Titika Active · Mobile App Pitch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Calibri"/>
              </a:rPr>
              <a:t>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43E54"/>
                </a:solidFill>
                <a:latin typeface="Calibri"/>
              </a:rPr>
              <a:t>PHASE 2 · DEPTH (MONTHS 5–9)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A1A1A"/>
                </a:solidFill>
                <a:latin typeface="Georgia"/>
              </a:rPr>
              <a:t>AR fit, live classes, wholesale, recovery coach.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C4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77777"/>
                </a:solidFill>
                <a:latin typeface="Calibri"/>
              </a:rPr>
              <a:t>Features that turn a great launch into a daily habit.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30175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614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AR fit visualisation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632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See leggings on a body silhouette using your size profile.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65176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30175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7614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Vision-based fit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0632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AI analyses a mirror photo for waistband fit, length, compression.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7673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Live classes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Scheduled live yoga / mobility with chat. Recordings join the library.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46520" y="402336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7673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Recovery + wellness coach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0690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Sleep / mood / soreness inputs → recommended practice.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66344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50292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773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Local studio partner program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0749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Partnered yoga / pilates studios; Titika rewards for visiting.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66344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46520" y="50292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4773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Wholesale &amp; ambassador portal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50749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Applications, comp pieces, content review (B2B).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66928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0" y="603504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7790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Heritage / archive sale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60807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Past-season pieces re-released with provenance.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566928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46520" y="603504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57790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Multi-region demand sensing (AI)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60807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Drives reprints across CA / US / HK / wider Asia.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77777"/>
                </a:solidFill>
                <a:latin typeface="Calibri"/>
              </a:rPr>
              <a:t>Titika Active · Mobile App Pitch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Calibri"/>
              </a:rPr>
              <a:t>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43E54"/>
                </a:solidFill>
                <a:latin typeface="Calibri"/>
              </a:rPr>
              <a:t>PHASE 3 · CULTURAL AUTHORITY (MONTHS 10+)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A1A1A"/>
                </a:solidFill>
                <a:latin typeface="Georgia"/>
              </a:rPr>
              <a:t>From an app to a brand world.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C4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77777"/>
                </a:solidFill>
                <a:latin typeface="Calibri"/>
              </a:rPr>
              <a:t>Long-form storytelling, community, operational AI.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30175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614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Editorial / journal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632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Long-form on sport, design, training. Multilingual.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65176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30175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7614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Branded events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0632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Pop-up classes in Toronto, HK, NYC.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7673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Annual VERSATILE film series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Short documentaries on ambassadors and customers.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46520" y="402336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7673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Multilingual content scaling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0690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EN-first, AI drafts 繁中 / 简中 / JP / KR / FR for editor review.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66344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50292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773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Ambassador-revenue marketplace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0749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Content that converts; revenue share built in.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66344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46520" y="50292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4773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Counterfeit listing detection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50749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Amazon · ThredUp · Asian marketplaces.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66928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0" y="603504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7790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VIP signal detection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60807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Surfaces emerging high-value Couture-tier customers early.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566928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46520" y="603504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57790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Cathay co-branded experiences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60807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Asia Miles members get unlocks — branded yoga at 35,000 ft.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77777"/>
                </a:solidFill>
                <a:latin typeface="Calibri"/>
              </a:rPr>
              <a:t>Titika Active · Mobile App Pitch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Calibri"/>
              </a:rPr>
              <a:t>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43E54"/>
                </a:solidFill>
                <a:latin typeface="Calibri"/>
              </a:rPr>
              <a:t>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A1A1A"/>
                </a:solidFill>
                <a:latin typeface="Georgia"/>
              </a:rPr>
              <a:t>Onboarding — under 90 seconds, in any language.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C4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77777"/>
                </a:solidFill>
                <a:latin typeface="Calibri"/>
              </a:rPr>
              <a:t>The international customer must feel at home in the first screen. Language is offered before anything else.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210312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C43E54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Bienvenue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69080"/>
            <a:ext cx="1554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Welcome in six languages.</a:t>
            </a:r>
          </a:p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Tap your language; everything follows.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60904" y="4114800"/>
            <a:ext cx="164592" cy="365760"/>
          </a:xfrm>
          <a:prstGeom prst="rightArrow">
            <a:avLst/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34640" y="2651760"/>
            <a:ext cx="210312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29260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C43E54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5661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Sign 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4069080"/>
            <a:ext cx="1554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Apple, Google, or email.</a:t>
            </a:r>
          </a:p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No forms.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946904" y="4114800"/>
            <a:ext cx="164592" cy="365760"/>
          </a:xfrm>
          <a:prstGeom prst="rightArrow">
            <a:avLst/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20640" y="2651760"/>
            <a:ext cx="210312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29260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C43E54"/>
                </a:solidFill>
                <a:latin typeface="Georgia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35661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Fit profile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4069080"/>
            <a:ext cx="1554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Bra, top, bottom, inseam.</a:t>
            </a:r>
          </a:p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Optional body shape, opt-in.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232904" y="4114800"/>
            <a:ext cx="164592" cy="365760"/>
          </a:xfrm>
          <a:prstGeom prst="rightArrow">
            <a:avLst/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06640" y="2651760"/>
            <a:ext cx="210312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29260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C43E54"/>
                </a:solidFill>
                <a:latin typeface="Georgia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35661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What moves you?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069080"/>
            <a:ext cx="1554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Pick three motivations:</a:t>
            </a:r>
          </a:p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yoga · strength · running · lifestyle.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518904" y="4114800"/>
            <a:ext cx="164592" cy="365760"/>
          </a:xfrm>
          <a:prstGeom prst="rightArrow">
            <a:avLst/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92640" y="2651760"/>
            <a:ext cx="210312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66960" y="29260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C43E54"/>
                </a:solidFill>
                <a:latin typeface="Georgia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35661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First moment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4069080"/>
            <a:ext cx="1554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Today's 10-min flow —</a:t>
            </a:r>
          </a:p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or explore the new drop.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43E54"/>
                </a:solidFill>
                <a:latin typeface="Calibri"/>
              </a:rPr>
              <a:t>DESIGN PRINCIPLE   —   Body data is opt-in. Motivation matters more than measurements.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77777"/>
                </a:solidFill>
                <a:latin typeface="Calibri"/>
              </a:rPr>
              <a:t>Titika Active · Mobile App Pitch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Calibri"/>
              </a:rPr>
              <a:t>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43E54"/>
                </a:solidFill>
                <a:latin typeface="Calibri"/>
              </a:rPr>
              <a:t>USER FLOW · 1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A1A1A"/>
                </a:solidFill>
                <a:latin typeface="Georgia"/>
              </a:rPr>
              <a:t>First purchase → daily companion.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C4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77777"/>
                </a:solidFill>
                <a:latin typeface="Calibri"/>
              </a:rPr>
              <a:t>From an Instagram ad to a 10-minute morning practice.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Sees the drop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Instagram ad for the Couture Legging — Bordeaux. Taps in. Saves to wishlist.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32888" y="4069080"/>
            <a:ext cx="228600" cy="365760"/>
          </a:xfrm>
          <a:prstGeom prst="rightArrow">
            <a:avLst/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07208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07208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0088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DECIDE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Asks the Fit Atelier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AI uses past Lululemon size and inseam preference. Recommends S, 25". Confidence builds.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791456" y="4069080"/>
            <a:ext cx="228600" cy="365760"/>
          </a:xfrm>
          <a:prstGeom prst="rightArrow">
            <a:avLst/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65776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65776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48656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BUY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4376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Apple Pay checkout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94376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Two taps. Order tracked in-app from the moment it ships.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050024" y="4069080"/>
            <a:ext cx="228600" cy="365760"/>
          </a:xfrm>
          <a:prstGeom prst="rightArrow">
            <a:avLst/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24344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24344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07224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UNBOX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2944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Scans the QR tag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2944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Item arrives. One scan registers it to her closet, opens 'wear it three ways,' offers a 10-min flow.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308592" y="4069080"/>
            <a:ext cx="228600" cy="365760"/>
          </a:xfrm>
          <a:prstGeom prst="rightArrow">
            <a:avLst/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582912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582912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65792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DAILY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11512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Practice + post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11512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Three weeks in: 14 sessions completed, 22 wears logged, first 'fit look' posted to The Tribe.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77777"/>
                </a:solidFill>
                <a:latin typeface="Calibri"/>
              </a:rPr>
              <a:t>Titika Active · Mobile App Pitch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Calibri"/>
              </a:rPr>
              <a:t>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43E54"/>
                </a:solidFill>
                <a:latin typeface="Calibri"/>
              </a:rPr>
              <a:t>USER FLOW · 2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A1A1A"/>
                </a:solidFill>
                <a:latin typeface="Georgia"/>
              </a:rPr>
              <a:t>The 7-day rhythm — what brings her back.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C4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77777"/>
                </a:solidFill>
                <a:latin typeface="Calibri"/>
              </a:rPr>
              <a:t>We don't need her every day. We need a reason every other day.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MONDAY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Today's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Push: "Low energy? 20-min restorative." Audio-only mode for the school run / walk.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32888" y="4069080"/>
            <a:ext cx="228600" cy="365760"/>
          </a:xfrm>
          <a:prstGeom prst="rightArrow">
            <a:avLst/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07208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07208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0088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WEDNESDAY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Fit follow-up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Atelier: "How are the Couture Leggings — true to size?" One-tap feedback feeds the size guide.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791456" y="4069080"/>
            <a:ext cx="228600" cy="365760"/>
          </a:xfrm>
          <a:prstGeom prst="rightArrow">
            <a:avLst/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65776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65776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48656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FRIDAY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4376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Drop preview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94376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Members get the Saturday drop 12 hours early. Restock alerts on saved items.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050024" y="4069080"/>
            <a:ext cx="228600" cy="365760"/>
          </a:xfrm>
          <a:prstGeom prst="rightArrow">
            <a:avLst/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24344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24344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07224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SATURDAY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2944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Tribe meetup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2944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Park yoga, Trinity Bellwoods. RSVP in-app. Earns 100 points + a Tribe badge.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308592" y="4069080"/>
            <a:ext cx="228600" cy="365760"/>
          </a:xfrm>
          <a:prstGeom prst="rightArrow">
            <a:avLst/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582912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582912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65792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SUNDAY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11512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Three ways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11512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App suggests today's outfit from her closet — same Couture Legging, Sunday styling.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77777"/>
                </a:solidFill>
                <a:latin typeface="Calibri"/>
              </a:rPr>
              <a:t>Titika Active · Mobile App Pitch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Calibri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43E54"/>
                </a:solidFill>
                <a:latin typeface="Calibri"/>
              </a:rPr>
              <a:t>USER FLOW · 3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A1A1A"/>
                </a:solidFill>
                <a:latin typeface="Georgia"/>
              </a:rPr>
              <a:t>The Hong Kong customer — multi-market by design.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C4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77777"/>
                </a:solidFill>
                <a:latin typeface="Calibri"/>
              </a:rPr>
              <a:t>Toronto and Hong Kong are not 'localised English' — they're peers. The app is built that way.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Pinkoi →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Lands on Titika via Pinkoi marketplace. Installs the app, sets 繁中 + HKD.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32888" y="4069080"/>
            <a:ext cx="228600" cy="365760"/>
          </a:xfrm>
          <a:prstGeom prst="rightArrow">
            <a:avLst/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07208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07208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0088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ATELIER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Asks in 繁中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AI Fit Atelier responds in Traditional Chinese. Brand glossary keeps Couture, Active, Tribe untranslated.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791456" y="4069080"/>
            <a:ext cx="228600" cy="365760"/>
          </a:xfrm>
          <a:prstGeom prst="rightArrow">
            <a:avLst/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65776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65776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48656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BUY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4376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Asia Miles credit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94376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Checkout offers Asia Miles earn — Cathay tie-in. 100 miles per HK$100 spent.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050024" y="4069080"/>
            <a:ext cx="228600" cy="365760"/>
          </a:xfrm>
          <a:prstGeom prst="rightArrow">
            <a:avLst/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24344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24344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07224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PRACTICE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2944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Local instructor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2944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Practice library prioritises Mei's Cantonese sessions. Pure Yoga partner offers an unlock.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308592" y="4069080"/>
            <a:ext cx="228600" cy="365760"/>
          </a:xfrm>
          <a:prstGeom prst="rightArrow">
            <a:avLst/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582912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582912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65792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TRIBE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11512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Bowen Road run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11512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RSVPs to a Saturday morning Tribe run on Bowen Road. The brand's Toronto + HK customers see the same app, in their language.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77777"/>
                </a:solidFill>
                <a:latin typeface="Calibri"/>
              </a:rPr>
              <a:t>Titika Active · Mobile App Pitch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Calibri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43E54"/>
                </a:solidFill>
                <a:latin typeface="Calibri"/>
              </a:rPr>
              <a:t>VISUAL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A1A1A"/>
                </a:solidFill>
                <a:latin typeface="Georgia"/>
              </a:rPr>
              <a:t>What it looks like in hand.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C4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77777"/>
                </a:solidFill>
                <a:latin typeface="Calibri"/>
              </a:rPr>
              <a:t>Wireframe-fidelity mockups in the brand palette — warm cream, couture wine, saffron gold.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5603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5603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877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Onboarding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6 languages · sign-in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24688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80360" y="25603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80360" y="25603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1800" y="25877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Home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31089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Today's practice + drop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24688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20640" y="25603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20640" y="25603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25877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Practice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1089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Session library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24688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60920" y="25603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60920" y="25603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2360" y="25877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Closet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31089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Wear it three ways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9760" y="24688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601200" y="25603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01200" y="25603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0" y="25877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Product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31089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Fit pills · ask AI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5262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0080" y="46177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0080" y="46177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6451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Fit Atelier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1663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Multilingual + photo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88920" y="45262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880360" y="46177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880360" y="46177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71800" y="46451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Tribe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71800" y="51663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Meetups · looks gallery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0" y="45262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120640" y="46177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120640" y="46177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12080" y="46451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Rewards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80" y="51663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Points + Asia Miles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269480" y="45262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360920" y="46177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360920" y="46177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52360" y="46451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Profile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52360" y="51663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Sizes · privacy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43E54"/>
                </a:solidFill>
                <a:latin typeface="Calibri"/>
              </a:rPr>
              <a:t>Full interactive HTML mockup available — opens in any browser.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77777"/>
                </a:solidFill>
                <a:latin typeface="Calibri"/>
              </a:rPr>
              <a:t>Titika Active · Mobile App Pitch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Calibri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43E54"/>
                </a:solidFill>
                <a:latin typeface="Calibri"/>
              </a:rPr>
              <a:t>INTELLIGENCE · TIER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A1A1A"/>
                </a:solidFill>
                <a:latin typeface="Georgia"/>
              </a:rPr>
              <a:t>AI that reduces returns and deepens the daily habit.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C4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77777"/>
                </a:solidFill>
                <a:latin typeface="Calibri"/>
              </a:rPr>
              <a:t>Every Tier 1 feature pays back its cost in either avoided returns or repeat sessions.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8803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5E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C43E54"/>
                </a:solidFill>
                <a:latin typeface="Georgia"/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7889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Fit Atelier (chat)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10896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Multilingual size + fabric assistant. Past orders + body profile + product fit chart in cached system prompt.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65176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28803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5E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8803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C43E54"/>
                </a:solidFill>
                <a:latin typeface="Georgia"/>
              </a:rPr>
              <a:t>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7889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Practice recommender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10896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Mood, energy, time → 10/20/45-min session. Reduces the 'too much choice' tax.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70332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39319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5E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931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C43E54"/>
                </a:solidFill>
                <a:latin typeface="Georgia"/>
              </a:rPr>
              <a:t>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8404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Outfit-builder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16052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Generates the 'wear it three ways' copy per piece. Editors approve before publish.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70332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0" y="39319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5E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931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C43E54"/>
                </a:solidFill>
                <a:latin typeface="Georgia"/>
              </a:rPr>
              <a:t>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8404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Visual 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16052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Photograph any look — find the matching Titika piece.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75488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7240" y="49834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5E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983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C43E54"/>
                </a:solidFill>
                <a:latin typeface="Georgia"/>
              </a:rPr>
              <a:t>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8920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Multilingual brand-voice translation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521208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Claude drafts EN/繁中/JP/FR. Brand glossary preserves Couture, Active, Tribe.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475488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00800" y="49834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5E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983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C43E54"/>
                </a:solidFill>
                <a:latin typeface="Georgia"/>
              </a:rPr>
              <a:t>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48920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Closet wear analyser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521208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Notices favourites and forgotten pieces; suggests outfits to revive the wardrobe.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77777"/>
                </a:solidFill>
                <a:latin typeface="Calibri"/>
              </a:rPr>
              <a:t>Titika Active · Mobile App Pitch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Calibri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43E54"/>
                </a:solidFill>
                <a:latin typeface="Calibri"/>
              </a:rPr>
              <a:t>INTELLIGENCE · TIER 2 &amp;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A1A1A"/>
                </a:solidFill>
                <a:latin typeface="Georgia"/>
              </a:rPr>
              <a:t>AI that powers the wellness loop and the back office.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C4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77777"/>
                </a:solidFill>
                <a:latin typeface="Calibri"/>
              </a:rPr>
              <a:t>Phase 2 customer-facing AI plus operational AI the customer never sees.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8803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5E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C43E54"/>
                </a:solidFill>
                <a:latin typeface="Georgia"/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7889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Vision-based fit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10896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Customer uploads a mirror photo; AI analyses waistband, length, compression.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65176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28803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5E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8803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C43E54"/>
                </a:solidFill>
                <a:latin typeface="Georgia"/>
              </a:rPr>
              <a:t>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7889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Recovery coach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10896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Sleep + mood + soreness inputs → today's session. Avoids triggering metrics.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70332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39319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5E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931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C43E54"/>
                </a:solidFill>
                <a:latin typeface="Georgia"/>
              </a:rPr>
              <a:t>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8404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Live class translation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16052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Real-time captions in 繁中/JP for English live yoga classes.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70332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0" y="39319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5E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931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C43E54"/>
                </a:solidFill>
                <a:latin typeface="Georgia"/>
              </a:rPr>
              <a:t>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8404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Demand-sensing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16052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Wishlists + waitlists + cultural calendar → reprints across CA/US/HK/JP.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75488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7240" y="49834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5E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983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C43E54"/>
                </a:solidFill>
                <a:latin typeface="Georgia"/>
              </a:rPr>
              <a:t>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8920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Return-reason clustering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521208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Free-text returns clustered weekly into actionable patterns for design.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475488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00800" y="49834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5E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983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C43E54"/>
                </a:solidFill>
                <a:latin typeface="Georgia"/>
              </a:rPr>
              <a:t>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48920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Multilingual content scaling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521208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EN-first, AI drafts five languages, editors approve. 5× the editorial output.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80644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77240" y="6035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5E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6035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C43E54"/>
                </a:solidFill>
                <a:latin typeface="Georgia"/>
              </a:rPr>
              <a:t>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25880" y="594360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Ambassador-content authenticity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25880" y="626364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Vision model verifies a post is shot in real Titika garment, not a counterfeit.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72200" y="580644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400800" y="6035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5E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6035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C43E54"/>
                </a:solidFill>
                <a:latin typeface="Georgia"/>
              </a:rPr>
              <a:t>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594360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VIP signal detection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626364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Surfaces customers about to hit Couture / Atelier tier so concierge can welcome them.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77777"/>
                </a:solidFill>
                <a:latin typeface="Calibri"/>
              </a:rPr>
              <a:t>Titika Active · Mobile App Pitch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Calibri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43E54"/>
                </a:solidFill>
                <a:latin typeface="Calibri"/>
              </a:rPr>
              <a:t>DATA WITH CONSENT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A1A1A"/>
                </a:solidFill>
                <a:latin typeface="Georgia"/>
              </a:rPr>
              <a:t>What we collect — and what we won't.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C4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77777"/>
                </a:solidFill>
                <a:latin typeface="Calibri"/>
              </a:rPr>
              <a:t>Default to opt-in per category. A self-serve "what we know about you" screen, always.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944368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Identity &amp; contact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358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email, name, address — orders and shipping.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2651760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19088" y="2944368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93408" y="27432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Fit 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3408" y="30358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bra/top/bottom sizes, inseam, fit notes (body shape opt-in).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38728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3831336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630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Language &amp; region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922776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UI language, country, currency.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3538728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19088" y="3831336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93408" y="3630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Practice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3408" y="3922776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sessions completed, durations, time-of-day.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25696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4718304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517136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Closet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80974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registered pieces, wear count, 'three ways' choices.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44768" y="4425696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19088" y="4718304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93408" y="4517136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Motivation tags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93408" y="480974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yoga / strength / running / lifestyle.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312664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0" y="5605272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40410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Tribe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69671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meetups attended, challenges joined, ambassador follows.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44768" y="5312664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19088" y="5605272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93408" y="540410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Channel of origin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93408" y="569671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online / Amazon / Pinkoi / store / referral.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608076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612648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WE DO NOT COLLECT  ·  weight or BMI  ·  precise GPS  ·  contacts  ·  social-graph imports  ·  third-party ad-tracking IDs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77777"/>
                </a:solidFill>
                <a:latin typeface="Calibri"/>
              </a:rPr>
              <a:t>Titika Active · Mobile App Pitch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Calibri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43E54"/>
                </a:solidFill>
                <a:latin typeface="Calibri"/>
              </a:rPr>
              <a:t>HOW IT'S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A1A1A"/>
                </a:solidFill>
                <a:latin typeface="Georgia"/>
              </a:rPr>
              <a:t>A modern stack — boring where it should be, sharp where it counts.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C4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27432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Georgia"/>
              </a:rPr>
              <a:t>Mobile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5468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•  React Native + Expo (iOS &amp; Android)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6616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•  OTA updates for drop cadence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776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•  Apple / Google sign-in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286000"/>
            <a:ext cx="27432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9000" y="228600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237744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Georgia"/>
              </a:rPr>
              <a:t>Commerce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15468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•  Shopify storefront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56616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•  Multi-currency · multi-region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9776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•  RevenueCat for any subscriptions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286000"/>
            <a:ext cx="27432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9360" y="228600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37744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Georgia"/>
              </a:rPr>
              <a:t>Wellness 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15468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•  Node + TypeScript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56616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•  Postgres + pgvector for visual 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9776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•  Bunny / Mux for practice video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20" y="2286000"/>
            <a:ext cx="27432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89720" y="228600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64040" y="237744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Georgia"/>
              </a:rPr>
              <a:t>Intelligence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315468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•  Claude (Sonnet 4.6 chat, Haiku 4.5 batch)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356616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•  Embeddings for closet &amp; motif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39776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•  PostHog analytics, Sentry errors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77777"/>
                </a:solidFill>
                <a:latin typeface="Calibri"/>
              </a:rPr>
              <a:t>Titika Active · Mobile App Pitch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Calibri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43E54"/>
                </a:solidFill>
                <a:latin typeface="Calibri"/>
              </a:rPr>
              <a:t>THE STUDIO · WEB ADMIN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A1A1A"/>
                </a:solidFill>
                <a:latin typeface="Georgia"/>
              </a:rPr>
              <a:t>The internal twin of the mobile app.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C4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77777"/>
                </a:solidFill>
                <a:latin typeface="Calibri"/>
              </a:rPr>
              <a:t>Customers use the mobile app. Your team uses The Studio. Same backend, same brand language — different surface for different users.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2743200"/>
            <a:ext cx="393192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27889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43E54"/>
                </a:solidFill>
                <a:latin typeface="Calibri"/>
              </a:rPr>
              <a:t>SHOPIFY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310896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Catalog · orders · payments — unchanged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40480"/>
            <a:ext cx="11064240" cy="640080"/>
          </a:xfrm>
          <a:prstGeom prst="roundRect">
            <a:avLst>
              <a:gd name="adj" fmla="val 12000"/>
            </a:avLst>
          </a:prstGeom>
          <a:solidFill>
            <a:srgbClr val="F8E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904487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C43E54"/>
                </a:solidFill>
                <a:latin typeface="Calibri"/>
              </a:rPr>
              <a:t>SHARED API · Postgres · Auth · AI gateway · Video CDN · Object storage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4754880"/>
            <a:ext cx="5440680" cy="365760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773168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MOBILE APP — IOS &amp; ANDROID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12080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Customer-facing · Closet · Practice · Fit Atelier · Tribe · Shop · Rewards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2200" y="4754880"/>
            <a:ext cx="5440680" cy="365760"/>
          </a:xfrm>
          <a:prstGeom prst="roundRect">
            <a:avLst>
              <a:gd name="adj" fmla="val 12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773168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THE STUDIO — WEB ADMIN PORTAL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212080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Internal · Closet editor · practice library · drop scheduler · ambassadors · moderation · concierge ·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43E54"/>
                </a:solidFill>
                <a:latin typeface="Calibri"/>
              </a:rPr>
              <a:t>BUILT FOR YOUR TEAM   —   editors, ops, ambassadors, concierge. Bilingual EN/繁中. Brand-palette UI.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77777"/>
                </a:solidFill>
                <a:latin typeface="Calibri"/>
              </a:rPr>
              <a:t>Titika Active · Mobile App Pitch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Calibri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43E54"/>
                </a:solidFill>
                <a:latin typeface="Calibri"/>
              </a:rPr>
              <a:t>HOW WE'LL DELIVER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A1A1A"/>
                </a:solidFill>
                <a:latin typeface="Georgia"/>
              </a:rPr>
              <a:t>Roadmap — first nine months.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C4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743200"/>
            <a:ext cx="11064240" cy="25400"/>
          </a:xfrm>
          <a:prstGeom prst="rect">
            <a:avLst/>
          </a:prstGeom>
          <a:solidFill>
            <a:srgbClr val="E6E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28800" y="2651760"/>
            <a:ext cx="182880" cy="182880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3063240"/>
            <a:ext cx="274320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43E54"/>
                </a:solidFill>
                <a:latin typeface="Calibri"/>
              </a:rPr>
              <a:t>Weeks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Georgia"/>
              </a:rPr>
              <a:t>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8912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Customer interviews (Toronto, HK, US, ambassador, new buyer). Audit existing data. Lock Phase 1 scope. Brand language + fit-glossary workshop.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2651760"/>
            <a:ext cx="182880" cy="182880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37560" y="3063240"/>
            <a:ext cx="274320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32004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43E54"/>
                </a:solidFill>
                <a:latin typeface="Calibri"/>
              </a:rPr>
              <a:t>Weeks 3–16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56616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Georgia"/>
              </a:rPr>
              <a:t>Phase 1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438912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Closet, Practice, Fit Atelier, Tribe, Shop, Rewards, Asia Miles tie-in, Tier 1 AI, Studio. EN/繁中 at launch.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2651760"/>
            <a:ext cx="182880" cy="182880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26480" y="3063240"/>
            <a:ext cx="274320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2004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43E54"/>
                </a:solidFill>
                <a:latin typeface="Calibri"/>
              </a:rPr>
              <a:t>Weeks 17–32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56616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Georgia"/>
              </a:rPr>
              <a:t>Phase 2 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38912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AR fit, vision fit-check, live classes, recovery coach, wholesale portal. Add JP/KR/FR languages.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95560" y="2651760"/>
            <a:ext cx="182880" cy="182880"/>
          </a:xfrm>
          <a:prstGeom prst="roundRect">
            <a:avLst>
              <a:gd name="adj" fmla="val 12000"/>
            </a:avLst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15400" y="3063240"/>
            <a:ext cx="274320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32004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43E54"/>
                </a:solidFill>
                <a:latin typeface="Calibri"/>
              </a:rPr>
              <a:t>Weeks 33–40+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356616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Georgia"/>
              </a:rPr>
              <a:t>Phase 3 build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438912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Editorial, branded events, demand-sensing, ambassador marketplace, counterfeit detection.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77777"/>
                </a:solidFill>
                <a:latin typeface="Calibri"/>
              </a:rPr>
              <a:t>Titika Active · Mobile App Pitch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Calibri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43E54"/>
                </a:solidFill>
                <a:latin typeface="Calibri"/>
              </a:rPr>
              <a:t>HOW WE'LL KNOW IT'S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A1A1A"/>
                </a:solidFill>
                <a:latin typeface="Georgia"/>
              </a:rPr>
              <a:t>The metrics that matter.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C4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43E54"/>
                </a:solidFill>
                <a:latin typeface="Calibri"/>
              </a:rPr>
              <a:t>Return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Returns / orders, app cohort vs control, fit-related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319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Georgia"/>
              </a:rPr>
              <a:t>Target −20% on app cohort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56032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7432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43E54"/>
                </a:solidFill>
                <a:latin typeface="Calibri"/>
              </a:rPr>
              <a:t>Practice retention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15468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% of installs completing ≥1 session per week, month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9319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Georgia"/>
              </a:rPr>
              <a:t>Target ≥ 35%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56032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7432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43E54"/>
                </a:solidFill>
                <a:latin typeface="Calibri"/>
              </a:rPr>
              <a:t>Closet depth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15468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Average pieces registered per active user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9319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Georgia"/>
              </a:rPr>
              <a:t>Target ≥ 5 by month 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48056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663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43E54"/>
                </a:solidFill>
                <a:latin typeface="Calibri"/>
              </a:rPr>
              <a:t>Cross-language reach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% of sessions in 繁中 + future JP/KR/FR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8521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Georgia"/>
              </a:rPr>
              <a:t>Target ≥ 35% by month 12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448056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4663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43E54"/>
                </a:solidFill>
                <a:latin typeface="Calibri"/>
              </a:rPr>
              <a:t>Tribe activity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07492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Looks posted + meetups attended per active user / quarter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8521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Georgia"/>
              </a:rPr>
              <a:t>Target ≥ 1 by month 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448056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4663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43E54"/>
                </a:solidFill>
                <a:latin typeface="Calibri"/>
              </a:rPr>
              <a:t>Asia Miles redemption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507492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% of HK customers earning or redeeming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8521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Georgia"/>
              </a:rPr>
              <a:t>Target ≥ 60%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77777"/>
                </a:solidFill>
                <a:latin typeface="Calibri"/>
              </a:rPr>
              <a:t>Titika Active · Mobile App Pitch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Calibri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43E54"/>
                </a:solidFill>
                <a:latin typeface="Calibri"/>
              </a:rPr>
              <a:t>HOW IT WILL FEEL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A1A1A"/>
                </a:solidFill>
                <a:latin typeface="Georgia"/>
              </a:rPr>
              <a:t>Design principles.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C4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54864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43E54"/>
                </a:solidFill>
                <a:latin typeface="Calibri"/>
              </a:rPr>
              <a:t>Calm, not punishing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No streaks that shame, no daily-goal anxiety. Practice should feel like coming home.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468880"/>
            <a:ext cx="54864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6517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43E54"/>
                </a:solidFill>
                <a:latin typeface="Calibri"/>
              </a:rPr>
              <a:t>Body data is opt-in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06324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We never collect weight, BMI, or body-fat. Motivation tags matter more than measurements.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86200"/>
            <a:ext cx="54864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0690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43E54"/>
                </a:solidFill>
                <a:latin typeface="Calibri"/>
              </a:rPr>
              <a:t>Language is welcome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48056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EN and 繁中 are equals at launch. Translation is brand-aware, not literal.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886200"/>
            <a:ext cx="54864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0690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43E54"/>
                </a:solidFill>
                <a:latin typeface="Calibri"/>
              </a:rPr>
              <a:t>AI in service of the practice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48056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AI helps you find the right session and the right size. It never replaces a teacher.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303520"/>
            <a:ext cx="54864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4864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43E54"/>
                </a:solidFill>
                <a:latin typeface="Calibri"/>
              </a:rPr>
              <a:t>Recognition over discounts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9788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Tier rewards are access — early drops, ambassador status, branded experiences. Not coupons.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5303520"/>
            <a:ext cx="54864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4864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43E54"/>
                </a:solidFill>
                <a:latin typeface="Calibri"/>
              </a:rPr>
              <a:t>Multi-region by default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589788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77777"/>
                </a:solidFill>
                <a:latin typeface="Calibri"/>
              </a:rPr>
              <a:t>Toronto and Hong Kong are peers, not localised English. The app respects that from screen one.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77777"/>
                </a:solidFill>
                <a:latin typeface="Calibri"/>
              </a:rPr>
              <a:t>Titika Active · Mobile App Pitch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Calibri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43E54"/>
                </a:solidFill>
                <a:latin typeface="Calibri"/>
              </a:rPr>
              <a:t>WORKING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A1A1A"/>
                </a:solidFill>
                <a:latin typeface="Georgia"/>
              </a:rPr>
              <a:t>How we'd partner.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C4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54864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C43E54"/>
                </a:solidFill>
                <a:latin typeface="Georgia"/>
              </a:rPr>
              <a:t>Discovery sprint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Calibri"/>
              </a:rPr>
              <a:t>Two weeks. Customer interviews in Toronto and HK. Walk away with a signed Phase 1 spec — even if you don't build with 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286000"/>
            <a:ext cx="54864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56032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C43E54"/>
                </a:solidFill>
                <a:latin typeface="Georgia"/>
              </a:rPr>
              <a:t>Embedded delivery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15468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Calibri"/>
              </a:rPr>
              <a:t>A small team — lead engineer, mobile engineer, designer, bilingual QA — works as an extension of yours. Weekly demos.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51960"/>
            <a:ext cx="54864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5262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C43E54"/>
                </a:solidFill>
                <a:latin typeface="Georgia"/>
              </a:rPr>
              <a:t>Brand-side approval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12064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Calibri"/>
              </a:rPr>
              <a:t>Every customer-facing string of cultural / fit content reviewed by your editorial team. AI generates; humans approve.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251960"/>
            <a:ext cx="54864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6E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5262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C43E54"/>
                </a:solidFill>
                <a:latin typeface="Georgia"/>
              </a:rPr>
              <a:t>Always your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12064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Calibri"/>
              </a:rPr>
              <a:t>Source code, customer data, model logs all live in your accounts. Multi-region storage to honour data-residency rules.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77777"/>
                </a:solidFill>
                <a:latin typeface="Calibri"/>
              </a:rPr>
              <a:t>Titika Active · Mobile App Pitch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Calibri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43E54"/>
                </a:solidFill>
                <a:latin typeface="Calibri"/>
              </a:rPr>
              <a:t>WHY THIS WORKS FOR TITIKA ACTIVE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A1A1A"/>
                </a:solidFill>
                <a:latin typeface="Georgia"/>
              </a:rPr>
              <a:t>The bet behind the build.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C4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73152" cy="868680"/>
          </a:xfrm>
          <a:prstGeom prst="rect">
            <a:avLst/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Georgia"/>
              </a:rPr>
              <a:t>Fit AI pays for the rest of the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88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Calibri"/>
              </a:rPr>
              <a:t>An 18% return rate on activewear is real money. A Fit Atelier that cuts that by 5 points funds the entire build in year one.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46120"/>
            <a:ext cx="73152" cy="868680"/>
          </a:xfrm>
          <a:prstGeom prst="rect">
            <a:avLst/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91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Georgia"/>
              </a:rPr>
              <a:t>Versatility is your moat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7490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Calibri"/>
              </a:rPr>
              <a:t>Lululemon owns the gym. Alo owns the studio aesthetic. Titika owns the in-between. The 'wear it three ways' feature is the brand promise made concrete.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206240"/>
            <a:ext cx="73152" cy="868680"/>
          </a:xfrm>
          <a:prstGeom prst="rect">
            <a:avLst/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2519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Georgia"/>
              </a:rPr>
              <a:t>Multi-region is your 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709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Calibri"/>
              </a:rPr>
              <a:t>Most North American brands fake their Asia presence. Titika has a real HK customer base. The app should reflect that — and competitors can't easily copy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66360"/>
            <a:ext cx="73152" cy="868680"/>
          </a:xfrm>
          <a:prstGeom prst="rect">
            <a:avLst/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212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Georgia"/>
              </a:rPr>
              <a:t>The Practice creates the daily habit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6692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  <a:latin typeface="Calibri"/>
              </a:rPr>
              <a:t>An app you open every day is worth ten apps you open every quarter. Practice is what turns this from a shopping app into a daily companion.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77777"/>
                </a:solidFill>
                <a:latin typeface="Calibri"/>
              </a:rPr>
              <a:t>Titika Active · Mobile App Pitch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77777"/>
                </a:solidFill>
                <a:latin typeface="Calibri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D4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1097280"/>
            <a:ext cx="365760" cy="365760"/>
          </a:xfrm>
          <a:prstGeom prst="ellipse">
            <a:avLst/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10544" y="2615184"/>
            <a:ext cx="256032" cy="256032"/>
          </a:xfrm>
          <a:prstGeom prst="ellipse">
            <a:avLst/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08592" y="3639312"/>
            <a:ext cx="402336" cy="402336"/>
          </a:xfrm>
          <a:prstGeom prst="ellipse">
            <a:avLst/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26496" y="4974336"/>
            <a:ext cx="292608" cy="292608"/>
          </a:xfrm>
          <a:prstGeom prst="ellipse">
            <a:avLst/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31552" y="5742432"/>
            <a:ext cx="219456" cy="219456"/>
          </a:xfrm>
          <a:prstGeom prst="ellipse">
            <a:avLst/>
          </a:prstGeom>
          <a:solidFill>
            <a:srgbClr val="C43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4A85A"/>
                </a:solidFill>
                <a:latin typeface="Calibri"/>
              </a:rPr>
              <a:t>NEXT STEP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00584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0">
                <a:solidFill>
                  <a:srgbClr val="FFFFFF"/>
                </a:solidFill>
                <a:latin typeface="Georgia"/>
              </a:rPr>
              <a:t>A two-week paid discovery.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68880"/>
            <a:ext cx="9601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5E8C8"/>
                </a:solidFill>
                <a:latin typeface="Calibri"/>
              </a:rPr>
              <a:t>We sit with your team in Toronto. We talk to ten of your customers across CA, US, and HK. We audit what you already know about them. We come back with a lockable Phase 1 scope and a working interactive prototype of the Closet, the Fit Atelier, and the Practice library — in EN and 繁中.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634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4A85A"/>
                </a:solidFill>
                <a:latin typeface="Calibri"/>
              </a:rPr>
              <a:t>WHAT YOU 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2920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 A lockable feature scope, costed and timeboxed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 An interactive prototype of three core flows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 A summary of the customer interviews and what we heard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 A go / no-go recommendation. Yours either way.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5E8C8"/>
                </a:solidFill>
                <a:latin typeface="Calibri"/>
              </a:rPr>
              <a:t>Titika Active · Mobile App Pitch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F5E8C8"/>
                </a:solidFill>
                <a:latin typeface="Calibri"/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