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4A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1828800"/>
          </a:xfrm>
          <a:prstGeom prst="rect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0"/>
            <a:ext cx="4419295" cy="457200"/>
          </a:xfrm>
          <a:prstGeom prst="rect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1097280"/>
            <a:ext cx="365760" cy="365760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20272" y="2633472"/>
            <a:ext cx="219456" cy="219456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45168" y="3675888"/>
            <a:ext cx="329184" cy="329184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44784" y="4992624"/>
            <a:ext cx="256032" cy="256032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6035040"/>
            <a:ext cx="182880" cy="182880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914400"/>
            <a:ext cx="73152" cy="2194560"/>
          </a:xfrm>
          <a:prstGeom prst="rect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914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6FBF"/>
                </a:solidFill>
                <a:latin typeface="Calibri"/>
              </a:rPr>
              <a:t>MOBILE APP ·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32588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0">
                <a:solidFill>
                  <a:srgbClr val="2A1F3D"/>
                </a:solidFill>
                <a:latin typeface="Georgia"/>
              </a:rPr>
              <a:t>Moon Juice.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68880"/>
            <a:ext cx="6858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8B6FBF"/>
                </a:solidFill>
                <a:latin typeface="Georgia"/>
              </a:rPr>
              <a:t>Your daily ritual,</a:t>
            </a:r>
          </a:p>
          <a:p>
            <a:pPr algn="l"/>
            <a:r>
              <a:rPr sz="2800" b="0">
                <a:solidFill>
                  <a:srgbClr val="8B6FBF"/>
                </a:solidFill>
                <a:latin typeface="Georgia"/>
              </a:rPr>
              <a:t>guided.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8194"/>
                </a:solidFill>
                <a:latin typeface="Calibri"/>
              </a:rPr>
              <a:t>An adaptogen coach in the customer's pocket.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Prepared for the Moon Juice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Adaptogens went mainstream. The education didn't keep 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8B6FBF"/>
                </a:solidFill>
                <a:latin typeface="Georgia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Moon Dusts in the canon —</a:t>
            </a:r>
          </a:p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most customers can name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8194"/>
                </a:solidFill>
                <a:latin typeface="Calibri"/>
              </a:rPr>
              <a:t>Brain. Beauty. Sex. Spirit. Power. Sleep. Dream. Cosmic.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8B6FBF"/>
                </a:solidFill>
                <a:latin typeface="Georgia"/>
              </a:rPr>
              <a:t>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supplements layered by</a:t>
            </a:r>
          </a:p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your average wellness 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8194"/>
                </a:solidFill>
                <a:latin typeface="Calibri"/>
              </a:rPr>
              <a:t>Stacking guidance happens on Reddit and DMs. It deserves the app.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8B6FBF"/>
                </a:solidFill>
                <a:latin typeface="Georgia"/>
              </a:rPr>
              <a:t>$20M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annual sales (2021)</a:t>
            </a:r>
          </a:p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built on cult brand mythology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8194"/>
                </a:solidFill>
                <a:latin typeface="Calibri"/>
              </a:rPr>
              <a:t>An app turns mythology into daily ritual — and lifetime LTV.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Not another store — an adaptogen coach.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F3D"/>
                </a:solidFill>
                <a:latin typeface="Georgia"/>
              </a:rPr>
              <a:t>Moon Juice's customer asks the same three questions every time she shops: which Moon Dust is for me, when do I take it, and can I combine it with what I'm already taking?</a:t>
            </a:r>
          </a:p>
          <a:p>
            <a:pPr algn="l"/>
            <a:r>
              <a:rPr sz="2000" b="0">
                <a:solidFill>
                  <a:srgbClr val="2A1F3D"/>
                </a:solidFill>
                <a:latin typeface="Georgia"/>
              </a:rPr>
              <a:t/>
            </a:r>
          </a:p>
          <a:p>
            <a:pPr algn="l"/>
            <a:r>
              <a:rPr sz="2000" b="0">
                <a:solidFill>
                  <a:srgbClr val="2A1F3D"/>
                </a:solidFill>
                <a:latin typeface="Georgia"/>
              </a:rPr>
              <a:t>Today she answers them by reading Amanda's Instagram, the Moon Juice Manual, and a tab full of forum posts. The app should be the answer — a Ritual coach that guides her stack, an Apothecary that explains every adaptogen, a goal-driven recommender, and a Refill Vault that manages her subscriptions calmly.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A1F3D"/>
                </a:solidFill>
                <a:latin typeface="Calibri"/>
              </a:rPr>
              <a:t>• Turns one-time supplement buyers into daily ritual practitioners — highest-LTV shape in the category</a:t>
            </a:r>
          </a:p>
          <a:p>
            <a:pPr algn="l"/>
            <a:r>
              <a:rPr sz="1300" b="0">
                <a:solidFill>
                  <a:srgbClr val="2A1F3D"/>
                </a:solidFill>
                <a:latin typeface="Calibri"/>
              </a:rPr>
              <a:t>• Surfaces the Moon Dust mythology with science, sourcing, and citations — the brand's actual moat</a:t>
            </a:r>
          </a:p>
          <a:p>
            <a:pPr algn="l"/>
            <a:r>
              <a:rPr sz="1300" b="0">
                <a:solidFill>
                  <a:srgbClr val="2A1F3D"/>
                </a:solidFill>
                <a:latin typeface="Calibri"/>
              </a:rPr>
              <a:t>• Makes refill subscriptions humane (skip / pause / accelerate) and reduces churn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Six pillars — five customer-facing, one internal.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8B6FB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F3D"/>
                </a:solidFill>
                <a:latin typeface="Georgia"/>
              </a:rPr>
              <a:t>The Ritual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Daily morning / midday / evening routines — guided audio, no streaks.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C9A85E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F3D"/>
                </a:solidFill>
                <a:latin typeface="Georgia"/>
              </a:rPr>
              <a:t>The Apothecary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Per-product passport with adaptogen sourcing, dosing, citations, interactions.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D8A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D8A8B5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F3D"/>
                </a:solidFill>
                <a:latin typeface="Georgia"/>
              </a:rPr>
              <a:t>The Goals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Pick goals — calm, sleep, beauty, brain, energy, libido — get a stack with rationale.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9B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9BB8A0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F3D"/>
                </a:solidFill>
                <a:latin typeface="Georgia"/>
              </a:rPr>
              <a:t>The Refill Vault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Calm subscription management — skip, pause, bundle, vacation mode.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4340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4A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4A3878"/>
                </a:solidFill>
                <a:latin typeface="Georg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F3D"/>
                </a:solidFill>
                <a:latin typeface="Georgia"/>
              </a:rPr>
              <a:t>The Shop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DTC, multi-currency, drops, refill credit redemption.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2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A1F3D"/>
                </a:solidFill>
                <a:latin typeface="Georg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F3D"/>
                </a:solidFill>
                <a:latin typeface="Georgia"/>
              </a:rPr>
              <a:t>The Studio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Internal-facing web admin portal — Apothecary editor, ritual library, refill ops, compliance review.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PHASE 1 · LAUNCH (MONTHS 0–4)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Foundations: Ritual, Apothecary, Goals, Refill Vault, Shop, Glow.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8194"/>
                </a:solidFill>
                <a:latin typeface="Calibri"/>
              </a:rPr>
              <a:t>Everything a customer needs in their first 90 days.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Multilingual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EN + ES at launch · FR expandable.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Multi-currency storefront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USD · CAD · GBP · EUR.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The Ritual 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Morning / midday / evening routines — guided audio, no streaks.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Calm reminders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Opt-in nudges; never gamified or shaming.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The Apothecary passport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Per-product adaptogens, dosing, sourcing, citations.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Adaptogen reference library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Per-adaptogen page with evidence and contraindications.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Goal-to-stack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Pick calm, sleep, brain, beauty, energy, libido → stack with rationale.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Refill Vault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Skip / pause / accelerate / bundle / vacation mode.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67512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2960" y="704088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67848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Smart refill prediction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7086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Usage-based — never pushy.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667512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46520" y="704088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67848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Refill bottle returns + credit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7086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Sustainable bottle program tracked in-app.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76809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2960" y="80467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77906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Apothecary chat (AI)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80924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Multilingual coach with strict compliance guardrails.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76809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46520" y="80467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77906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Rx interaction warnings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80924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AI flags interactions when customer enters medication; never overrides physician.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86868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2960" y="90525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0" y="87965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Drops + restock alerts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9098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Region-aware push.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72200" y="86868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446520" y="90525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20840" y="87965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Bundle builder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0840" y="9098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Pair Moon Dusts + supplements with refill credit redemption.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96926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22960" y="100584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7280" y="98023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Glow loyalty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" y="10104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Recognition for ritual completion, refill returns, reviews — never streaks.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72200" y="96926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446520" y="100584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20840" y="98023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The Studio (web admin)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20840" y="10104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Apothecary editor, ritual library, refill ops, compliance review, concierge, analytics.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PHASE 2 · DEPTH (MONTHS 5–9)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AR ritual, practitioner B2B, health-data integrations.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8194"/>
                </a:solidFill>
                <a:latin typeface="Calibri"/>
              </a:rPr>
              <a:t>Features that turn launch into a category-defining wellness brand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AR ritual visualization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See your stack laid out for the day in your kitchen.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Smart-stack adapter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Adjusts based on cycle, sleep, stress (opt-in).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Practitioner B2B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Naturopaths / coaches with white-label client tracking.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Apple Health / Google Fit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Sleep + steps inform Ritual nudges (opt-in).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Live coach Q&amp;A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Quarterly with Amanda + practitioners.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Adaptogen library expansion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Full evidence base, peer-reviewed citations.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Custom blends (curated)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Staff-blends for specific goals; no full personalisation.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Returns triage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Routes refund vs replacement vs adjustment.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PHASE 3 · CULTURAL AUTHORITY (MONTHS 10+)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From an app to a wellness institution.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8194"/>
                </a:solidFill>
                <a:latin typeface="Calibri"/>
              </a:rPr>
              <a:t>Long-form storytelling, education, operational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Editorial / journal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Long-form on adaptogens, ritual, science.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Annual VOICES film series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Amanda + practitioners + scientists.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Multilingual content scaling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EN-first, AI drafts ES/FR/IT/JP/DE for editor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Demand-sensing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Wishlist + Stack signals feed harvest planning.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Counterfeit listing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Amazon, eBay, AliExpress.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Practitioner certification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Moon Juice-trained wellness coaches.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VIP signal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Concierge welcomes top-tier supporters.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Cycle + hormone awareness (opt-in, careful)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Stack adapts to phase; FDA / FTC review on every claim.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Onboarding — under 90 seconds, in EN or 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8194"/>
                </a:solidFill>
                <a:latin typeface="Calibri"/>
              </a:rPr>
              <a:t>The first screen earns trust by asking what the customer is working on — and what she's already taking.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8B6FBF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Hola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Welcome in three languages.</a:t>
            </a:r>
          </a:p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Tap your language; everything follows.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60904" y="4114800"/>
            <a:ext cx="164592" cy="365760"/>
          </a:xfrm>
          <a:prstGeom prst="rightArrow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8B6FBF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Sign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Apple, Google, or email.</a:t>
            </a:r>
          </a:p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No forms.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46904" y="4114800"/>
            <a:ext cx="164592" cy="365760"/>
          </a:xfrm>
          <a:prstGeom prst="rightArrow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8B6FBF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Goals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Pick 1–3 from calm, sleep, beauty,</a:t>
            </a:r>
          </a:p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brain, energy, libido, focus.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32904" y="4114800"/>
            <a:ext cx="164592" cy="365760"/>
          </a:xfrm>
          <a:prstGeom prst="rightArrow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06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8B6FBF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What you're already taking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Current supplements + (optional)</a:t>
            </a:r>
          </a:p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Rx medications · safety filter.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518904" y="4114800"/>
            <a:ext cx="164592" cy="365760"/>
          </a:xfrm>
          <a:prstGeom prst="rightArrow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92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8B6FBF"/>
                </a:solidFill>
                <a:latin typeface="Georgi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First moment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Today's Ritual is yours —</a:t>
            </a:r>
          </a:p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or explore the Apothecary.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6FBF"/>
                </a:solidFill>
                <a:latin typeface="Calibri"/>
              </a:rPr>
              <a:t>DESIGN PRINCIPLE   —   Rx disclosure is opt-in. Never diagnose. Always cite. Always defer to physicians.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USER FLOW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First Moon Dust → daily ritual.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8194"/>
                </a:solidFill>
                <a:latin typeface="Calibri"/>
              </a:rPr>
              <a:t>From an Instagram tap to a daily practice in three weeks.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Sees Brain Dust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Instagram post. Taps in. Reads the Apothecary passport — 7 adaptogens, citations, dosing.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Picks goals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Calm + Brain. App proposes a stack: Brain Dust + SuperYou + SuperHair. Editable.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Apple Pay checkout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Two taps. Subscribes to Brain Dust + SuperYou. Order tracked in-app.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RITUAL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Day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Morning push: 'Brain Dust in your coffee.' 1:32 audio with Amanda. Marks complete (no streak).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HABIT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Day 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Three weeks of completed mornings. Customer is no longer buying supplements — she has a daily practice.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USER FLOW ·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Rx-aware Apothecary chat — when to defer to a physician.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8194"/>
                </a:solidFill>
                <a:latin typeface="Calibri"/>
              </a:rPr>
              <a:t>The brand's reputation depends on never giving medical advice. The app makes that automatic.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Customer 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Sasha, on Adderall, asks if she can add Brain Dust to her stack.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AI flags interaction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Rhodiola in Brain Dust may interact with stimulants. AI declines to recommend until physician confirmation.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Concierge picks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AI escalates to human concierge. Sasha is asked for written physician confirmation via the practitioner portal.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CONFIRM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Physician note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Sasha's doctor responds via the app. Concierge updates Sasha's stack rules. Brain Dust unlocks.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TRUST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Brand earns 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What another brand might have answered casually, Moon Juice handled correctly. Sasha tells three friends.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USER FLOW ·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Refill Vault — turning a churned subscriber into a paused subscriber.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8194"/>
                </a:solidFill>
                <a:latin typeface="Calibri"/>
              </a:rPr>
              <a:t>Most brands lose customers on the cancel button. The Vault makes that rare.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Skipped twice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Customer skipped two consecutive refills of SuperHair. Studio flags as at-risk.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Calm 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Push notification: 'Notice you've been skipping. Want to pause for a season instead?'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Vacation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Customer taps Pause for 60 days. No card charge. App keeps her stack visible.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Auto-restart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60 days later, refill resumes. Customer didn't lift a finger and didn't have to phone customer service.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LTV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Saved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What would have been a churn is a 60-day pause. LTV protected. Trust intact.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VISUAL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What it looks like in hand.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8194"/>
                </a:solidFill>
                <a:latin typeface="Calibri"/>
              </a:rPr>
              <a:t>Wireframe-fidelity mockups in the brand palette — cosmic lavender, dusty rose, amber, 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EN/ES/FR · sign-in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36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036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Today's ritual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Apothecary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Per-product passport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092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092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Goals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Multi-select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Timed routines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Refill Vault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Subscription mgmt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8892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8036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8036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Adaptogen pills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12064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12064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Apothecary chat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Rx-aware AI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6948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6092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36092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194"/>
                </a:solidFill>
                <a:latin typeface="Calibri"/>
              </a:rPr>
              <a:t>Data · privacy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6FBF"/>
                </a:solidFill>
                <a:latin typeface="Calibri"/>
              </a:rPr>
              <a:t>Full interactive HTML mockup available — opens in any browser.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INTELLIGENCE · TIER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AI in service of the ritual — never the diagnosis.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8194"/>
                </a:solidFill>
                <a:latin typeface="Calibri"/>
              </a:rPr>
              <a:t>Every Tier 1 feature operates inside compliance guardrails. Sources cited; never invented.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B6FBF"/>
                </a:solidFill>
                <a:latin typeface="Georgia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Apothecary chat (Sonnet)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Multilingual adaptogen + dosing coach. Strict compliance guardrails.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B6FBF"/>
                </a:solidFill>
                <a:latin typeface="Georgia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Goal-to-stack recommender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Curated rules engine + AI. Cites adaptogens and timing.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B6FBF"/>
                </a:solidFill>
                <a:latin typeface="Georgia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Rx interaction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Customer-disclosed medications flag relevant adaptogens; routes to concierge.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B6FBF"/>
                </a:solidFill>
                <a:latin typeface="Georgia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Smart refill prediction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Usage-based; never pushy.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B6FBF"/>
                </a:solidFill>
                <a:latin typeface="Georgia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Multilingual brand-voice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EN-first; AI drafts ES/FR; brand glossary preserves Moon Dust, Dust, Glow.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B6FBF"/>
                </a:solidFill>
                <a:latin typeface="Georgia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Visual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Photograph a Moon Dust on Instagram, find it in the catalog.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INTELLIGENCE · TIER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AI that powers the practice and the back office.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8194"/>
                </a:solidFill>
                <a:latin typeface="Calibri"/>
              </a:rPr>
              <a:t>Phase 2 customer-facing AI plus operational AI the customer never sees.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B6FBF"/>
                </a:solidFill>
                <a:latin typeface="Georgia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AR ritual 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On-counter AR layout of your morning stack.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B6FBF"/>
                </a:solidFill>
                <a:latin typeface="Georgia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Smart-stack adapter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Adjusts based on cycle, sleep, stress signals (opt-in).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B6FBF"/>
                </a:solidFill>
                <a:latin typeface="Georgia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Returns triage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Routes refund vs replacement vs adjustment.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B6FBF"/>
                </a:solidFill>
                <a:latin typeface="Georgia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Demand-sensing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Wishlists + Stack signals feed harvest planning.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B6FBF"/>
                </a:solidFill>
                <a:latin typeface="Georgia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Multilingual content scaling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EN-first, AI drafts six languages, editor approval.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B6FBF"/>
                </a:solidFill>
                <a:latin typeface="Georgia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Counterfeit-listing 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Amazon / eBay / AliExpress vigilance.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0644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" y="6035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035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B6FBF"/>
                </a:solidFill>
                <a:latin typeface="Georgia"/>
              </a:rPr>
              <a:t>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943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Cycle-aware stack (cautious)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62636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Phase 3 only; FDA / FTC review on every claim.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580644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0" y="6035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6035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B6FBF"/>
                </a:solidFill>
                <a:latin typeface="Georgia"/>
              </a:rPr>
              <a:t>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5943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F3D"/>
                </a:solidFill>
                <a:latin typeface="Calibri"/>
              </a:rPr>
              <a:t>Practitioner-portal client tracking 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62636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Naturopath dashboards (with HIPAA-adjacent guardrails).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DATA WITH CONSENT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What we collect — and what we won't.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8194"/>
                </a:solidFill>
                <a:latin typeface="Calibri"/>
              </a:rPr>
              <a:t>Default to opt-in per category. A self-serve "what we know about you" screen, always.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944368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Identity &amp;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35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email, name, address — orders and shipping.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651760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19088" y="2944368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2743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3035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calm / sleep / beauty / brain / energy / libido / focus.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38728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831336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30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Allergies &amp; sensitivities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227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for safety filters on stack recommendations.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538728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9088" y="3831336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3630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Current Rx (opt-in)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39227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for interaction warnings — never shared, never sold.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25696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71830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5171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Subscriptions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8097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active refills, usage rate.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4425696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19088" y="471830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8" y="45171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Ritual engagement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48097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completions — no shaming, no streaks.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12664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560527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4041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Stack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6967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adaptogens used, when, paired.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5312664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19088" y="560527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8" y="54041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F3D"/>
                </a:solidFill>
                <a:latin typeface="Calibri"/>
              </a:rPr>
              <a:t>Channel of origin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56967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online / Sephora / Amazon / referral.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08076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126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 DO NOT COLLECT  ·  weight  ·  BMI  ·  symptom logs  ·  precise GPS  ·  contacts  ·  social-graph  ·  diagnosed conditions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HOW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A modern stack — boring where it should be, sharp where it counts.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F3D"/>
                </a:solidFill>
                <a:latin typeface="Calibri"/>
              </a:rPr>
              <a:t>•  React Native + Expo (iOS &amp; Android)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F3D"/>
                </a:solidFill>
                <a:latin typeface="Calibri"/>
              </a:rPr>
              <a:t>•  OTA updates for drop cadence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F3D"/>
                </a:solidFill>
                <a:latin typeface="Calibri"/>
              </a:rPr>
              <a:t>•  Apple / Google sign-in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F3D"/>
                </a:solidFill>
                <a:latin typeface="Calibri"/>
              </a:rPr>
              <a:t>•  Shopify storefront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F3D"/>
                </a:solidFill>
                <a:latin typeface="Calibri"/>
              </a:rPr>
              <a:t>•  Multi-currency USD/CAD/GBP/EUR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F3D"/>
                </a:solidFill>
                <a:latin typeface="Calibri"/>
              </a:rPr>
              <a:t>•  RevenueCat for subscriptions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Apothecary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F3D"/>
                </a:solidFill>
                <a:latin typeface="Calibri"/>
              </a:rPr>
              <a:t>•  Node + TypeScript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F3D"/>
                </a:solidFill>
                <a:latin typeface="Calibri"/>
              </a:rPr>
              <a:t>•  Postgres + pgvector for visual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F3D"/>
                </a:solidFill>
                <a:latin typeface="Calibri"/>
              </a:rPr>
              <a:t>•  Citation-linked claims engine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2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F3D"/>
                </a:solidFill>
                <a:latin typeface="Calibri"/>
              </a:rPr>
              <a:t>•  Claude (Sonnet 4.6 chat, Haiku 4.5 batch)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F3D"/>
                </a:solidFill>
                <a:latin typeface="Calibri"/>
              </a:rPr>
              <a:t>•  Strict compliance system prompts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F3D"/>
                </a:solidFill>
                <a:latin typeface="Calibri"/>
              </a:rPr>
              <a:t>•  PostHog analytics, Sentry 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THE STUDIO · WEB ADMIN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The internal twin of the mobile app.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8194"/>
                </a:solidFill>
                <a:latin typeface="Calibri"/>
              </a:rPr>
              <a:t>Customers use the mobile app. Your team uses The Studio. Same backend, same brand language — different surface for different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743200"/>
            <a:ext cx="39319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788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SHOPIFY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1089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Catalog · orders · payments — unchanged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11064240" cy="640080"/>
          </a:xfrm>
          <a:prstGeom prst="roundRect">
            <a:avLst>
              <a:gd name="adj" fmla="val 12000"/>
            </a:avLst>
          </a:prstGeom>
          <a:solidFill>
            <a:srgbClr val="E7D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04487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A3878"/>
                </a:solidFill>
                <a:latin typeface="Calibri"/>
              </a:rPr>
              <a:t>SHARED API · Postgres · Auth · AI gateway · Compliance engine · Refill 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7316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MOBILE APP — IOS &amp; ANDROID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F3D"/>
                </a:solidFill>
                <a:latin typeface="Calibri"/>
              </a:rPr>
              <a:t>Customer-facing · Ritual · Apothecary · Goals · Stack · Refill Vault · Shop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4754880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2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77316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THE STUDIO — WEB ADMIN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1208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F3D"/>
                </a:solidFill>
                <a:latin typeface="Calibri"/>
              </a:rPr>
              <a:t>Internal · Apothecary editor · Ritual library · Compliance review · Refill ops · concierge ·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BUILT FOR YOUR TEAM   —   editors, refill ops, concierge, and brand-side compliance review. Bilingual EN/ES.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HOW WE'LL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Roadmap — first nine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11064240" cy="25400"/>
          </a:xfrm>
          <a:prstGeom prst="rect">
            <a:avLst/>
          </a:prstGeom>
          <a:solidFill>
            <a:srgbClr val="E6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Weeks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A1F3D"/>
                </a:solidFill>
                <a:latin typeface="Georgia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Customer interviews (DTC subscriber, Sephora-acquired, practitioner, churned, new). Audit subscription + claims data. Brand-side legal alignment. Lock Phase 1 scope.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Weeks 3–18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A1F3D"/>
                </a:solidFill>
                <a:latin typeface="Georgia"/>
              </a:rPr>
              <a:t>Phase 1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Ritual, Apothecary, Goals, Refill Vault, Shop, Glow, Tier 1 AI with compliance guardrails, The Studio. EN/ES at launch.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Weeks 19–34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A1F3D"/>
                </a:solidFill>
                <a:latin typeface="Georgia"/>
              </a:rPr>
              <a:t>Phase 2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AR ritual, smart-stack, practitioner B2B portal, health-data integration, multilingual expansion.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1540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Weeks 35–42+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A1F3D"/>
                </a:solidFill>
                <a:latin typeface="Georgia"/>
              </a:rPr>
              <a:t>Phase 3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Editorial, VOICES films, content scaling, demand sensing, counterfeit detection, certification program.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HOW WE'LL KNOW IT'S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The metrics that matter.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6FBF"/>
                </a:solidFill>
                <a:latin typeface="Calibri"/>
              </a:rPr>
              <a:t>Ritual completion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% of users completing ≥1 ritual per week, month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1F3D"/>
                </a:solidFill>
                <a:latin typeface="Georgia"/>
              </a:rPr>
              <a:t>Target ≥ 50%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6FBF"/>
                </a:solidFill>
                <a:latin typeface="Calibri"/>
              </a:rPr>
              <a:t>Stack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% of users with a saved Stack, month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1F3D"/>
                </a:solidFill>
                <a:latin typeface="Georgia"/>
              </a:rPr>
              <a:t>Target ≥ 65%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6FBF"/>
                </a:solidFill>
                <a:latin typeface="Calibri"/>
              </a:rPr>
              <a:t>Refill churn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% of subscriptions churning quarterly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1F3D"/>
                </a:solidFill>
                <a:latin typeface="Georgia"/>
              </a:rPr>
              <a:t>Target −30% vs current 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6FBF"/>
                </a:solidFill>
                <a:latin typeface="Calibri"/>
              </a:rPr>
              <a:t>Pause-to-cancel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% of would-be cancels who pause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1F3D"/>
                </a:solidFill>
                <a:latin typeface="Georgia"/>
              </a:rPr>
              <a:t>Target ≥ 60%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6FBF"/>
                </a:solidFill>
                <a:latin typeface="Calibri"/>
              </a:rPr>
              <a:t>Apothecary chat completion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% of chats resolved without escalation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1F3D"/>
                </a:solidFill>
                <a:latin typeface="Georgia"/>
              </a:rPr>
              <a:t>Target ≥ 75% — escalations are signal, not failure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6FBF"/>
                </a:solidFill>
                <a:latin typeface="Calibri"/>
              </a:rPr>
              <a:t>Compliance flags caught pre-publish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% of FDA/FTC issues caught by Studio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1F3D"/>
                </a:solidFill>
                <a:latin typeface="Georgia"/>
              </a:rPr>
              <a:t>Target 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HOW IT WILL FEEL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Design principles.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6FBF"/>
                </a:solidFill>
                <a:latin typeface="Calibri"/>
              </a:rPr>
              <a:t>Calm, never punishing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No streaks, no FOMO, no shame. Wellness is a practice, not a leaderboard.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46888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6FBF"/>
                </a:solidFill>
                <a:latin typeface="Calibri"/>
              </a:rPr>
              <a:t>Cite, never invent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0632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Every adaptogen claim sources to peer-reviewed evidence. The AI never makes up science.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6FBF"/>
                </a:solidFill>
                <a:latin typeface="Calibri"/>
              </a:rPr>
              <a:t>Defer to physicians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When customers disclose Rx, the AI flags interactions and waits for physician confirmation.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862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6FBF"/>
                </a:solidFill>
                <a:latin typeface="Calibri"/>
              </a:rPr>
              <a:t>Subscription is a relationship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805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One-tap pause, skip, vacation. Never auto-charge the customer who asked you not 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0352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6FBF"/>
                </a:solidFill>
                <a:latin typeface="Calibri"/>
              </a:rPr>
              <a:t>Recognition over discount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Glow rewards ritual practice and bottle returns. Not new-buy bribes.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530352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486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6FBF"/>
                </a:solidFill>
                <a:latin typeface="Calibri"/>
              </a:rPr>
              <a:t>FTC-compliant by default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897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8194"/>
                </a:solidFill>
                <a:latin typeface="Calibri"/>
              </a:rPr>
              <a:t>Structure-function language only. No 'cure', 'treat', 'prevent disease.'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How we'd partner.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B6FBF"/>
                </a:solidFill>
                <a:latin typeface="Georgia"/>
              </a:rPr>
              <a:t>Discovery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8194"/>
                </a:solidFill>
                <a:latin typeface="Calibri"/>
              </a:rPr>
              <a:t>Two weeks. Customer interviews — DTC subscriber, Sephora-acquired, practitioner, churned, new buyer. Brand-side legal alignment on AI claims.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8600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560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B6FBF"/>
                </a:solidFill>
                <a:latin typeface="Georgia"/>
              </a:rPr>
              <a:t>Embedded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546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8194"/>
                </a:solidFill>
                <a:latin typeface="Calibri"/>
              </a:rPr>
              <a:t>A small team — lead engineer, mobile engineer, designer, bilingual QA — works as an extension of yours. Weekly demos.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B6FBF"/>
                </a:solidFill>
                <a:latin typeface="Georgia"/>
              </a:rPr>
              <a:t>Brand-side compliance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8194"/>
                </a:solidFill>
                <a:latin typeface="Calibri"/>
              </a:rPr>
              <a:t>Every customer-facing adaptogen, dosing, or interaction claim reviewed by your editorial / legal team. Non-negotiable.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2519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526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B6FBF"/>
                </a:solidFill>
                <a:latin typeface="Georgia"/>
              </a:rPr>
              <a:t>Always your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1206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8194"/>
                </a:solidFill>
                <a:latin typeface="Calibri"/>
              </a:rPr>
              <a:t>Source code, customer data, AI logs, the Apothecary citation library all live in your accounts.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6FBF"/>
                </a:solidFill>
                <a:latin typeface="Calibri"/>
              </a:rPr>
              <a:t>WHY THIS WORKS FOR MOON JUICE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F3D"/>
                </a:solidFill>
                <a:latin typeface="Georgia"/>
              </a:rPr>
              <a:t>The bet behind the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8B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73152" cy="868680"/>
          </a:xfrm>
          <a:prstGeom prst="rect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F3D"/>
                </a:solidFill>
                <a:latin typeface="Georgia"/>
              </a:rPr>
              <a:t>Education is your 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8194"/>
                </a:solidFill>
                <a:latin typeface="Calibri"/>
              </a:rPr>
              <a:t>The Moon Dust mythology is brilliant marketing. The app turns it into education — and education is what keeps a customer for 10 years.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73152" cy="868680"/>
          </a:xfrm>
          <a:prstGeom prst="rect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F3D"/>
                </a:solidFill>
                <a:latin typeface="Georgia"/>
              </a:rPr>
              <a:t>Refill is the LTV 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49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8194"/>
                </a:solidFill>
                <a:latin typeface="Calibri"/>
              </a:rPr>
              <a:t>A daily-ritual customer with 3+ subscriptions and pause-not-cancel mechanics is the highest LTV in wellness. The Vault makes that easier.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73152" cy="868680"/>
          </a:xfrm>
          <a:prstGeom prst="rect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51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F3D"/>
                </a:solidFill>
                <a:latin typeface="Georgia"/>
              </a:rPr>
              <a:t>Compliance is a 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8194"/>
                </a:solidFill>
                <a:latin typeface="Calibri"/>
              </a:rPr>
              <a:t>Most wellness brands grow until the FDA / FTC notices. Building compliance into the AI from day one is what lets the brand grow safely past Sephora into Whole Foods, Target, EU.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6360"/>
            <a:ext cx="73152" cy="868680"/>
          </a:xfrm>
          <a:prstGeom prst="rect">
            <a:avLst/>
          </a:prstGeom>
          <a:solidFill>
            <a:srgbClr val="8B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F3D"/>
                </a:solidFill>
                <a:latin typeface="Georgia"/>
              </a:rPr>
              <a:t>AI in service of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69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8194"/>
                </a:solidFill>
                <a:latin typeface="Calibri"/>
              </a:rPr>
              <a:t>We use AI to coach, recommend, translate, predict. Never to diagnose. Never to invent. The brand's reputation is safer for the building.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8194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8194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1097280"/>
            <a:ext cx="365760" cy="365760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10544" y="2615184"/>
            <a:ext cx="256032" cy="256032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08592" y="3639312"/>
            <a:ext cx="402336" cy="402336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26496" y="4974336"/>
            <a:ext cx="292608" cy="292608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31552" y="5742432"/>
            <a:ext cx="219456" cy="219456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85E"/>
                </a:solidFill>
                <a:latin typeface="Calibri"/>
              </a:rPr>
              <a:t>NEXT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0584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  <a:latin typeface="Georgia"/>
              </a:rPr>
              <a:t>A two-week paid discovery.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3E8C7"/>
                </a:solidFill>
                <a:latin typeface="Calibri"/>
              </a:rPr>
              <a:t>We sit with your team. We talk to ten of your customers — DTC subscriber, Sephora-acquired, practitioner, churned, new buyer. We sit with your legal team and align on what the AI can and can't say. We come back with a lockable Phase 1 scope and a working prototype of the Apothecary and Refill Vault flows in EN and 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85E"/>
                </a:solidFill>
                <a:latin typeface="Calibri"/>
              </a:rPr>
              <a:t>WHAT YOU 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lockable feature scope, costed and timeboxed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An interactive prototype of two core flows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Brand-side legal alignment on AI claims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go / no-go recommendation. Yours either way.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3E8C7"/>
                </a:solidFill>
                <a:latin typeface="Calibri"/>
              </a:rPr>
              <a:t>Moon Juice · Mobile App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3E8C7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