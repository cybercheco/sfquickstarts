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14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9295" cy="1828800"/>
          </a:xfrm>
          <a:prstGeom prst="rect">
            <a:avLst/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0" y="0"/>
            <a:ext cx="4419295" cy="457200"/>
          </a:xfrm>
          <a:prstGeom prst="rect">
            <a:avLst/>
          </a:prstGeom>
          <a:solidFill>
            <a:srgbClr val="C89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1097280"/>
            <a:ext cx="365760" cy="365760"/>
          </a:xfrm>
          <a:prstGeom prst="ellipse">
            <a:avLst/>
          </a:prstGeom>
          <a:solidFill>
            <a:srgbClr val="C89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20272" y="2633472"/>
            <a:ext cx="219456" cy="219456"/>
          </a:xfrm>
          <a:prstGeom prst="ellipse">
            <a:avLst/>
          </a:prstGeom>
          <a:solidFill>
            <a:srgbClr val="C89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45168" y="3675888"/>
            <a:ext cx="329184" cy="329184"/>
          </a:xfrm>
          <a:prstGeom prst="ellipse">
            <a:avLst/>
          </a:prstGeom>
          <a:solidFill>
            <a:srgbClr val="C89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44784" y="4992624"/>
            <a:ext cx="256032" cy="256032"/>
          </a:xfrm>
          <a:prstGeom prst="ellipse">
            <a:avLst/>
          </a:prstGeom>
          <a:solidFill>
            <a:srgbClr val="C89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0" y="6035040"/>
            <a:ext cx="182880" cy="182880"/>
          </a:xfrm>
          <a:prstGeom prst="ellipse">
            <a:avLst/>
          </a:prstGeom>
          <a:solidFill>
            <a:srgbClr val="C89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914400"/>
            <a:ext cx="73152" cy="2194560"/>
          </a:xfrm>
          <a:prstGeom prst="rect">
            <a:avLst/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9144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F5A78"/>
                </a:solidFill>
                <a:latin typeface="Calibri"/>
              </a:rPr>
              <a:t>MOBILE APP · PITCH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32588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>
                <a:solidFill>
                  <a:srgbClr val="1D2A3A"/>
                </a:solidFill>
                <a:latin typeface="Georgia"/>
              </a:rPr>
              <a:t>Kotn.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68880"/>
            <a:ext cx="6858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F5A78"/>
                </a:solidFill>
                <a:latin typeface="Georgia"/>
              </a:rPr>
              <a:t>From the Nile,</a:t>
            </a:r>
          </a:p>
          <a:p>
            <a:pPr algn="l"/>
            <a:r>
              <a:rPr sz="2800" b="0">
                <a:solidFill>
                  <a:srgbClr val="2F5A78"/>
                </a:solidFill>
                <a:latin typeface="Georgia"/>
              </a:rPr>
              <a:t>to your wardrobe.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206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A7569"/>
                </a:solidFill>
                <a:latin typeface="Calibri"/>
              </a:rPr>
              <a:t>A thread between the customer and the people who made what she wears.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864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Prepared for the Kotn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5A78"/>
                </a:solidFill>
                <a:latin typeface="Calibr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D2A3A"/>
                </a:solidFill>
                <a:latin typeface="Georgia"/>
              </a:rPr>
              <a:t>Sustainable essentials are now expected to prove themselves.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576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0">
                <a:solidFill>
                  <a:srgbClr val="2F5A78"/>
                </a:solidFill>
                <a:latin typeface="Georgia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of Kotn cotton is direct-trade,</a:t>
            </a:r>
          </a:p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traceable from farm to hanger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A7569"/>
                </a:solidFill>
                <a:latin typeface="Calibri"/>
              </a:rPr>
              <a:t>No competitor in the category can say this.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94560"/>
            <a:ext cx="36576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560320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0">
                <a:solidFill>
                  <a:srgbClr val="2F5A78"/>
                </a:solidFill>
                <a:latin typeface="Georgia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7490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primary schools funded</a:t>
            </a:r>
          </a:p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in Egyptian farming villages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8463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A7569"/>
                </a:solidFill>
                <a:latin typeface="Calibri"/>
              </a:rPr>
              <a:t>A real, audited social outcome — not a marketing claim.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194560"/>
            <a:ext cx="36576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560320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0">
                <a:solidFill>
                  <a:srgbClr val="2F5A78"/>
                </a:solidFill>
                <a:latin typeface="Georgia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74904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stores across Toronto, Montréal,</a:t>
            </a:r>
          </a:p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Vancouver, Calgary, NYC, 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8463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A7569"/>
                </a:solidFill>
                <a:latin typeface="Calibri"/>
              </a:rPr>
              <a:t>Each is a community. The app is what links them.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7569"/>
                </a:solidFill>
                <a:latin typeface="Calibri"/>
              </a:rPr>
              <a:t>Kotn · Mobile App Pitch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7569"/>
                </a:solidFill>
                <a:latin typeface="Calibri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5A78"/>
                </a:solidFill>
                <a:latin typeface="Calibri"/>
              </a:rPr>
              <a:t>THE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D2A3A"/>
                </a:solidFill>
                <a:latin typeface="Georgia"/>
              </a:rPr>
              <a:t>Not another store — a thread to the people who made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D2A3A"/>
                </a:solidFill>
                <a:latin typeface="Georgia"/>
              </a:rPr>
              <a:t>Kotn's product is essential clothing in 100% Egyptian cotton; the brand's moat is that every step from cotton boll to hanger is traceable, and every purchase funds a measurable social outcome.</a:t>
            </a:r>
          </a:p>
          <a:p>
            <a:pPr algn="l"/>
            <a:r>
              <a:rPr sz="2000" b="0">
                <a:solidFill>
                  <a:srgbClr val="1D2A3A"/>
                </a:solidFill>
                <a:latin typeface="Georgia"/>
              </a:rPr>
              <a:t/>
            </a:r>
          </a:p>
          <a:p>
            <a:pPr algn="l"/>
            <a:r>
              <a:rPr sz="2000" b="0">
                <a:solidFill>
                  <a:srgbClr val="1D2A3A"/>
                </a:solidFill>
                <a:latin typeface="Georgia"/>
              </a:rPr>
              <a:t>Most of that story is lost in a checkout flow. The app surfaces it — calmly, honestly, without guilt-tripping — and turns the buyer of a t-shirt into the ally of a community.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5A78"/>
                </a:solidFill>
                <a:latin typeface="Calibri"/>
              </a:rP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778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D2A3A"/>
                </a:solidFill>
                <a:latin typeface="Calibri"/>
              </a:rPr>
              <a:t>• Surfaces the brand's strongest moat — verifiable provenance — at the moment of use</a:t>
            </a:r>
          </a:p>
          <a:p>
            <a:pPr algn="l"/>
            <a:r>
              <a:rPr sz="1300" b="0">
                <a:solidFill>
                  <a:srgbClr val="1D2A3A"/>
                </a:solidFill>
                <a:latin typeface="Calibri"/>
              </a:rPr>
              <a:t>• Turns the customer into a long-term ally, not a one-time buyer</a:t>
            </a:r>
          </a:p>
          <a:p>
            <a:pPr algn="l"/>
            <a:r>
              <a:rPr sz="1300" b="0">
                <a:solidFill>
                  <a:srgbClr val="1D2A3A"/>
                </a:solidFill>
                <a:latin typeface="Calibri"/>
              </a:rPr>
              <a:t>• Builds the audit-ready impact ledger the brand already has — and lets it travel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7569"/>
                </a:solidFill>
                <a:latin typeface="Calibri"/>
              </a:rPr>
              <a:t>Kotn · Mobile App Pitch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7569"/>
                </a:solidFill>
                <a:latin typeface="Calibri"/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5A78"/>
                </a:solidFill>
                <a:latin typeface="Calibri"/>
              </a:rPr>
              <a:t>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D2A3A"/>
                </a:solidFill>
                <a:latin typeface="Georgia"/>
              </a:rPr>
              <a:t>Six pillars — five customer-facing, one internal.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576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91440" cy="2057400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F5A78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D2A3A"/>
                </a:solidFill>
                <a:latin typeface="Georgia"/>
              </a:rPr>
              <a:t>The Origin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375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Every piece scannable to its full provenance ledger — farm, mill, maker, citations.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194560"/>
            <a:ext cx="36576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2194560"/>
            <a:ext cx="91440" cy="2057400"/>
          </a:xfrm>
          <a:prstGeom prst="roundRect">
            <a:avLst>
              <a:gd name="adj" fmla="val 12000"/>
            </a:avLst>
          </a:prstGeom>
          <a:solidFill>
            <a:srgbClr val="6B8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377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6B8E63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8346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D2A3A"/>
                </a:solidFill>
                <a:latin typeface="Georgia"/>
              </a:rPr>
              <a:t>The Wardrobe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3375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Register every piece. Cost-per-wear. Outfit grid. Slow-fashion bedrock.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194560"/>
            <a:ext cx="36576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2194560"/>
            <a:ext cx="91440" cy="2057400"/>
          </a:xfrm>
          <a:prstGeom prst="roundRect">
            <a:avLst>
              <a:gd name="adj" fmla="val 12000"/>
            </a:avLst>
          </a:prstGeom>
          <a:solidFill>
            <a:srgbClr val="B86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377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B8642A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8346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D2A3A"/>
                </a:solidFill>
                <a:latin typeface="Georgia"/>
              </a:rPr>
              <a:t>The Atelier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3375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Care, repair, mending kits. Make it last.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416552"/>
            <a:ext cx="36576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4416552"/>
            <a:ext cx="91440" cy="2057400"/>
          </a:xfrm>
          <a:prstGeom prst="roundRect">
            <a:avLst>
              <a:gd name="adj" fmla="val 12000"/>
            </a:avLst>
          </a:prstGeom>
          <a:solidFill>
            <a:srgbClr val="C89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5994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C89868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5663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D2A3A"/>
                </a:solidFill>
                <a:latin typeface="Georgia"/>
              </a:rPr>
              <a:t>The Field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559552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Personal impact. Schools funded. Dispatches from the Delta.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416552"/>
            <a:ext cx="36576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43400" y="4416552"/>
            <a:ext cx="91440" cy="2057400"/>
          </a:xfrm>
          <a:prstGeom prst="roundRect">
            <a:avLst>
              <a:gd name="adj" fmla="val 12000"/>
            </a:avLst>
          </a:prstGeom>
          <a:solidFill>
            <a:srgbClr val="14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45994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43247"/>
                </a:solidFill>
                <a:latin typeface="Georgia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505663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D2A3A"/>
                </a:solidFill>
                <a:latin typeface="Georgia"/>
              </a:rPr>
              <a:t>The Shop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5559552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Calm, multi-region, drop-aware. Store-event push.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416552"/>
            <a:ext cx="3657600" cy="2057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38160" y="4416552"/>
            <a:ext cx="91440" cy="2057400"/>
          </a:xfrm>
          <a:prstGeom prst="roundRect">
            <a:avLst>
              <a:gd name="adj" fmla="val 12000"/>
            </a:avLst>
          </a:prstGeom>
          <a:solidFill>
            <a:srgbClr val="1D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45994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D2A3A"/>
                </a:solidFill>
                <a:latin typeface="Georgia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505663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D2A3A"/>
                </a:solidFill>
                <a:latin typeface="Georgia"/>
              </a:rPr>
              <a:t>The Studio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559552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Internal-facing web admin portal — origin editor, education ledger, concierge.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7569"/>
                </a:solidFill>
                <a:latin typeface="Calibri"/>
              </a:rPr>
              <a:t>Kotn · Mobile App Pitch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7569"/>
                </a:solidFill>
                <a:latin typeface="Calibri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5A78"/>
                </a:solidFill>
                <a:latin typeface="Calibri"/>
              </a:rPr>
              <a:t>PHASE 1 · LAUNCH (MONTHS 0–4)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D2A3A"/>
                </a:solidFill>
                <a:latin typeface="Georgia"/>
              </a:rPr>
              <a:t>Foundations: Origin, Wardrobe, Atelier, Field, Shop, Threads.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A7569"/>
                </a:solidFill>
                <a:latin typeface="Calibri"/>
              </a:rPr>
              <a:t>Everything a customer needs to feel the brand's story in their first 90 days.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Multilingual onboarding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EN + FR at launch · AR / GB / EU expandable.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Multi-region storefront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CA · US · UK · EU. Currency follows the customer.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The Origin passport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Scan QR/NFC tag — farm, mill, maker, citation links.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Maker audio (90-sec)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Voiced by the farmer or sewer, AR with EN/FR subtitles.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The Wardrobe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Register every piece, see cost-per-wear, build outfits.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652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The Atelier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Care guides, repair videos, order mending kits, book repair drop-off.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The Field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Personal impact summary — schools funded, days of education.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4652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Maker dispatches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Curator-approved, opt-in stories from the Nile Delta.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667512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22960" y="704088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" y="67848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Annual transparency report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70866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Citation-linked, exportable as PDF.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200" y="667512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446520" y="704088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20840" y="67848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Drops + restock alerts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70866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Region-aware push notifications.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76809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22960" y="80467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7280" y="77906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Store-event push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" y="80924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Block parties, mending workshops, supplier visits.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72200" y="76809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446520" y="80467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20840" y="77906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Threads loyalty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80924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Recognition, not bribery — points for registering pieces, store visits.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8640" y="86868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22960" y="90525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97280" y="87965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Origin summary AI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7280" y="90982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Claude drafts passport stories; editors approve before publish.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72200" y="86868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446520" y="90525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20840" y="87965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Atelier care + fit chat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20840" y="90982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Multilingual, past-order context.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48640" y="96926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22960" y="100584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97280" y="98023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Wardrobe-gap analyser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97280" y="101041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"You're missing a true-white tee."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72200" y="96926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446520" y="100584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720840" y="98023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The Studio (web admin)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20840" y="101041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Origin editor, education ledger, drop scheduler, concierge, analytics.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7569"/>
                </a:solidFill>
                <a:latin typeface="Calibri"/>
              </a:rPr>
              <a:t>Kotn · Mobile App Pitch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7569"/>
                </a:solidFill>
                <a:latin typeface="Calibri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5A78"/>
                </a:solidFill>
                <a:latin typeface="Calibri"/>
              </a:rPr>
              <a:t>PHASE 2 · DEPTH (MONTHS 5–9)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D2A3A"/>
                </a:solidFill>
                <a:latin typeface="Georgia"/>
              </a:rPr>
              <a:t>AR provenance, repair triage, in-store at scale.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A7569"/>
                </a:solidFill>
                <a:latin typeface="Calibri"/>
              </a:rPr>
              <a:t>Features that turn the launch into a category-defining brand experience.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AR provenance overlay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Point camera at piece, see origin region overlaid on the garment.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Photo-based repair triage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Vision AI classifies wear/damage, returns DIY guide or atelier quote.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In-store events at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Mending workshops, cotton-tasting, livestreamed supplier visits.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Heritage / archive sale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Past-season pieces re-released with full provenance.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Wholesale / corporate gifting portal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Bulk orders, hotel partners, B2B with SSO.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652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Maker-direct video Q&amp;A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Quarterly live sessions from the Delta · EN/FR/AR.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Returns triage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Fit-related vs damage-related routing; reduces handling cost.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4652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Demand-sensing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Wishlists + waitlists + cultural calendar feed planting plans.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7569"/>
                </a:solidFill>
                <a:latin typeface="Calibri"/>
              </a:rPr>
              <a:t>Kotn · Mobile App Pitch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7569"/>
                </a:solidFill>
                <a:latin typeface="Calibri"/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5A78"/>
                </a:solidFill>
                <a:latin typeface="Calibri"/>
              </a:rPr>
              <a:t>PHASE 3 · CULTURAL AUTHORITY (MONTHS 10+)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D2A3A"/>
                </a:solidFill>
                <a:latin typeface="Georgia"/>
              </a:rPr>
              <a:t>From an app to a movement.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A7569"/>
                </a:solidFill>
                <a:latin typeface="Calibri"/>
              </a:rPr>
              <a:t>Long-form storytelling, community, operational 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Editorial / journal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Long-form on slow fashion, supply chain, education.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65176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301752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7614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Annual VOICES film series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063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Short docs from the field — farmers, makers, school kids.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Multilingual content scaling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EN-first, AI drafts FR/AR/ES/IT for editor review.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5760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402336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76732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Counterfeit listing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0690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Amazon, eBay, Asian marketplaces.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VIP signal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Concierge welcomes high-value supporters early.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66344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6520" y="502920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4773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School-impact narrative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0749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Auto-builds annual letter to customers from real ledger data.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Maker-community marketplace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Direct-from-the-source small-batch craft, audited.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5669280"/>
            <a:ext cx="5486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46520" y="6035040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57790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Carbon-tariff readiness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6080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Audit-ready data export for EU CBAM and similar regulations.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7569"/>
                </a:solidFill>
                <a:latin typeface="Calibri"/>
              </a:rPr>
              <a:t>Kotn · Mobile App Pitch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7569"/>
                </a:solidFill>
                <a:latin typeface="Calibri"/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5A78"/>
                </a:solidFill>
                <a:latin typeface="Calibri"/>
              </a:rP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D2A3A"/>
                </a:solidFill>
                <a:latin typeface="Georgia"/>
              </a:rPr>
              <a:t>Onboarding — under 90 seconds, in any language.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A7569"/>
                </a:solidFill>
                <a:latin typeface="Calibri"/>
              </a:rPr>
              <a:t>The first screen earns trust by asking what the customer cares about — not what they look like.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210312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F5A78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Bonjour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6908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Welcome in four languages.</a:t>
            </a:r>
          </a:p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Tap your language; everything follows.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60904" y="4114800"/>
            <a:ext cx="164592" cy="365760"/>
          </a:xfrm>
          <a:prstGeom prst="rightArrow">
            <a:avLst/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4640" y="2651760"/>
            <a:ext cx="210312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F5A78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566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Sign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06908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Apple, Google, or email.</a:t>
            </a:r>
          </a:p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No forms.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946904" y="4114800"/>
            <a:ext cx="164592" cy="365760"/>
          </a:xfrm>
          <a:prstGeom prst="rightArrow">
            <a:avLst/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20640" y="2651760"/>
            <a:ext cx="210312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F5A78"/>
                </a:solidFill>
                <a:latin typeface="Georg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566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What matters?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406908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Sustainability · craft · minimalism</a:t>
            </a:r>
          </a:p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· supply chain · maker stories.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232904" y="4114800"/>
            <a:ext cx="164592" cy="365760"/>
          </a:xfrm>
          <a:prstGeom prst="rightArrow">
            <a:avLst/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06640" y="2651760"/>
            <a:ext cx="210312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F5A78"/>
                </a:solidFill>
                <a:latin typeface="Georg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3566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Sizes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06908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Pull from past Shopify orders</a:t>
            </a:r>
          </a:p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or 4 quick taps. No body shape required.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518904" y="4114800"/>
            <a:ext cx="164592" cy="365760"/>
          </a:xfrm>
          <a:prstGeom prst="rightArrow">
            <a:avLst/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92640" y="2651760"/>
            <a:ext cx="210312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6960" y="29260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2F5A78"/>
                </a:solidFill>
                <a:latin typeface="Georgia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566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First moment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4069080"/>
            <a:ext cx="1554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Scan a piece you own —</a:t>
            </a:r>
          </a:p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or see your impact this year.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F5A78"/>
                </a:solidFill>
                <a:latin typeface="Calibri"/>
              </a:rPr>
              <a:t>DESIGN PRINCIPLE   —   Earn trust by asking what matters before asking who you are.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7569"/>
                </a:solidFill>
                <a:latin typeface="Calibri"/>
              </a:rPr>
              <a:t>Kotn · Mobile App Pitch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7569"/>
                </a:solidFill>
                <a:latin typeface="Calibri"/>
              </a:rP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5A78"/>
                </a:solidFill>
                <a:latin typeface="Calibri"/>
              </a:rPr>
              <a:t>USER FLOW · 1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D2A3A"/>
                </a:solidFill>
                <a:latin typeface="Georgia"/>
              </a:rPr>
              <a:t>First purchase → ally of the community.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A7569"/>
                </a:solidFill>
                <a:latin typeface="Calibri"/>
              </a:rPr>
              <a:t>From a curious tap on Instagram to a customer who knows the names of the people who made what she wears.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2A3A"/>
                </a:solidFill>
                <a:latin typeface="Calibri"/>
              </a:rPr>
              <a:t>Sees a maker dispatch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A7569"/>
                </a:solidFill>
                <a:latin typeface="Calibri"/>
              </a:rPr>
              <a:t>Instagram post: Mahmoud Soliman talks about the harvest. She taps in. Saves a Field Tee.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32888" y="4069080"/>
            <a:ext cx="228600" cy="365760"/>
          </a:xfrm>
          <a:prstGeom prst="rightArrow">
            <a:avLst/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07208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07208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0088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DECIDE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2A3A"/>
                </a:solidFill>
                <a:latin typeface="Calibri"/>
              </a:rPr>
              <a:t>Asks the Atelier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A7569"/>
                </a:solidFill>
                <a:latin typeface="Calibri"/>
              </a:rPr>
              <a:t>AI uses past order context. Recommends size S in regular fit. Confidence builds.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91456" y="4069080"/>
            <a:ext cx="228600" cy="365760"/>
          </a:xfrm>
          <a:prstGeom prst="rightArrow">
            <a:avLst/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65776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65776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8656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BUY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2A3A"/>
                </a:solidFill>
                <a:latin typeface="Calibri"/>
              </a:rPr>
              <a:t>Apple Pay checkout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6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A7569"/>
                </a:solidFill>
                <a:latin typeface="Calibri"/>
              </a:rPr>
              <a:t>Two taps. Order tracked in-app. Confirmation says: "3.2 days of school funded by this order."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50024" y="4069080"/>
            <a:ext cx="228600" cy="365760"/>
          </a:xfrm>
          <a:prstGeom prst="rightArrow">
            <a:avLst/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24344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24344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07224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UNBOX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2A3A"/>
                </a:solidFill>
                <a:latin typeface="Calibri"/>
              </a:rPr>
              <a:t>Scans the QR tag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A7569"/>
                </a:solidFill>
                <a:latin typeface="Calibri"/>
              </a:rPr>
              <a:t>One scan opens The Origin — the Soliman farm, the Mahalla mill, the Cairo collective. 90-sec audio in Mahmoud's voice.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308592" y="4069080"/>
            <a:ext cx="228600" cy="365760"/>
          </a:xfrm>
          <a:prstGeom prst="rightArrow">
            <a:avLst/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82912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82912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5792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ALLY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1512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2A3A"/>
                </a:solidFill>
                <a:latin typeface="Calibri"/>
              </a:rPr>
              <a:t>Watches the impact grow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1512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A7569"/>
                </a:solidFill>
                <a:latin typeface="Calibri"/>
              </a:rPr>
              <a:t>Three months in: 14 pieces in wardrobe, 47 days of school funded, first dispatch from the Cairo collective lands in The Field.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7569"/>
                </a:solidFill>
                <a:latin typeface="Calibri"/>
              </a:rPr>
              <a:t>Kotn · Mobile App Pitch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7569"/>
                </a:solidFill>
                <a:latin typeface="Calibri"/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5A78"/>
                </a:solidFill>
                <a:latin typeface="Calibri"/>
              </a:rPr>
              <a:t>USER FLOW · 2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D2A3A"/>
                </a:solidFill>
                <a:latin typeface="Georgia"/>
              </a:rPr>
              <a:t>Make it last — care, repair, return to wear.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A7569"/>
                </a:solidFill>
                <a:latin typeface="Calibri"/>
              </a:rPr>
              <a:t>The opposite of fast fashion: the app celebrates the seam-fix, the patina, the cost-per-wear.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WEAR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2A3A"/>
                </a:solidFill>
                <a:latin typeface="Calibri"/>
              </a:rPr>
              <a:t>Logs each wear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A7569"/>
                </a:solidFill>
                <a:latin typeface="Calibri"/>
              </a:rPr>
              <a:t>Quick tap when she puts on the Field Tee. Wear count grows; cost-per-wear visible in the Wardrobe.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32888" y="4069080"/>
            <a:ext cx="228600" cy="365760"/>
          </a:xfrm>
          <a:prstGeom prst="rightArrow">
            <a:avLst/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07208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07208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0088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DAMAGE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2A3A"/>
                </a:solidFill>
                <a:latin typeface="Calibri"/>
              </a:rPr>
              <a:t>A small hole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A7569"/>
                </a:solidFill>
                <a:latin typeface="Calibri"/>
              </a:rPr>
              <a:t>Snags on a chair. Opens The Atelier, films the damage. Vision AI: "DIY guide, 4-min repair."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91456" y="4069080"/>
            <a:ext cx="228600" cy="365760"/>
          </a:xfrm>
          <a:prstGeom prst="rightArrow">
            <a:avLst/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65776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65776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8656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REPAIR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2A3A"/>
                </a:solidFill>
                <a:latin typeface="Calibri"/>
              </a:rPr>
              <a:t>Orders a kit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6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A7569"/>
                </a:solidFill>
                <a:latin typeface="Calibri"/>
              </a:rPr>
              <a:t>Mending kit · cotton · CA$18 or 200 Threads. Brief explains the technique. Arrives in 3 days.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50024" y="4069080"/>
            <a:ext cx="228600" cy="365760"/>
          </a:xfrm>
          <a:prstGeom prst="rightArrow">
            <a:avLst/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24344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24344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07224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FIX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2A3A"/>
                </a:solidFill>
                <a:latin typeface="Calibri"/>
              </a:rPr>
              <a:t>Watches the video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A7569"/>
                </a:solidFill>
                <a:latin typeface="Calibri"/>
              </a:rPr>
              <a:t>Soha from the Cairo collective demonstrates the stitch. The customer learns a craft she didn't know she wanted.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308592" y="4069080"/>
            <a:ext cx="228600" cy="365760"/>
          </a:xfrm>
          <a:prstGeom prst="rightArrow">
            <a:avLst/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82912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82912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5792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RETURN TO WEAR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1512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2A3A"/>
                </a:solidFill>
                <a:latin typeface="Calibri"/>
              </a:rPr>
              <a:t>Logs the repair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1512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A7569"/>
                </a:solidFill>
                <a:latin typeface="Calibri"/>
              </a:rPr>
              <a:t>Repaired piece flagged in the Wardrobe. Cost-per-wear drops further. The app says: "Made better, enjoyed longer."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7569"/>
                </a:solidFill>
                <a:latin typeface="Calibri"/>
              </a:rPr>
              <a:t>Kotn · Mobile App Pitch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7569"/>
                </a:solidFill>
                <a:latin typeface="Calibri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5A78"/>
                </a:solidFill>
                <a:latin typeface="Calibri"/>
              </a:rPr>
              <a:t>USER FLOW · 3 OF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D2A3A"/>
                </a:solidFill>
                <a:latin typeface="Georgia"/>
              </a:rPr>
              <a:t>The transparency-conscious customer's husband.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A7569"/>
                </a:solidFill>
                <a:latin typeface="Calibri"/>
              </a:rPr>
              <a:t>Some customers buy because their partner pushes back. The app gives them the receipts.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2A3A"/>
                </a:solidFill>
                <a:latin typeface="Calibri"/>
              </a:rPr>
              <a:t>"Are you sure?"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A7569"/>
                </a:solidFill>
                <a:latin typeface="Calibri"/>
              </a:rPr>
              <a:t>Anaïs's husband questions the provenance claims on her new linen shirt. Reasonable scepticism.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32888" y="4069080"/>
            <a:ext cx="228600" cy="365760"/>
          </a:xfrm>
          <a:prstGeom prst="rightArrow">
            <a:avLst/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07208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07208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0088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SHOW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2A3A"/>
                </a:solidFill>
                <a:latin typeface="Calibri"/>
              </a:rPr>
              <a:t>Opens The Origin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A7569"/>
                </a:solidFill>
                <a:latin typeface="Calibri"/>
              </a:rPr>
              <a:t>Scans the tag. Full ledger appears — farm, mill, collective, with audit citations. He clicks the BSCI audit link.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91456" y="4069080"/>
            <a:ext cx="228600" cy="365760"/>
          </a:xfrm>
          <a:prstGeom prst="rightArrow">
            <a:avLst/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65776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65776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8656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2A3A"/>
                </a:solidFill>
                <a:latin typeface="Calibri"/>
              </a:rPr>
              <a:t>Audit document loads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6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A7569"/>
                </a:solidFill>
                <a:latin typeface="Calibri"/>
              </a:rPr>
              <a:t>Q3 2025 BSCI audit · score A · maker living wage confirmed. "OK."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50024" y="4069080"/>
            <a:ext cx="228600" cy="365760"/>
          </a:xfrm>
          <a:prstGeom prst="rightArrow">
            <a:avLst/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24344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24344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07224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CONVERT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2A3A"/>
                </a:solidFill>
                <a:latin typeface="Calibri"/>
              </a:rPr>
              <a:t>Asks the Atelier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A7569"/>
                </a:solidFill>
                <a:latin typeface="Calibri"/>
              </a:rPr>
              <a:t>Five minutes later he's asking Atelier about a Crew Sweat for himself. Concierge gets a +1 quietly added.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308592" y="4069080"/>
            <a:ext cx="228600" cy="365760"/>
          </a:xfrm>
          <a:prstGeom prst="rightArrow">
            <a:avLst/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82912" y="2560320"/>
            <a:ext cx="1938528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82912" y="2560320"/>
            <a:ext cx="1938528" cy="502920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65792" y="2606040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BUY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1512" y="3246120"/>
            <a:ext cx="14813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2A3A"/>
                </a:solidFill>
                <a:latin typeface="Calibri"/>
              </a:rPr>
              <a:t>Becomes a customer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11512" y="4023360"/>
            <a:ext cx="148132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A7569"/>
                </a:solidFill>
                <a:latin typeface="Calibri"/>
              </a:rPr>
              <a:t>Two months later he owns three pieces. The customer he was sceptical of is now the customer who told him about the brand.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7569"/>
                </a:solidFill>
                <a:latin typeface="Calibri"/>
              </a:rPr>
              <a:t>Kotn · Mobile App Pitch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7569"/>
                </a:solidFill>
                <a:latin typeface="Calibri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5A78"/>
                </a:solidFill>
                <a:latin typeface="Calibri"/>
              </a:rPr>
              <a:t>VISUAL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D2A3A"/>
                </a:solidFill>
                <a:latin typeface="Georgia"/>
              </a:rPr>
              <a:t>What it looks like in hand.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A7569"/>
                </a:solidFill>
                <a:latin typeface="Calibri"/>
              </a:rPr>
              <a:t>Wireframe-fidelity mockups in the brand palette — unbleached cotton, Nile blue, sand, harvest green.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1D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5603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5603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877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Onboarding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A7569"/>
                </a:solidFill>
                <a:latin typeface="Calibri"/>
              </a:rPr>
              <a:t>4 languages · sign-in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24688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1D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80360" y="25603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80360" y="25603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25877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Home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1089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A7569"/>
                </a:solidFill>
                <a:latin typeface="Calibri"/>
              </a:rPr>
              <a:t>Personal impact · drops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24688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1D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20640" y="25603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20640" y="25603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25877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Origin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1089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A7569"/>
                </a:solidFill>
                <a:latin typeface="Calibri"/>
              </a:rPr>
              <a:t>Provenance ledger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24688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1D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60920" y="25603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60920" y="25603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25877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Wardrobe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31089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A7569"/>
                </a:solidFill>
                <a:latin typeface="Calibri"/>
              </a:rPr>
              <a:t>Cost-per-wear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24688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1D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01200" y="25603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01200" y="25603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25877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31089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A7569"/>
                </a:solidFill>
                <a:latin typeface="Calibri"/>
              </a:rPr>
              <a:t>Origin pills · ask AI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5262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1D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" y="46177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" y="46177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6451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Atelier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1663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A7569"/>
                </a:solidFill>
                <a:latin typeface="Calibri"/>
              </a:rPr>
              <a:t>Care · repair · kits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88920" y="45262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1D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880360" y="46177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80360" y="46177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71800" y="46451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The Field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71800" y="51663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A7569"/>
                </a:solidFill>
                <a:latin typeface="Calibri"/>
              </a:rPr>
              <a:t>Impact · dispatches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0" y="45262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1D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120640" y="46177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120640" y="46177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12080" y="46451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Atelier chat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80" y="51663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A7569"/>
                </a:solidFill>
                <a:latin typeface="Calibri"/>
              </a:rPr>
              <a:t>Multilingual fit + care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69480" y="4526280"/>
            <a:ext cx="2103120" cy="1828800"/>
          </a:xfrm>
          <a:prstGeom prst="roundRect">
            <a:avLst>
              <a:gd name="adj" fmla="val 12000"/>
            </a:avLst>
          </a:prstGeom>
          <a:solidFill>
            <a:srgbClr val="1D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360920" y="4617720"/>
            <a:ext cx="1920240" cy="1645920"/>
          </a:xfrm>
          <a:prstGeom prst="roundRect">
            <a:avLst>
              <a:gd name="adj" fmla="val 12000"/>
            </a:avLst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360920" y="4617720"/>
            <a:ext cx="1920240" cy="365760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52360" y="46451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Profile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52360" y="5166360"/>
            <a:ext cx="1737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A7569"/>
                </a:solidFill>
                <a:latin typeface="Calibri"/>
              </a:rPr>
              <a:t>Data · privacy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2F5A78"/>
                </a:solidFill>
                <a:latin typeface="Calibri"/>
              </a:rPr>
              <a:t>Full interactive HTML mockup available — opens in any browser.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7569"/>
                </a:solidFill>
                <a:latin typeface="Calibri"/>
              </a:rPr>
              <a:t>Kotn · Mobile App Pitch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7569"/>
                </a:solidFill>
                <a:latin typeface="Calibri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5A78"/>
                </a:solidFill>
                <a:latin typeface="Calibri"/>
              </a:rPr>
              <a:t>INTELLIGENCE · TIER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D2A3A"/>
                </a:solidFill>
                <a:latin typeface="Georgia"/>
              </a:rPr>
              <a:t>AI in service of the story — never replacing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A7569"/>
                </a:solidFill>
                <a:latin typeface="Calibri"/>
              </a:rPr>
              <a:t>Every Tier 1 feature deepens trust. None invents provenance.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0E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2F5A78"/>
                </a:solidFill>
                <a:latin typeface="Georgia"/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7889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Origin summary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1089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Claude drafts the per-piece passport story from real ledger data; editors approve before publish.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517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0E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880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2F5A78"/>
                </a:solidFill>
                <a:latin typeface="Georgia"/>
              </a:rPr>
              <a:t>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7889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Atelier chat (fit + care)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1089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Multilingual conversational guide. Past-order context + fabric care library.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0332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3931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0E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31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2F5A78"/>
                </a:solidFill>
                <a:latin typeface="Georgia"/>
              </a:rPr>
              <a:t>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8404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Multilingual brand-voice translation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1605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EN-first, Claude drafts FR/AR/ES; brand glossary preserves Kotn, Threads, Atelier.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70332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3931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0E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31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2F5A78"/>
                </a:solidFill>
                <a:latin typeface="Georgia"/>
              </a:rPr>
              <a:t>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8404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Visual 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1605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Photograph any piece — find related products and their full origin.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5488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4983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0E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983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2F5A78"/>
                </a:solidFill>
                <a:latin typeface="Georgia"/>
              </a:rPr>
              <a:t>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8920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Wardrobe-gap analyser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2120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"You wear neutrals; you're missing a true-white tee." Recommends from your real wardrobe.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75488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0" y="4983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0E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983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2F5A78"/>
                </a:solidFill>
                <a:latin typeface="Georgia"/>
              </a:rPr>
              <a:t>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8920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Care + repair recommender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2120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Stain rescue, hole patch, hem fray — DIY guide or atelier booking.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7569"/>
                </a:solidFill>
                <a:latin typeface="Calibri"/>
              </a:rPr>
              <a:t>Kotn · Mobile App Pitch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7569"/>
                </a:solidFill>
                <a:latin typeface="Calibri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5A78"/>
                </a:solidFill>
                <a:latin typeface="Calibri"/>
              </a:rPr>
              <a:t>INTELLIGENCE · TIER 2 &amp;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D2A3A"/>
                </a:solidFill>
                <a:latin typeface="Georgia"/>
              </a:rPr>
              <a:t>AI that powers the loop and the back office.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A7569"/>
                </a:solidFill>
                <a:latin typeface="Calibri"/>
              </a:rPr>
              <a:t>Phase 2 customer-facing AI plus operational AI the customer never sees.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0E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2F5A78"/>
                </a:solidFill>
                <a:latin typeface="Georgia"/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7889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AR provenance overlay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1089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Phone camera reveals farm region, mill, maker on the piece. Native modules required.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517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0E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880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2F5A78"/>
                </a:solidFill>
                <a:latin typeface="Georgia"/>
              </a:rPr>
              <a:t>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7889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Photo-based repair triage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10896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Vision AI classifies damage, returns instant DIY or atelier quote.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0332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3931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0E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31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2F5A78"/>
                </a:solidFill>
                <a:latin typeface="Georgia"/>
              </a:rPr>
              <a:t>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8404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Returns triage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1605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Fit-related vs damage-related routing — reduces handling cost and turnaround.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70332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3931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0E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31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2F5A78"/>
                </a:solidFill>
                <a:latin typeface="Georgia"/>
              </a:rPr>
              <a:t>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8404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Demand-sensing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1605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Wishlists + waitlists feed Egyptian-grower planting plans.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5488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4983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0E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983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2F5A78"/>
                </a:solidFill>
                <a:latin typeface="Georgia"/>
              </a:rPr>
              <a:t>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8920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Multilingual content scaling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2120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EN-first, AI drafts FR/AR/ES/IT/JP; editors approve. 5× the editorial output.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75488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0" y="4983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0E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983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2F5A78"/>
                </a:solidFill>
                <a:latin typeface="Georgia"/>
              </a:rPr>
              <a:t>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8920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School-impact narrative 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21208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Auto-builds annual customer letter from real ledger data.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80644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77240" y="6035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0E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6035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2F5A78"/>
                </a:solidFill>
                <a:latin typeface="Georgia"/>
              </a:rPr>
              <a:t>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59436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Counterfeit listing detection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62636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Scans Amazon / eBay / Asian marketplaces for suspected fakes.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72200" y="580644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400800" y="6035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0E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6035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>
                <a:solidFill>
                  <a:srgbClr val="2F5A78"/>
                </a:solidFill>
                <a:latin typeface="Georgia"/>
              </a:rPr>
              <a:t>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59436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D2A3A"/>
                </a:solidFill>
                <a:latin typeface="Calibri"/>
              </a:rPr>
              <a:t>VIP signal detection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62636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Surfaces customers about to hit Threads' top tier so concierge can welcome them.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7569"/>
                </a:solidFill>
                <a:latin typeface="Calibri"/>
              </a:rPr>
              <a:t>Kotn · Mobile App Pitch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7569"/>
                </a:solidFill>
                <a:latin typeface="Calibri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5A78"/>
                </a:solidFill>
                <a:latin typeface="Calibri"/>
              </a:rPr>
              <a:t>DATA WITH CONSENT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D2A3A"/>
                </a:solidFill>
                <a:latin typeface="Georgia"/>
              </a:rPr>
              <a:t>What we collect — and what we won't.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A7569"/>
                </a:solidFill>
                <a:latin typeface="Calibri"/>
              </a:rPr>
              <a:t>Default to opt-in per category. A self-serve "what we know about you" screen, always.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944368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2A3A"/>
                </a:solidFill>
                <a:latin typeface="Calibri"/>
              </a:rPr>
              <a:t>Identity &amp; contact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358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email, name, address — orders and shipping.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2651760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19088" y="2944368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3408" y="27432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2A3A"/>
                </a:solidFill>
                <a:latin typeface="Calibri"/>
              </a:rPr>
              <a:t>Fit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8" y="30358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sizes, fit notes (body shape opt-in).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38728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3831336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630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2A3A"/>
                </a:solidFill>
                <a:latin typeface="Calibri"/>
              </a:rPr>
              <a:t>Language &amp; region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92277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UI language, country, currency.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3538728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19088" y="3831336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8" y="36301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2A3A"/>
                </a:solidFill>
                <a:latin typeface="Calibri"/>
              </a:rPr>
              <a:t>Wardrobe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8" y="392277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registered pieces, wear count, repair history.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25696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4718304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51713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2A3A"/>
                </a:solidFill>
                <a:latin typeface="Calibri"/>
              </a:rPr>
              <a:t>Care preferences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80974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fabric, repair vs replace, store visits.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4425696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19088" y="4718304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8" y="4517136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2A3A"/>
                </a:solidFill>
                <a:latin typeface="Calibri"/>
              </a:rPr>
              <a:t>Motivation tags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3408" y="480974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sustainability / craft / minimalism / supply chain.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312664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5605272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40410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2A3A"/>
                </a:solidFill>
                <a:latin typeface="Calibri"/>
              </a:rPr>
              <a:t>Maker-story consent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69671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opt-in to receive dispatches from the Delta.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44768" y="5312664"/>
            <a:ext cx="5486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19088" y="5605272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93408" y="540410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2A3A"/>
                </a:solidFill>
                <a:latin typeface="Calibri"/>
              </a:rPr>
              <a:t>Channel of origin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3408" y="569671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online / store / referral.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608076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61264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WE DO NOT COLLECT  ·  weight or BMI  ·  precise GPS  ·  contacts  ·  social-graph  ·  third-party ad-tracking IDs  ·  anything that compromises maker privacy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7569"/>
                </a:solidFill>
                <a:latin typeface="Calibri"/>
              </a:rPr>
              <a:t>Kotn · Mobile App Pitch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7569"/>
                </a:solidFill>
                <a:latin typeface="Calibri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5A78"/>
                </a:solidFill>
                <a:latin typeface="Calibri"/>
              </a:rPr>
              <a:t>HOW IT'S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D2A3A"/>
                </a:solidFill>
                <a:latin typeface="Georgia"/>
              </a:rPr>
              <a:t>A modern stack — boring where it should be, sharp where it counts.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27432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orgia"/>
              </a:rPr>
              <a:t>Mobile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D2A3A"/>
                </a:solidFill>
                <a:latin typeface="Calibri"/>
              </a:rPr>
              <a:t>•  React Native + Expo (iOS &amp; Android)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661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D2A3A"/>
                </a:solidFill>
                <a:latin typeface="Calibri"/>
              </a:rPr>
              <a:t>•  OTA updates for drop cadence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776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D2A3A"/>
                </a:solidFill>
                <a:latin typeface="Calibri"/>
              </a:rPr>
              <a:t>•  Apple / Google sign-in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286000"/>
            <a:ext cx="27432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0" y="22860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23774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orgia"/>
              </a:rPr>
              <a:t>Commerce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1546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D2A3A"/>
                </a:solidFill>
                <a:latin typeface="Calibri"/>
              </a:rPr>
              <a:t>•  Shopify storefront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5661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D2A3A"/>
                </a:solidFill>
                <a:latin typeface="Calibri"/>
              </a:rPr>
              <a:t>•  Multi-currency · multi-region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9776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D2A3A"/>
                </a:solidFill>
                <a:latin typeface="Calibri"/>
              </a:rPr>
              <a:t>•  RevenueCat for any subscription kits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286000"/>
            <a:ext cx="27432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22860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3774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orgia"/>
              </a:rPr>
              <a:t>Provenance 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1546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D2A3A"/>
                </a:solidFill>
                <a:latin typeface="Calibri"/>
              </a:rPr>
              <a:t>•  Node + TypeScript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5661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D2A3A"/>
                </a:solidFill>
                <a:latin typeface="Calibri"/>
              </a:rPr>
              <a:t>•  Postgres + pgvector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9776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D2A3A"/>
                </a:solidFill>
                <a:latin typeface="Calibri"/>
              </a:rPr>
              <a:t>•  Citation-linked impact ledger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2286000"/>
            <a:ext cx="274320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720" y="22860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64040" y="23774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Georgia"/>
              </a:rPr>
              <a:t>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15468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D2A3A"/>
                </a:solidFill>
                <a:latin typeface="Calibri"/>
              </a:rPr>
              <a:t>•  Claude (Sonnet 4.6 chat, Haiku 4.5 batch)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56616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D2A3A"/>
                </a:solidFill>
                <a:latin typeface="Calibri"/>
              </a:rPr>
              <a:t>•  Embeddings for visual 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39776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D2A3A"/>
                </a:solidFill>
                <a:latin typeface="Calibri"/>
              </a:rPr>
              <a:t>•  PostHog analytics, Sentry errors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7569"/>
                </a:solidFill>
                <a:latin typeface="Calibri"/>
              </a:rPr>
              <a:t>Kotn · Mobile App Pitch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7569"/>
                </a:solidFill>
                <a:latin typeface="Calibri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5A78"/>
                </a:solidFill>
                <a:latin typeface="Calibri"/>
              </a:rPr>
              <a:t>THE STUDIO · WEB ADMIN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D2A3A"/>
                </a:solidFill>
                <a:latin typeface="Georgia"/>
              </a:rPr>
              <a:t>The internal twin of the mobile app.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7A7569"/>
                </a:solidFill>
                <a:latin typeface="Calibri"/>
              </a:rPr>
              <a:t>Customers use the mobile app. Your team uses The Studio. Same backend, same brand language — different surface for different users.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2743200"/>
            <a:ext cx="393192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27889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5A78"/>
                </a:solidFill>
                <a:latin typeface="Calibri"/>
              </a:rPr>
              <a:t>SHOPIFY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31089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Catalog · orders · payments — unchanged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11064240" cy="640080"/>
          </a:xfrm>
          <a:prstGeom prst="roundRect">
            <a:avLst>
              <a:gd name="adj" fmla="val 12000"/>
            </a:avLst>
          </a:prstGeom>
          <a:solidFill>
            <a:srgbClr val="D6E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904487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2F5A78"/>
                </a:solidFill>
                <a:latin typeface="Calibri"/>
              </a:rPr>
              <a:t>SHARED API · Postgres · Auth · AI gateway · Citation-linked impact ledger · Object storage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5440680" cy="365760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773168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MOBILE APP — IOS &amp; ANDROID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1208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D2A3A"/>
                </a:solidFill>
                <a:latin typeface="Calibri"/>
              </a:rPr>
              <a:t>Customer-facing · Origin · Wardrobe · Atelier · Field · Shop · Threads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4754880"/>
            <a:ext cx="5440680" cy="365760"/>
          </a:xfrm>
          <a:prstGeom prst="roundRect">
            <a:avLst>
              <a:gd name="adj" fmla="val 12000"/>
            </a:avLst>
          </a:prstGeom>
          <a:solidFill>
            <a:srgbClr val="1D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773168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THE STUDIO — WEB ADMIN PORTAL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21208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D2A3A"/>
                </a:solidFill>
                <a:latin typeface="Calibri"/>
              </a:rPr>
              <a:t>Internal · Origin editor · education ledger · drop scheduler · concierge · transparency report ·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5A78"/>
                </a:solidFill>
                <a:latin typeface="Calibri"/>
              </a:rPr>
              <a:t>BUILT FOR YOUR TEAM   —   editors, sustainability ops, concierge, wholesale. Bilingual EN/FR. Citation-aware UI.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7569"/>
                </a:solidFill>
                <a:latin typeface="Calibri"/>
              </a:rPr>
              <a:t>Kotn · Mobile App Pitch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7569"/>
                </a:solidFill>
                <a:latin typeface="Calibri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5A78"/>
                </a:solidFill>
                <a:latin typeface="Calibri"/>
              </a:rPr>
              <a:t>HOW WE'LL DELIVER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D2A3A"/>
                </a:solidFill>
                <a:latin typeface="Georgia"/>
              </a:rPr>
              <a:t>Roadmap — first nine months.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743200"/>
            <a:ext cx="11064240" cy="25400"/>
          </a:xfrm>
          <a:prstGeom prst="rect">
            <a:avLst/>
          </a:prstGeom>
          <a:solidFill>
            <a:srgbClr val="E2DC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28800" y="2651760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3063240"/>
            <a:ext cx="274320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5A78"/>
                </a:solidFill>
                <a:latin typeface="Calibri"/>
              </a:rPr>
              <a:t>Weeks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D2A3A"/>
                </a:solidFill>
                <a:latin typeface="Georgia"/>
              </a:rPr>
              <a:t>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8912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Customer interviews (Toronto, NYC, LA, Montréal). Audit existing data + impact ledger feed. Lock Phase 1 scope.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2651760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7560" y="3063240"/>
            <a:ext cx="274320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3200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5A78"/>
                </a:solidFill>
                <a:latin typeface="Calibri"/>
              </a:rPr>
              <a:t>Weeks 3–16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5661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D2A3A"/>
                </a:solidFill>
                <a:latin typeface="Georgia"/>
              </a:rPr>
              <a:t>Phase 1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38912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Origin, Wardrobe, Atelier, Field, Shop, Threads, Tier 1 AI, Studio. EN/FR at launch.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2651760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26480" y="3063240"/>
            <a:ext cx="274320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200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5A78"/>
                </a:solidFill>
                <a:latin typeface="Calibri"/>
              </a:rPr>
              <a:t>Weeks 17–32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661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D2A3A"/>
                </a:solidFill>
                <a:latin typeface="Georgia"/>
              </a:rPr>
              <a:t>Phase 2 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8912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AR provenance, repair triage, wholesale portal, demand-sensing. Add AR/GB/EU languages.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95560" y="2651760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15400" y="3063240"/>
            <a:ext cx="2743200" cy="3291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32004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5A78"/>
                </a:solidFill>
                <a:latin typeface="Calibri"/>
              </a:rPr>
              <a:t>Weeks 33–40+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35661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D2A3A"/>
                </a:solidFill>
                <a:latin typeface="Georgia"/>
              </a:rPr>
              <a:t>Phase 3 build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438912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Editorial, VOICES films, content-scaling AI, counterfeit detection, carbon-tariff readiness.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7569"/>
                </a:solidFill>
                <a:latin typeface="Calibri"/>
              </a:rPr>
              <a:t>Kotn · Mobile App Pitch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7569"/>
                </a:solidFill>
                <a:latin typeface="Calibri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5A78"/>
                </a:solidFill>
                <a:latin typeface="Calibri"/>
              </a:rPr>
              <a:t>HOW WE'LL KNOW IT'S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D2A3A"/>
                </a:solidFill>
                <a:latin typeface="Georgia"/>
              </a:rPr>
              <a:t>The metrics that matter.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5A78"/>
                </a:solidFill>
                <a:latin typeface="Calibri"/>
              </a:rPr>
              <a:t>Origin scan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% of buyers who scan their tag and open The Origin within 30d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31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D2A3A"/>
                </a:solidFill>
                <a:latin typeface="Georgia"/>
              </a:rPr>
              <a:t>Target ≥ 60% by month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56032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743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5A78"/>
                </a:solidFill>
                <a:latin typeface="Calibri"/>
              </a:rPr>
              <a:t>Wardrobe registration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5468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Average pieces registered per active 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931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D2A3A"/>
                </a:solidFill>
                <a:latin typeface="Georgia"/>
              </a:rPr>
              <a:t>Target ≥ 4 by month 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56032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743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5A78"/>
                </a:solidFill>
                <a:latin typeface="Calibri"/>
              </a:rPr>
              <a:t>Repeat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15468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% of app users placing a 2nd order within 90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931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D2A3A"/>
                </a:solidFill>
                <a:latin typeface="Georgia"/>
              </a:rPr>
              <a:t>Target +25% vs non-app cohort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8056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663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5A78"/>
                </a:solidFill>
                <a:latin typeface="Calibri"/>
              </a:rPr>
              <a:t>Repair conversion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% of repair-triaged tickets converted to DIY or paid repair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52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D2A3A"/>
                </a:solidFill>
                <a:latin typeface="Georgia"/>
              </a:rPr>
              <a:t>Target ≥ 70%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48056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663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5A78"/>
                </a:solidFill>
                <a:latin typeface="Calibri"/>
              </a:rPr>
              <a:t>Threads engagement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0749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% of users opening The Field at least once per quarter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852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D2A3A"/>
                </a:solidFill>
                <a:latin typeface="Georgia"/>
              </a:rPr>
              <a:t>Target ≥ 50%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48056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663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5A78"/>
                </a:solidFill>
                <a:latin typeface="Calibri"/>
              </a:rPr>
              <a:t>Cross-language reach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07492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% of sessions in FR + future AR/EU langs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8521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D2A3A"/>
                </a:solidFill>
                <a:latin typeface="Georgia"/>
              </a:rPr>
              <a:t>Target ≥ 25% by month 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7569"/>
                </a:solidFill>
                <a:latin typeface="Calibri"/>
              </a:rPr>
              <a:t>Kotn · Mobile App Pitch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7569"/>
                </a:solidFill>
                <a:latin typeface="Calibri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5A78"/>
                </a:solidFill>
                <a:latin typeface="Calibri"/>
              </a:rPr>
              <a:t>HOW IT WILL FEEL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D2A3A"/>
                </a:solidFill>
                <a:latin typeface="Georgia"/>
              </a:rPr>
              <a:t>Design principles.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5A78"/>
                </a:solidFill>
                <a:latin typeface="Calibri"/>
              </a:rPr>
              <a:t>Calm, not preachy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The brand's mission is the loudest thing it could say. The app whispers.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46888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6517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5A78"/>
                </a:solidFill>
                <a:latin typeface="Calibri"/>
              </a:rPr>
              <a:t>Every claim 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06324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Provenance must be auditable. AI never invents — it summarises real ledger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8620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5A78"/>
                </a:solidFill>
                <a:latin typeface="Calibri"/>
              </a:rPr>
              <a:t>Maker dignity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8056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No precise GPS for farms. No real names without consent. The app honours the people behind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88620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0690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5A78"/>
                </a:solidFill>
                <a:latin typeface="Calibri"/>
              </a:rPr>
              <a:t>Buy less, wear more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48056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Cost-per-wear visible. Repair encouraged. Long-life is the brand promise.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0352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486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5A78"/>
                </a:solidFill>
                <a:latin typeface="Calibri"/>
              </a:rPr>
              <a:t>Recognition over discounts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9788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Threads is access — store events, mending kits, supplier visits. Not coupons.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530352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486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F5A78"/>
                </a:solidFill>
                <a:latin typeface="Calibri"/>
              </a:rPr>
              <a:t>Honest about imperfection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89788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569"/>
                </a:solidFill>
                <a:latin typeface="Calibri"/>
              </a:rPr>
              <a:t>When materials, origin, or impact aren't perfect, the brand says so. The credibility is in the honesty.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7569"/>
                </a:solidFill>
                <a:latin typeface="Calibri"/>
              </a:rPr>
              <a:t>Kotn · Mobile App Pitch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7569"/>
                </a:solidFill>
                <a:latin typeface="Calibri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5A78"/>
                </a:solidFill>
                <a:latin typeface="Calibri"/>
              </a:rPr>
              <a:t>WORKING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D2A3A"/>
                </a:solidFill>
                <a:latin typeface="Georgia"/>
              </a:rPr>
              <a:t>How we'd partner.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5486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F5A78"/>
                </a:solidFill>
                <a:latin typeface="Georgia"/>
              </a:rPr>
              <a:t>Discovery sprint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A7569"/>
                </a:solidFill>
                <a:latin typeface="Calibri"/>
              </a:rPr>
              <a:t>Two weeks. Customer interviews across CA + US. We sit with your sustainability team. Walk away with a signed Phase 1 spec — even if you don't build with 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286000"/>
            <a:ext cx="5486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5603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F5A78"/>
                </a:solidFill>
                <a:latin typeface="Georgia"/>
              </a:rPr>
              <a:t>Embedded 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315468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A7569"/>
                </a:solidFill>
                <a:latin typeface="Calibri"/>
              </a:rPr>
              <a:t>A small team — lead engineer, mobile engineer, designer, bilingual QA — works as an extension of yours. Weekly demos.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51960"/>
            <a:ext cx="5486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5262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F5A78"/>
                </a:solidFill>
                <a:latin typeface="Georgia"/>
              </a:rPr>
              <a:t>Brand-side 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A7569"/>
                </a:solidFill>
                <a:latin typeface="Calibri"/>
              </a:rPr>
              <a:t>Every customer-facing provenance / impact / maker claim reviewed by Kotn before publish. AI generates; humans approve. Always.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251960"/>
            <a:ext cx="54864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D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5262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F5A78"/>
                </a:solidFill>
                <a:latin typeface="Georgia"/>
              </a:rPr>
              <a:t>Always your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12064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A7569"/>
                </a:solidFill>
                <a:latin typeface="Calibri"/>
              </a:rPr>
              <a:t>Source code, customer data, AI logs all live in your accounts. Multi-region storage to honour data-residency rules as you grow.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7569"/>
                </a:solidFill>
                <a:latin typeface="Calibri"/>
              </a:rPr>
              <a:t>Kotn · Mobile App Pitch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7569"/>
                </a:solidFill>
                <a:latin typeface="Calibri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F5A78"/>
                </a:solidFill>
                <a:latin typeface="Calibri"/>
              </a:rPr>
              <a:t>WHY THIS WORKS FOR KOTN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>
                <a:solidFill>
                  <a:srgbClr val="1D2A3A"/>
                </a:solidFill>
                <a:latin typeface="Georgia"/>
              </a:rPr>
              <a:t>The bet behind the build.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640080" cy="25400"/>
          </a:xfrm>
          <a:prstGeom prst="rect">
            <a:avLst/>
          </a:prstGeom>
          <a:solidFill>
            <a:srgbClr val="2F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73152" cy="868680"/>
          </a:xfrm>
          <a:prstGeom prst="rect">
            <a:avLst/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D2A3A"/>
                </a:solidFill>
                <a:latin typeface="Georgia"/>
              </a:rPr>
              <a:t>Verifiable provenance is your moat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A7569"/>
                </a:solidFill>
                <a:latin typeface="Calibri"/>
              </a:rPr>
              <a:t>No global brand can claim 100% direct-trade Egyptian cotton with audited makers and a real school program. The Origin makes that visible.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46120"/>
            <a:ext cx="73152" cy="868680"/>
          </a:xfrm>
          <a:prstGeom prst="rect">
            <a:avLst/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918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D2A3A"/>
                </a:solidFill>
                <a:latin typeface="Georgia"/>
              </a:rPr>
              <a:t>Slow fashion needs a daily surface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49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A7569"/>
                </a:solidFill>
                <a:latin typeface="Calibri"/>
              </a:rPr>
              <a:t>Buy less, wear more is hard to remember at the checkout. The Wardrobe and the Atelier make it part of the daily ritual.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06240"/>
            <a:ext cx="73152" cy="868680"/>
          </a:xfrm>
          <a:prstGeom prst="rect">
            <a:avLst/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2519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D2A3A"/>
                </a:solidFill>
                <a:latin typeface="Georgia"/>
              </a:rPr>
              <a:t>The Field turns customers into allies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709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A7569"/>
                </a:solidFill>
                <a:latin typeface="Calibri"/>
              </a:rPr>
              <a:t>Once a customer sees the school-day count grow, they're not buying t-shirts anymore — they're funding a community. The lifetime value math changes.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6360"/>
            <a:ext cx="73152" cy="868680"/>
          </a:xfrm>
          <a:prstGeom prst="rect">
            <a:avLst/>
          </a:prstGeom>
          <a:solidFill>
            <a:srgbClr val="2F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212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D2A3A"/>
                </a:solidFill>
                <a:latin typeface="Georgia"/>
              </a:rPr>
              <a:t>AI in service of trust, not replacement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6692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A7569"/>
                </a:solidFill>
                <a:latin typeface="Calibri"/>
              </a:rPr>
              <a:t>We use AI to summarise real ledger data, draft translations, triage repairs. We never let it invent provenance. The brand's reputation is safer for the building.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7A7569"/>
                </a:solidFill>
                <a:latin typeface="Calibri"/>
              </a:rPr>
              <a:t>Kotn · Mobile App Pitch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7A7569"/>
                </a:solidFill>
                <a:latin typeface="Calibri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C89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1097280"/>
            <a:ext cx="365760" cy="365760"/>
          </a:xfrm>
          <a:prstGeom prst="ellipse">
            <a:avLst/>
          </a:prstGeom>
          <a:solidFill>
            <a:srgbClr val="C89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10544" y="2615184"/>
            <a:ext cx="256032" cy="256032"/>
          </a:xfrm>
          <a:prstGeom prst="ellipse">
            <a:avLst/>
          </a:prstGeom>
          <a:solidFill>
            <a:srgbClr val="C89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08592" y="3639312"/>
            <a:ext cx="402336" cy="402336"/>
          </a:xfrm>
          <a:prstGeom prst="ellipse">
            <a:avLst/>
          </a:prstGeom>
          <a:solidFill>
            <a:srgbClr val="C89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26496" y="4974336"/>
            <a:ext cx="292608" cy="292608"/>
          </a:xfrm>
          <a:prstGeom prst="ellipse">
            <a:avLst/>
          </a:prstGeom>
          <a:solidFill>
            <a:srgbClr val="C89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31552" y="5742432"/>
            <a:ext cx="219456" cy="219456"/>
          </a:xfrm>
          <a:prstGeom prst="ellipse">
            <a:avLst/>
          </a:prstGeom>
          <a:solidFill>
            <a:srgbClr val="C89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89868"/>
                </a:solidFill>
                <a:latin typeface="Calibri"/>
              </a:rPr>
              <a:t>NEXT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00584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>
                <a:solidFill>
                  <a:srgbClr val="FFFFFF"/>
                </a:solidFill>
                <a:latin typeface="Georgia"/>
              </a:rPr>
              <a:t>A two-week paid discovery.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9601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0E0C7"/>
                </a:solidFill>
                <a:latin typeface="Calibri"/>
              </a:rPr>
              <a:t>We sit with your team. We talk to ten of your customers — Toronto, Montréal, Brooklyn, LA. We sit with your sustainability team and audit the impact-ledger feed. We come back with a lockable Phase 1 scope and an interactive prototype of three core flows in EN and FR.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634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89868"/>
                </a:solidFill>
                <a:latin typeface="Calibri"/>
              </a:rPr>
              <a:t>WHAT YOU 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A lockable feature scope, costed and timeboxed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An interactive prototype of three core flows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A summary of customer interviews and what we heard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•  A go / no-go recommendation. Yours either way.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0E0C7"/>
                </a:solidFill>
                <a:latin typeface="Calibri"/>
              </a:rPr>
              <a:t>Kotn · Mobile App Pitch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0E0C7"/>
                </a:solidFill>
                <a:latin typeface="Calibri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